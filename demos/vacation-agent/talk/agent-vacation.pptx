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00:00-00:40
פתיחה: היום נשלח סוכן לחפש חופשה. יש לו תקציב, תנאים ואתכם. החופשה הזאת עוד לא עברה QA. המטרה שלנו היא להבין איך מחברים מודל שבוחר פעולה לדפדפן שבאמת יכול לבצע אותה. נתחיל באתר, ואז נפתח את מכסה המנוע.
חשוב, ולהגיד פעם אחת בבירור: האתר והמלונות בדויים, ואין רכישה אמיתית. בגרסת התרגול המקומית הבחירות מתוסרטות ומסומנות כך. ריצה חיה של Jev ו-AWS מציגים רק אחרי שהשירותים חוברו ונבדקו.
מעבר: חצי דקה עליי, ואז יוצאים לחופשה.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00:40-01:20
אני תומר, Fractional CTO ויועץ טכנולוגי. בניתי תשתיות דפדפן וניהול סשנים מאומתים בחברה שמאפשרת לסוכנים לעבוד באתרי אינטרנט. הובלתי גם פיתוח בסטארטאפ שעוסק באמינות סוכנים, כולל תיקון תקלות בזמן ריצה. כך שמה שקורה בין ההחלטה ללחיצה מוכר לי מקרוב. מחוץ למחשב אני מטפס ורוקד. גם שם כדאי לדעת מה הצעד הבא.
ה-YAML הוא עיבוד מקוצר של ה-README האמיתי, עם הניסיון הרלוונטי. אין לציין שמות חברות.
מקורות: https://tomerwave.com/ ; https://tomerwave.com/about ; https://github.com/tomerwave/tomerwave/blob/main/ReadMe.md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01:20-02:10
המשימה: שלושה לילות, עד 600 אירו לכל השהייה, ומלון נגיש. הנגישות היא תנאי חובה, לא העדפה שאפשר לוותר עליה כי הנוף יפה. התאריכים קבועים, כדי שנתמקד בבחירת הפעולה.
אפשר לבקש הרמת ידיים: מי כבר בנה סוכן או השתמש בכלי לאוטומציה של דפדפן? אין צורך בהיכרות מוקדמת.
במה: לפתוח את אתר הדמו בלשונית מוכנה. הסכומים בדויים. החישוב נעשה בקוד, לא במודל.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02:10-03:40
במה: להציג את הדפדפן ולפתוח את מלון A במחיר 520 אירו. להסביר רק את מה שרואים: תוצאות, בחירה, דף פרטים. לא להסביר עדיין את הארכיטקטורה.
לשאול: מה הייתם מצפים שהסוכן יבדוק לפני שהוא ממשיך? לקחת תשובה אחת. להצביע על מחיר, זמינות ונגישות.
פקודות: npm run demo:vacation -- happy / sold-out / budget-drop (עם HEADED=1 ו-SLOW_MO_MS=600 כדי שהקהל יראה את הדפדפן). מסלול מקומי: לבחור מצב המחשה מתוסרטת ולהשאיר את הסימון גלוי. מסלול חי, אחרי חיבור: להפעיל את הכלי ולשמור trace. אם הבחירה מתוסרטת, לא לומר ש-Jev בחר.
אם האתר לא עולה: להשתמש בשקף המשימה ולהקריא את המצב: מלון A עולה 520 אירו, נגיש וזמין. לא לבזבז זמן במה על התקנה.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03:40-05:10
לבקש הצבעה בין שתי אפשרויות שהכנו מראש: המלון התמלא, או שהתקציב ירד ל-500 אירו. לקחת את רוב הקולות ולהפעיל שינוי אחד. אם אין רוב ברור, לבחור ב"המלון התמלא". לא לפתוח דיון על כל יעד אפשרי בעולם. לתת לריצה להגיב, ולעצור ברגע שבו צריך לבחור מחדש.
הבדיחה: באינטרנט, החדר האחרון פנוי בדיוק עד שאתם מוציאים את כרטיס האשראי.
לשמור על מסלול ברור: אם A מלא, C נגיש ועולה 590. אם התקציב ירד ל-500, אין אפשרות שעומדת גם בתקציב וגם בנגישות. שתי התוצאות מלמדות משהו, ונראה את שתיהן בהמשך (שקפים 14 ו-15).
איור מקורי שנוצר עבור ההרצאה, לא תיעוד מוצר.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05:10-06:50
סוכן הוא תוכנה שמנסה להשיג מטרה, מקבלת מידע ובוחרת מה לעשות בהמשך. לפעמים הפעולה היא קריאה לכלי, ולפעמים שאלה לאדם.
אם כתבתי בקוד "תמיד לפתוח את המלון הראשון ואז להמשיך", זה מסלול קבוע. גם קוד רגיל יכול להגיב לשינוי עם if. בסוכן שלנו, המודל מקבל את המטרה ואת המצב החדש ובוחר פעולה מתוך האפשרויות. גם הסוכן הזה מכיל הרבה קוד קבוע. אנחנו לא זורקים את ה-if לפח.
לג'וניורים: אין כאן קסם של מחשבים שלוחצים לבד. החידוש הוא מי בוחר את הפעולה, ולפי איזה מידע.
מקור: https://strandsagents.com/docs/user-guide/sdk/
הלולאה (החצי השמאלי של השקף): לעבור על הלולאה מהפינה הימנית העליונה: קוראים את המצב, בוחרים פעולה, מפעילים כלי ובודקים את התוצאה. בסיבוב הבא הקלט כבר השתנה.
בדמו (העמודה הימנית): קוראים שהמלון מלא, בוחרים לחזור לתוצאות, מבצעים וקוראים את התוצאות החדשות. לולאה בלי בדיקת תוצאה יכולה ללחוץ שוב ושוב על משהו שכבר לא קיים. כולנו מכירים את זה מהמדפסת.
להדגיש: הבחירה יכולה להיות של המודל, אבל איסוף המידע, ההרשאות ובדיקת התוצאה באחריות הקוד. זה תרשים מפושט של המימוש המוצע, לצורך הסבר.
משקף 7 והלאה, המפה הקטנה בתחתית השקף מראה באיזה רכיב אנחנו נמצאים.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06:50-08:00
כלי הוא פשוט פונקציה שהסוכן יכול לבקש להפעיל. למשל, פתיחת דף מלון. יש לה שם, קלט מוגדר ותוצאה. בדפדפן, הפונקציה יכולה להשתמש ב-Playwright, ספרייה שמאפשרת לקוד ללחוץ, להקליד ולקרוא את הדף. המודל מחזיר החלטה, והקוד מתרגם אותה לביצוע. להגיד במפורש: המודל לא מריץ את הפונקציה ולא כותב selectors.
השקף מראה את מה שהדמו ב-wave-lab מדפיס: Jev מחזיר את המזהה open_hotel_C, הקוד מוצא אותו ב-registry, לוחץ עם Playwright וקורא את המצב החדש. התוצאה בדויה.
מקורות: https://strandsagents.com/docs/user-guide/sdk/ ; https://docs.aws.amazon.com/bedrock-agentcore/latest/devguide/browser-tool.html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08:00-09:30
Jev הוא מודל של TypeSafe AI. היום נתמקד ב-Choice: נותנים מצב, שאלה ואפשרויות, ומקבלים בחירה. בדמו שלנו השאלה היא איזו פעולה זמינה תקדם את תת־המשימה.
מה שמעניין כאן: מודל שתוכנן להחזיר החלטה במבנה מוגדר, שאפשר לחבר ישירות לקוד. הוא לא צריך לנסח פסקה כדי להגיד "חזור לתוצאות". למי שמכיר structured output: זה קרוב לרעיון של enum, רק שהמודל נבנה סביב זה.
זה לא מבטיח שהבחירה נכונה, וזה לא מוכיח שהדמו שלנו מהיר או זול יותר. אנחנו בוחנים יכולת חדשה דרך דוגמה שקל להבין.
הספק מציג גם דוגמאות כמו ניווט בוויקיפדיה, עם בחירה בין קישורים. אנחנו לוקחים את העיקרון לאתר החופשות המבוקר שלנו.
מקורות: https://typesafe.ai/blog/introducing-system-one-models-and-jev ; https://docs.typesafe.ai/primitives/choice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09:30-11:20
רגע חי (כ-20 שניות): לעבור לדפדפן ולהראות את דף מלון A לצד המצב המתומצת שהקוד בנה ממנו. אם אין חיבור, השקף עצמו מראה את שני הצדדים.
DOM הוא המבנה של דף האינטרנט: כותרות, כפתורים, שדות ותוכן. לא צריך לשלוח את כל האתר. הקוד שלנו קורא את המידע הרלוונטי ומכין תיאור קצר. לצדו יש רשימת פעולות שבאמת אפשר לבצע כרגע. שימו לב: כפתור ההזמנה לא מופיע ברשימה, כי המלון מלא. Jev מקבל כאן טקסט מובנה, לא צילום מסך.
החלק ההנדסי החשוב נמצא לפני הקריאה למודל: איך משאירים רק את המידע השימושי, איך ממפים פעולה לאלמנט, ואיך לא מציעים כפתור שכבר נעלם. באתר הדמו יש לנו מזהים יציבים (בסגנון data-testid). באתר חיצוני זה קשה יותר ודורש טיפול נפרד.
ה-YAML בשקף הוא בדיוק מה שהדמו מדפיס בצעד 2 של התרחיש sold-out (npm run demo:vacation -- sold-out).
מקורות: https://docs.typesafe.ai/sdk/javascript ; https://docs.typesafe.ai/model-jaggedness/jev-1.13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11:20-12:50
להצביע על שלושת הסימונים בקוד, בלי להקריא את כולו: 1 המצב, 2 האפשרויות, 3 המזהה שחוזר. client נוצר עם TypeSafeClient, ו-choice מגיע מאותו SDK. compactState נבנה אצלנו (src/compact.ts), והאפשרויות נגזרות מהדף (src/actions.ts). המזהה שחוזר הוא back_to_results או stop, אותם מזהים כמו בשקף הקודם. לפי המזהה הזה הקוד מוצא את הפעולה ב-registry (נראה את זה בשקף 13).
הקוד בשקף לקוח מ-src/jev.ts. הוא נבדק מול ה-SDK האמיתי עם fetch מדומה, אבל לא הורץ מול השירות עצמו. צריך להתקין @typesafe-ai/sdk ולהגדיר TYPESAFE_API_KEY בצד השרת. המפתח לא נכנס לדף הדמו בדפדפן.
להבהיר: הרשימה בשקף קצרה לצורך המחשה. במימוש, הרשימה נגזרת מהמצב העדכני. אנחנו לא מבקשים מהמודל להמציא selector.
מקור: https://docs.typesafe.ai/sdk/javascript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12:50-13:50
אפשר לקבל תשובה מושלמת מבחינת פורמט ולהיכנס למלון הלא נכון. בדוגמה: בדף של מלון B הפעולות הן select_hotel, back_to_results ו-stop. select_hotel הוא מזהה קיים ותקין, אבל מלון B לא נגיש, והקוד דוחה אותו. אפשר להראות את זה חי: npm run demo:vacation -- sold-out --chooser careless. זה ההבדל בין חוזה תקין להחלטה טובה.
ה-Choice API מחזיר גם הסתברויות ו-confidence. ה-confidence מתאר כמה ההתפלגות מרוכזת. הוא לא ההסתברות שההזמנה נכונה.
לכן לא נשים סף קסם של 90 אחוז ונלך לים. נבדוק תנאים, נעקוב אחרי התוצאה ונעצור כשצריך. חישובי תקציב ותאריכים נשארים בקוד.
מקורות: https://docs.typesafe.ai/confidence ; https://docs.typesafe.ai/primitives/choice ; https://docs.typesafe.ai/model-jaggedness/jev-1.13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13:50-15:40
עכשיו נותנים שמות לחלקים, מימין לשמאל. Strands הוא SDK לבניית סוכנים וניהול כלים. Amazon Bedrock נותן לנו גישה למודל השפה שמתכנן ומעדכן את תת־המשימה. בתוך כלי הדפדפן שלנו יש לולאה קטנה שבונה מצב, מבקשת מ-Jev בחירה ומפעילה את Playwright. AgentCore Browser מספק את הדפדפן המרוחק.
להדגיש את שני המודלים: המודל הגדול הוא המתכנן (מה המטרה עכשיו). Jev הוא הבוחר (איזו פעולה עכשיו).
זו אינטגרציה שאנחנו בונים, לא חיבור רשמי של Jev שמגיע מוכן ב-Strands. לא חייבים לקרוא למתכנן הגדול בכל קליק. חוזרים אליו כשתת־המשימה הושלמה, כשהדרישות השתנו או כשנתקענו. זו החלטת תכנון, לא הבטחת ביצועים.
ולג'וניורים: כדי להתחיל לא צריך AWS. Playwright מקומי ומודל אחד מספיקים. AWS נכנס כשרוצים להריץ בענן.
מקורות: https://strandsagents.com/docs/user-guide/sdk/ ; https://docs.aws.amazon.com/bedrock-agentcore/latest/devguide/browser-tool.html ; https://docs.typesafe.ai/sdk/javascript
איפה הדפדפן רץ (השורה התחתונה בשקף): כשמריצים בענן, הקוד מתחבר לסשן הדפדפן של AgentCore. Playwright הוא הנהג, ו-AgentCore Browser מספק את הרכב. Live View מאפשר להראות לקהל מה קורה בדפדפן בזמן אמת. כאן AWS מנהלת את סביבת הדפדפן עצמה, ולא רק נותנת שרת להריץ עליו סקריפט.
אין להציג צילום קונסולה מדומה כאילו זו ריצה חיה. אם אין חיבור AWS מאומת, לומר במפורש: זה מסלול החיבור המתוכנן, ואת התרחיש אנחנו מדגימים מקומית.
אפשר להזכיר בשאלות שיש הקלטה ושחזור עם custom browser ו-S3, אבל לא להעמיס את זה על ההסבר הראשי.
מקור: https://docs.aws.amazon.com/bedrock-agentcore/latest/devguide/browser-tool.html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15:40-17:00
נניח שהמודל בחר פעולה, ובינתיים האתר השתנה שוב. לכן לפני הלחיצה בודקים מחדש את המצב. מחפשים את הפעולה ברשימה, מוודאים שהיא מותרת כרגע, מבצעים, ואז קוראים את התוצאה. Playwright לא מחליף את הבדיקות העסקיות שלנו. למי שבא מ-QA automation: זו אותה בעיה כמו stale element, רק עם מודל באמצע.
במערכת אמיתית עדיין יכול להיות race condition: האתר משתנה בין הקריאה לפעולה. בפעולה בעלת משמעות, כמו הזמנה, הבדיקה הסופית צריכה להיות בצד השרת: מחיר וזמינות בזמן ההזמנה. בדמו אין רכישה.
הקוד בשקף לקוח מ-src/executor.ts, מקוצר (replan ו-done מחליפים שם אובייקטים קטנים). replan מחזיר שליטה למתכנן, ו-registry ממפה מזהים לפונקציות שהגדרנו.
מקור ארכיטקטורה: תכנון הדמו שלנו. מקור מגבלות מודל: https://docs.typesafe.ai/model-jaggedness/jev-1.13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17:00-19:00
במה: להחזיר את הדמו למצב התקלה שנבחר. להציג מצב ופעולה לצד האתר. לפני שחושפים את הבחירה, לשאול את הקהל מה הם היו עושים. לקחת תשובה אחת. להתקדם צעד אחד בכל פעם. אם A מלא, חוזרים לתוצאות, ובסיבוב השני של הלולאה בוחרים את C ובודקים אותו. להדגיש: זו אותה לולאה שרצה שוב. אם התקציב ירד ל-500, עוצרים, כי שום מלון לא עומד בכל התנאים (השקף הבא).
אם זה המסלול המתוסרט: לומר שאנחנו עוברים על תרחיש ההמחשה, לא על מדידת ביצועים של המודל. אם יש ריצה חיה: להראות את מה שקרה בפועל, גם אם הבחירה מפתיעה.
הפואנטה: בהתחלה ראינו רק אתר שזז. עכשיו אפשר להסביר מה נכנס למודל, מה יצא ממנו ומה בדק הקוד. שתי דקות בלבד. אם מתעכבים, לדלג על הניחוש השני.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19:00-20:10
אם הקהל בחר בתקציב, זו התוצאה החיה. אם בחר ב"המלון התמלא", להציג את השקף כ"ומה אם הייתם בוחרים בתקציב?".
אם התקציב ירד ל-500 אירו, אין כאן פתרון תקין. הסוכן לא אמור להמציא נגישות או להעלות את התקציב על דעת עצמו. הוא יכול להגיד שלא מצא התאמה ולבקש החלטה. אפשר לשאול אם לשנות תאריכים או תקציב, אבל השינוי חייב להיות מפורש.
זה גם הרגע להסביר למה יש stop ברשימת הפעולות. בלי אפשרות לעצור, אנחנו מאלצים את המודל לבחור פעולה גם כשאין אחת טובה. בנוסף, מגבילים את מספר הצעדים. חופשה של שלושה לילות לא צריכה לולאה של שלושה ימים.
המצב והמחירים הם דוגמה בדויה. החישוב נעשה בקוד.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20:10-21:30
המודל הוא חלק מהמערכת. אנחנו עדיין אחראים להכין קלט טוב, להגדיר פעולות ולבדוק תנאים.
בדף אמיתי יש גם טקסט לא מהימן. טקסט באתר יכול לנסות להנחות את המודל (prompt injection), ולכן לא מתייחסים אליו כהרשאה. זה נשאר סיכון גם כשהתשובה היא בחירה מרשימה.
אתר הדמו בשליטתנו, ויש בו מזהים יציבים. אתר חיצוני מוסיף התחברות, חלונות קופצים, שינויים במבנה, תנאי שימוש ואתגרים נוספים. הדמו מבודד את רעיון הבחירה כדי שנוכל ללמוד אותו.
אין צורך בהרצאת אבטחה של שעה. לבחור דוגמה אחת: מלון שכותב בדף שהוא עומד בכל הדרישות לא פוטר אותנו מבדיקת השדות.
מקור: https://docs.typesafe.ai/model-jaggedness/jev-1.13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21:30-22:40
הייתי מתחיל ממסך אחד באתר שבשליטתכם. בוחרים משימה, מגדירים פעולות ומחברים בחירה לתוצאה שאפשר לבדוק. למשל, מיון בקשה במערכת פנימית או מעבר לטופס המתאים. אחרי שזה עובד, מרחיבים.
ערכת ההתחלה בשקף לא דורשת AWS ולא דורשת Jev: כל מודל שמחזיר structured output מספיק כדי להתחיל.
Jev מעניין כי הוא נותן לנו צורת ממשק אחרת בין מודל לקוד. בפועל צריך למדוד: כמה צעדים הצליחו, האם המשימה הושלמה, ומה הזמן והעלות הכוללים, כולל הכנת הקלט וקריאות נוספות. אין כאן תוצאה שמוכיחה יתרון ביצועים. המטרה היא לצאת עם משהו שאפשר לנסות בצורה מסודרת.
מעבר לסיום: החופשה שלנו הייתה בדויה. ההחלטות ההנדסיות בדרך, לא.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22:40-30:00
עד דקה 25, סיכום במשפט אחד (מופיע בשקף): המודל בוחר מתוך רשימה. הקוד שלכם קובע מה ברשימה, בודק ומבצע.
להפנות ל-wave-lab כריפו הדוגמאות הכללי (דמו החופשה נמצא ב-demos/vacation-agent, והמצגת עצמה ב-demos/vacation-agent/talk), ולוודא לפני ההרצאה שה-PR מוזג. אם לא, להגיד שהקוד נמצא ב-branch ולא ב-main.
מכאן שאלות עד דקה 30. אם אין שאלות, לשאול: איפה במוצר שלכם יש מסך עם מספר קטן של פעולות, שהבחירה ביניהן תלויה בהקשר? לקחת דוגמה אחת ולמפות אותה למצב, לאפשרויות ולבדיקה.
שאלה צפויה: "למה לא פשוט LLM עם enum ב-structured output?" יש שקף נספח מוכן לזה (שקף 20).
מקור קישור: https://github.com/tomerwave/wave-lab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נספח
להשתמש רק אם עולה שאלת הארכיטקטורה. המודל ב-Bedrock דרך Strands מנהל את התוכנית. כלי הדפדפן שלנו מפעיל לולאה מקומית עם מגבלת צעדים, ו-Jev לבחירה. הכלי מחזיר סיכום כשתת־המשימה הושלמה, או כשהוא נתקל בשינוי או בכשל. אפשר גם להתחיל עם קריאה ל-LLM בכל צעד. אין פתרון אחד שמתאים לכל אתר. זו חלוקה מוצעת שצריך למדוד.
מקורות: https://strandsagents.com/docs/user-guide/sdk/ ; https://docs.typesafe.ai/sdk/javascript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נספח (לשאלות)
לשלוף רק אם עולה השאלה "למה לא פשוט LLM עם enum ב-structured output?". התשובה הקצרה: זה בדיוק המקום להתחיל. כל ספק תומך בזה, וזה מספיק לרוב המסכים. Jev הוא מודל שנבנה סביב הבחירה ומחזיר גם הסתברויות. אין לנו כאן מדידה שמוכיחה שאחד עדיף, ולכן ההמלצה היא למדוד את שניהם על אותה משימה: כמה צעדים הצליחו, האם המשימה הושלמה, זמן ועלות כוללים.
מקורות: https://docs.typesafe.ai/primitives/choice ; https://docs.typesafe.ai/model-jaggedness/jev-1.13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נספח
מקורות מלאים, נבדקו ב-22 בספטמבר 2026:
https://typesafe.ai/blog/introducing-system-one-models-and-jev
https://docs.typesafe.ai/sdk/javascript
https://docs.typesafe.ai/primitives/choice
https://docs.typesafe.ai/confidence
https://docs.typesafe.ai/model-jaggedness/jev-1.13
https://strandsagents.com/docs/user-guide/sdk/
https://docs.aws.amazon.com/bedrock-agentcore/latest/devguide/browser-tool.html
https://tomerwave.com/
https://github.com/tomerwave/wave-lab
קוד הדמו המצורף הוא המחשה מקומית מתוסרטת ודוגמת שילוב. חיבור חי ל-Jev, Bedrock ו-AgentCore דורש הגדרה ובדיקה לפני העלייה לבמה.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tomerwave/wave-lab" TargetMode="External"/><Relationship Id="rId3" Type="http://schemas.openxmlformats.org/officeDocument/2006/relationships/hyperlink" Target="https://tomerwave.com" TargetMode="External"/><Relationship Id="rId1" Type="http://schemas.openxmlformats.org/officeDocument/2006/relationships/image" Target="../media/image-18-1.jp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docs.typesafe.ai/sdk/javascript" TargetMode="External"/><Relationship Id="rId3" Type="http://schemas.openxmlformats.org/officeDocument/2006/relationships/hyperlink" Target="https://strandsagents.com/docs/user-guide/sdk/" TargetMode="External"/><Relationship Id="rId4" Type="http://schemas.openxmlformats.org/officeDocument/2006/relationships/hyperlink" Target="https://docs.aws.amazon.com/bedrock-agentcore/latest/devguide/browser-tool.html" TargetMode="External"/><Relationship Id="rId5" Type="http://schemas.openxmlformats.org/officeDocument/2006/relationships/hyperlink" Target="https://github.com/tomerwave/wave-lab" TargetMode="External"/><Relationship Id="rId1" Type="http://schemas.openxmlformats.org/officeDocument/2006/relationships/image" Target="../media/image-21-1.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pic>
        <p:nvPicPr>
          <p:cNvPr id="3" name="Image 0" descr="/home/claude/b2/image.jpg">    </p:cNvPr>
          <p:cNvPicPr>
            <a:picLocks noChangeAspect="1"/>
          </p:cNvPicPr>
          <p:nvPr/>
        </p:nvPicPr>
        <p:blipFill>
          <a:blip r:embed="rId1"/>
          <a:stretch>
            <a:fillRect/>
          </a:stretch>
        </p:blipFill>
        <p:spPr>
          <a:xfrm>
            <a:off x="0" y="0"/>
            <a:ext cx="12191695" cy="6858000"/>
          </a:xfrm>
          <a:prstGeom prst="rect">
            <a:avLst/>
          </a:prstGeom>
        </p:spPr>
      </p:pic>
      <p:pic>
        <p:nvPicPr>
          <p:cNvPr id="4" name="Image 1" descr="/home/claude/b2/icon.png">    </p:cNvPr>
          <p:cNvPicPr>
            <a:picLocks noChangeAspect="1"/>
          </p:cNvPicPr>
          <p:nvPr/>
        </p:nvPicPr>
        <p:blipFill>
          <a:blip r:embed="rId2"/>
          <a:stretch>
            <a:fillRect/>
          </a:stretch>
        </p:blipFill>
        <p:spPr>
          <a:xfrm>
            <a:off x="11121847" y="329184"/>
            <a:ext cx="310896" cy="310896"/>
          </a:xfrm>
          <a:prstGeom prst="rect">
            <a:avLst/>
          </a:prstGeom>
        </p:spPr>
      </p:pic>
      <p:sp>
        <p:nvSpPr>
          <p:cNvPr id="5"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6" name="Text 1"/>
          <p:cNvSpPr txBox="1"/>
          <p:nvPr/>
        </p:nvSpPr>
        <p:spPr>
          <a:xfrm>
            <a:off x="6400800" y="1417320"/>
            <a:ext cx="5031943" cy="1920240"/>
          </a:xfrm>
          <a:prstGeom prst="rect">
            <a:avLst/>
          </a:prstGeom>
          <a:noFill/>
          <a:ln/>
        </p:spPr>
        <p:txBody>
          <a:bodyPr wrap="square" lIns="0" tIns="0" rIns="0" bIns="0" rtlCol="0" anchor="t"/>
          <a:lstStyle/>
          <a:p>
            <a:pPr rtl="1" algn="r" indent="0" marL="0">
              <a:lnSpc>
                <a:spcPct val="98000"/>
              </a:lnSpc>
              <a:buNone/>
            </a:pPr>
            <a:r>
              <a:rPr lang="he-IL" altLang="en-US" sz="5400" dirty="0">
                <a:solidFill>
                  <a:srgbClr val="2B3138"/>
                </a:solidFill>
                <a:latin typeface="Fraunces" pitchFamily="34" charset="0"/>
                <a:ea typeface="Fraunces" pitchFamily="34" charset="-122"/>
                <a:cs typeface="Frank Ruhl Libre" pitchFamily="34" charset="-120"/>
              </a:rPr>
              <a:t>שלחנו סוכן</a:t>
            </a:r>
            <a:endParaRPr lang="he-IL" sz="5400" dirty="0"/>
          </a:p>
          <a:p>
            <a:pPr rtl="1" algn="r" indent="0" marL="0">
              <a:lnSpc>
                <a:spcPct val="98000"/>
              </a:lnSpc>
              <a:buNone/>
            </a:pPr>
            <a:r>
              <a:rPr lang="he-IL" altLang="en-US" sz="5400" dirty="0">
                <a:solidFill>
                  <a:srgbClr val="2B3138"/>
                </a:solidFill>
                <a:latin typeface="Fraunces" pitchFamily="34" charset="0"/>
                <a:ea typeface="Fraunces" pitchFamily="34" charset="-122"/>
                <a:cs typeface="Frank Ruhl Libre" pitchFamily="34" charset="-120"/>
              </a:rPr>
              <a:t>להזמין חופשה</a:t>
            </a:r>
            <a:endParaRPr lang="he-IL" sz="5400" dirty="0"/>
          </a:p>
        </p:txBody>
      </p:sp>
      <p:sp>
        <p:nvSpPr>
          <p:cNvPr id="7" name="Text 2"/>
          <p:cNvSpPr txBox="1"/>
          <p:nvPr/>
        </p:nvSpPr>
        <p:spPr>
          <a:xfrm>
            <a:off x="6400800" y="3291840"/>
            <a:ext cx="5031943" cy="868680"/>
          </a:xfrm>
          <a:prstGeom prst="rect">
            <a:avLst/>
          </a:prstGeom>
          <a:noFill/>
          <a:ln/>
        </p:spPr>
        <p:txBody>
          <a:bodyPr wrap="square" lIns="0" tIns="0" rIns="0" bIns="0" rtlCol="0" anchor="t"/>
          <a:lstStyle/>
          <a:p>
            <a:pPr rtl="1" algn="r" indent="0" marL="0">
              <a:buNone/>
            </a:pPr>
            <a:r>
              <a:rPr lang="he-IL" altLang="en-US" sz="5400" dirty="0">
                <a:solidFill>
                  <a:srgbClr val="5F7368"/>
                </a:solidFill>
                <a:latin typeface="Fraunces" pitchFamily="34" charset="0"/>
                <a:ea typeface="Fraunces" pitchFamily="34" charset="-122"/>
                <a:cs typeface="Frank Ruhl Libre" pitchFamily="34" charset="-120"/>
              </a:rPr>
              <a:t>ואז התערבתם</a:t>
            </a:r>
            <a:endParaRPr lang="he-IL" sz="5400" dirty="0"/>
          </a:p>
        </p:txBody>
      </p:sp>
      <p:sp>
        <p:nvSpPr>
          <p:cNvPr id="8" name="Text 3"/>
          <p:cNvSpPr txBox="1"/>
          <p:nvPr/>
        </p:nvSpPr>
        <p:spPr>
          <a:xfrm>
            <a:off x="6400800" y="4343400"/>
            <a:ext cx="5031943" cy="411480"/>
          </a:xfrm>
          <a:prstGeom prst="rect">
            <a:avLst/>
          </a:prstGeom>
          <a:noFill/>
          <a:ln/>
        </p:spPr>
        <p:txBody>
          <a:bodyPr wrap="square" lIns="0" tIns="0" rIns="0" bIns="0" rtlCol="0" anchor="t"/>
          <a:lstStyle/>
          <a:p>
            <a:pPr rtl="1" algn="r" indent="0" marL="0">
              <a:buNone/>
            </a:pPr>
            <a:r>
              <a:rPr lang="he-IL" altLang="en-US" sz="2100" dirty="0">
                <a:solidFill>
                  <a:srgbClr val="5A6067"/>
                </a:solidFill>
                <a:latin typeface="Instrument Sans" pitchFamily="34" charset="0"/>
                <a:ea typeface="Instrument Sans" pitchFamily="34" charset="-122"/>
                <a:cs typeface="Assistant" pitchFamily="34" charset="-120"/>
              </a:rPr>
              <a:t>סוכנים, דפדפנים, Jev ו-AWS</a:t>
            </a:r>
            <a:endParaRPr lang="he-IL" sz="2100" dirty="0"/>
          </a:p>
        </p:txBody>
      </p:sp>
      <p:sp>
        <p:nvSpPr>
          <p:cNvPr id="9" name="Text 4"/>
          <p:cNvSpPr txBox="1"/>
          <p:nvPr/>
        </p:nvSpPr>
        <p:spPr>
          <a:xfrm>
            <a:off x="6400800" y="5806440"/>
            <a:ext cx="5031943" cy="320040"/>
          </a:xfrm>
          <a:prstGeom prst="rect">
            <a:avLst/>
          </a:prstGeom>
          <a:noFill/>
          <a:ln/>
        </p:spPr>
        <p:txBody>
          <a:bodyPr wrap="square" lIns="0" tIns="0" rIns="0" bIns="0" rtlCol="0" anchor="t"/>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תומר גל  ·  tomerwave.com</a:t>
            </a:r>
            <a:endParaRPr lang="he-IL" sz="1500" dirty="0"/>
          </a:p>
        </p:txBody>
      </p:sp>
      <p:sp>
        <p:nvSpPr>
          <p:cNvPr id="10" name="Text 5"/>
          <p:cNvSpPr txBox="1"/>
          <p:nvPr/>
        </p:nvSpPr>
        <p:spPr>
          <a:xfrm>
            <a:off x="6400800" y="6172200"/>
            <a:ext cx="5031943" cy="274320"/>
          </a:xfrm>
          <a:prstGeom prst="rect">
            <a:avLst/>
          </a:prstGeom>
          <a:noFill/>
          <a:ln/>
        </p:spPr>
        <p:txBody>
          <a:bodyPr wrap="square" lIns="0" tIns="0" rIns="0" bIns="0" rtlCol="0" anchor="t"/>
          <a:lstStyle/>
          <a:p>
            <a:pPr rtl="1" algn="r" indent="0" marL="0">
              <a:buNone/>
            </a:pPr>
            <a:r>
              <a:rPr lang="he-IL" altLang="en-US" sz="1300" dirty="0">
                <a:solidFill>
                  <a:srgbClr val="5A6067"/>
                </a:solidFill>
                <a:latin typeface="Instrument Sans" pitchFamily="34" charset="0"/>
                <a:ea typeface="Instrument Sans" pitchFamily="34" charset="-122"/>
                <a:cs typeface="Assistant" pitchFamily="34" charset="-120"/>
              </a:rPr>
              <a:t>האתר והמלונות בדויים. אין רכישה אמיתית.</a:t>
            </a:r>
            <a:endParaRPr lang="he-IL"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2 / 21</a:t>
            </a:r>
            <a:endParaRPr lang="en-US" sz="1000" dirty="0"/>
          </a:p>
        </p:txBody>
      </p:sp>
      <p:sp>
        <p:nvSpPr>
          <p:cNvPr id="6" name="Text 2"/>
          <p:cNvSpPr txBox="1"/>
          <p:nvPr/>
        </p:nvSpPr>
        <p:spPr>
          <a:xfrm>
            <a:off x="7406640" y="868680"/>
            <a:ext cx="4026103" cy="822960"/>
          </a:xfrm>
          <a:prstGeom prst="rect">
            <a:avLst/>
          </a:prstGeom>
          <a:noFill/>
          <a:ln/>
        </p:spPr>
        <p:txBody>
          <a:bodyPr wrap="square" lIns="0" tIns="0" rIns="0" bIns="0" rtlCol="0" anchor="ctr"/>
          <a:lstStyle/>
          <a:p>
            <a:pPr rtl="1" algn="r" indent="0" marL="0">
              <a:buNone/>
            </a:pPr>
            <a:r>
              <a:rPr lang="he-IL" altLang="en-US" sz="4400" dirty="0">
                <a:solidFill>
                  <a:srgbClr val="2B3138"/>
                </a:solidFill>
                <a:latin typeface="Fraunces" pitchFamily="34" charset="0"/>
                <a:ea typeface="Fraunces" pitchFamily="34" charset="-122"/>
                <a:cs typeface="Frank Ruhl Libre" pitchFamily="34" charset="-120"/>
              </a:rPr>
              <a:t>תומר גל</a:t>
            </a:r>
            <a:endParaRPr lang="he-IL" sz="4400" dirty="0"/>
          </a:p>
        </p:txBody>
      </p:sp>
      <p:sp>
        <p:nvSpPr>
          <p:cNvPr id="7" name="Text 3"/>
          <p:cNvSpPr txBox="1"/>
          <p:nvPr/>
        </p:nvSpPr>
        <p:spPr>
          <a:xfrm>
            <a:off x="7406640" y="1737360"/>
            <a:ext cx="4026103" cy="365760"/>
          </a:xfrm>
          <a:prstGeom prst="rect">
            <a:avLst/>
          </a:prstGeom>
          <a:noFill/>
          <a:ln/>
        </p:spPr>
        <p:txBody>
          <a:bodyPr wrap="square" lIns="0" tIns="0" rIns="0" bIns="0" rtlCol="0" anchor="t"/>
          <a:lstStyle/>
          <a:p>
            <a:pPr rtl="1" algn="r" indent="0" marL="0">
              <a:buNone/>
            </a:pPr>
            <a:r>
              <a:rPr lang="he-IL" altLang="en-US" sz="1800" dirty="0">
                <a:solidFill>
                  <a:srgbClr val="5A6067"/>
                </a:solidFill>
                <a:latin typeface="Instrument Sans" pitchFamily="34" charset="0"/>
                <a:ea typeface="Instrument Sans" pitchFamily="34" charset="-122"/>
                <a:cs typeface="Assistant" pitchFamily="34" charset="-120"/>
              </a:rPr>
              <a:t>קצת על מי שנתן לסוכן דפדפן</a:t>
            </a:r>
            <a:endParaRPr lang="he-IL" sz="1800" dirty="0"/>
          </a:p>
        </p:txBody>
      </p:sp>
      <p:sp>
        <p:nvSpPr>
          <p:cNvPr id="8" name="Shape 4"/>
          <p:cNvSpPr/>
          <p:nvPr/>
        </p:nvSpPr>
        <p:spPr>
          <a:xfrm>
            <a:off x="7406640" y="2514600"/>
            <a:ext cx="4026103" cy="0"/>
          </a:xfrm>
          <a:prstGeom prst="line">
            <a:avLst/>
          </a:prstGeom>
          <a:noFill/>
          <a:ln w="9525">
            <a:solidFill>
              <a:srgbClr val="E4E0D6"/>
            </a:solidFill>
            <a:prstDash val="solid"/>
          </a:ln>
        </p:spPr>
      </p:sp>
      <p:sp>
        <p:nvSpPr>
          <p:cNvPr id="9" name="Text 5"/>
          <p:cNvSpPr txBox="1"/>
          <p:nvPr/>
        </p:nvSpPr>
        <p:spPr>
          <a:xfrm>
            <a:off x="7406640" y="2697480"/>
            <a:ext cx="4026103" cy="347472"/>
          </a:xfrm>
          <a:prstGeom prst="rect">
            <a:avLst/>
          </a:prstGeom>
          <a:noFill/>
          <a:ln/>
        </p:spPr>
        <p:txBody>
          <a:bodyPr wrap="square" lIns="0" tIns="0" rIns="0" bIns="0" rtlCol="0" anchor="t"/>
          <a:lstStyle/>
          <a:p>
            <a:pPr rtl="1" algn="r" indent="0" marL="0">
              <a:buNone/>
            </a:pPr>
            <a:r>
              <a:rPr lang="he-IL" altLang="en-US" sz="1800" b="1" dirty="0">
                <a:solidFill>
                  <a:srgbClr val="2B3138"/>
                </a:solidFill>
                <a:latin typeface="Instrument Sans" pitchFamily="34" charset="0"/>
                <a:ea typeface="Instrument Sans" pitchFamily="34" charset="-122"/>
                <a:cs typeface="Assistant" pitchFamily="34" charset="-120"/>
              </a:rPr>
              <a:t>תשתיות דפדפן לסוכני AI</a:t>
            </a:r>
            <a:endParaRPr lang="he-IL" sz="1800" dirty="0"/>
          </a:p>
        </p:txBody>
      </p:sp>
      <p:sp>
        <p:nvSpPr>
          <p:cNvPr id="10" name="Text 6"/>
          <p:cNvSpPr txBox="1"/>
          <p:nvPr/>
        </p:nvSpPr>
        <p:spPr>
          <a:xfrm>
            <a:off x="7406640" y="3063240"/>
            <a:ext cx="4026103" cy="36576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בניתי תשתיות דפדפן וניהול סשנים מאומתים</a:t>
            </a:r>
            <a:endParaRPr lang="he-IL" sz="1500" dirty="0"/>
          </a:p>
        </p:txBody>
      </p:sp>
      <p:sp>
        <p:nvSpPr>
          <p:cNvPr id="11" name="Shape 7"/>
          <p:cNvSpPr/>
          <p:nvPr/>
        </p:nvSpPr>
        <p:spPr>
          <a:xfrm>
            <a:off x="7406640" y="3611880"/>
            <a:ext cx="4026103" cy="0"/>
          </a:xfrm>
          <a:prstGeom prst="line">
            <a:avLst/>
          </a:prstGeom>
          <a:noFill/>
          <a:ln w="9525">
            <a:solidFill>
              <a:srgbClr val="E4E0D6"/>
            </a:solidFill>
            <a:prstDash val="solid"/>
          </a:ln>
        </p:spPr>
      </p:sp>
      <p:sp>
        <p:nvSpPr>
          <p:cNvPr id="12" name="Text 8"/>
          <p:cNvSpPr txBox="1"/>
          <p:nvPr/>
        </p:nvSpPr>
        <p:spPr>
          <a:xfrm>
            <a:off x="7406640" y="3794760"/>
            <a:ext cx="4026103" cy="347472"/>
          </a:xfrm>
          <a:prstGeom prst="rect">
            <a:avLst/>
          </a:prstGeom>
          <a:noFill/>
          <a:ln/>
        </p:spPr>
        <p:txBody>
          <a:bodyPr wrap="square" lIns="0" tIns="0" rIns="0" bIns="0" rtlCol="0" anchor="t"/>
          <a:lstStyle/>
          <a:p>
            <a:pPr rtl="1" algn="r" indent="0" marL="0">
              <a:buNone/>
            </a:pPr>
            <a:r>
              <a:rPr lang="he-IL" altLang="en-US" sz="1800" b="1" dirty="0">
                <a:solidFill>
                  <a:srgbClr val="2B3138"/>
                </a:solidFill>
                <a:latin typeface="Instrument Sans" pitchFamily="34" charset="0"/>
                <a:ea typeface="Instrument Sans" pitchFamily="34" charset="-122"/>
                <a:cs typeface="Assistant" pitchFamily="34" charset="-120"/>
              </a:rPr>
              <a:t>אמינות סוכני AI</a:t>
            </a:r>
            <a:endParaRPr lang="he-IL" sz="1800" dirty="0"/>
          </a:p>
        </p:txBody>
      </p:sp>
      <p:sp>
        <p:nvSpPr>
          <p:cNvPr id="13" name="Text 9"/>
          <p:cNvSpPr txBox="1"/>
          <p:nvPr/>
        </p:nvSpPr>
        <p:spPr>
          <a:xfrm>
            <a:off x="7406640" y="4160520"/>
            <a:ext cx="4026103" cy="36576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הובלתי פיתוח, כולל תיקון תקלות בזמן ריצה</a:t>
            </a:r>
            <a:endParaRPr lang="he-IL" sz="1500" dirty="0"/>
          </a:p>
        </p:txBody>
      </p:sp>
      <p:sp>
        <p:nvSpPr>
          <p:cNvPr id="14" name="Shape 10"/>
          <p:cNvSpPr/>
          <p:nvPr/>
        </p:nvSpPr>
        <p:spPr>
          <a:xfrm>
            <a:off x="7406640" y="4709160"/>
            <a:ext cx="4026103" cy="0"/>
          </a:xfrm>
          <a:prstGeom prst="line">
            <a:avLst/>
          </a:prstGeom>
          <a:noFill/>
          <a:ln w="9525">
            <a:solidFill>
              <a:srgbClr val="E4E0D6"/>
            </a:solidFill>
            <a:prstDash val="solid"/>
          </a:ln>
        </p:spPr>
      </p:sp>
      <p:sp>
        <p:nvSpPr>
          <p:cNvPr id="15" name="Text 11"/>
          <p:cNvSpPr txBox="1"/>
          <p:nvPr/>
        </p:nvSpPr>
        <p:spPr>
          <a:xfrm>
            <a:off x="7406640" y="4892040"/>
            <a:ext cx="4026103" cy="347472"/>
          </a:xfrm>
          <a:prstGeom prst="rect">
            <a:avLst/>
          </a:prstGeom>
          <a:noFill/>
          <a:ln/>
        </p:spPr>
        <p:txBody>
          <a:bodyPr wrap="square" lIns="0" tIns="0" rIns="0" bIns="0" rtlCol="0" anchor="t"/>
          <a:lstStyle/>
          <a:p>
            <a:pPr rtl="1" algn="r" indent="0" marL="0">
              <a:buNone/>
            </a:pPr>
            <a:r>
              <a:rPr lang="he-IL" altLang="en-US" sz="1800" b="1" dirty="0">
                <a:solidFill>
                  <a:srgbClr val="2B3138"/>
                </a:solidFill>
                <a:latin typeface="Instrument Sans" pitchFamily="34" charset="0"/>
                <a:ea typeface="Instrument Sans" pitchFamily="34" charset="-122"/>
                <a:cs typeface="Assistant" pitchFamily="34" charset="-120"/>
              </a:rPr>
              <a:t>מחוץ למחשב</a:t>
            </a:r>
            <a:endParaRPr lang="he-IL" sz="1800" dirty="0"/>
          </a:p>
        </p:txBody>
      </p:sp>
      <p:sp>
        <p:nvSpPr>
          <p:cNvPr id="16" name="Text 12"/>
          <p:cNvSpPr txBox="1"/>
          <p:nvPr/>
        </p:nvSpPr>
        <p:spPr>
          <a:xfrm>
            <a:off x="7406640" y="5257800"/>
            <a:ext cx="4026103" cy="36576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טיפוס וריקוד. גם שם כדאי לדעת מה הצעד הבא</a:t>
            </a:r>
            <a:endParaRPr lang="he-IL" sz="1500" dirty="0"/>
          </a:p>
        </p:txBody>
      </p:sp>
      <p:sp>
        <p:nvSpPr>
          <p:cNvPr id="17" name="Shape 13"/>
          <p:cNvSpPr/>
          <p:nvPr/>
        </p:nvSpPr>
        <p:spPr>
          <a:xfrm>
            <a:off x="758952" y="960120"/>
            <a:ext cx="6217920" cy="4654296"/>
          </a:xfrm>
          <a:prstGeom prst="rect">
            <a:avLst/>
          </a:prstGeom>
          <a:solidFill>
            <a:srgbClr val="F3EDE2"/>
          </a:solidFill>
          <a:ln w="9525">
            <a:solidFill>
              <a:srgbClr val="D8D2C6"/>
            </a:solidFill>
            <a:prstDash val="solid"/>
          </a:ln>
        </p:spPr>
      </p:sp>
      <p:sp>
        <p:nvSpPr>
          <p:cNvPr id="18" name="Text 14"/>
          <p:cNvSpPr txBox="1"/>
          <p:nvPr/>
        </p:nvSpPr>
        <p:spPr>
          <a:xfrm>
            <a:off x="987552" y="1069848"/>
            <a:ext cx="2743200" cy="219456"/>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tomer_gal.yaml</a:t>
            </a:r>
            <a:endParaRPr lang="en-US" sz="1000" dirty="0"/>
          </a:p>
        </p:txBody>
      </p:sp>
      <p:sp>
        <p:nvSpPr>
          <p:cNvPr id="19" name="Shape 15"/>
          <p:cNvSpPr/>
          <p:nvPr/>
        </p:nvSpPr>
        <p:spPr>
          <a:xfrm>
            <a:off x="758952" y="1344168"/>
            <a:ext cx="6217920" cy="0"/>
          </a:xfrm>
          <a:prstGeom prst="line">
            <a:avLst/>
          </a:prstGeom>
          <a:noFill/>
          <a:ln w="9525">
            <a:solidFill>
              <a:srgbClr val="D8D2C6"/>
            </a:solidFill>
            <a:prstDash val="solid"/>
          </a:ln>
        </p:spPr>
      </p:sp>
      <p:sp>
        <p:nvSpPr>
          <p:cNvPr id="20" name="Text 16"/>
          <p:cNvSpPr txBox="1"/>
          <p:nvPr/>
        </p:nvSpPr>
        <p:spPr>
          <a:xfrm>
            <a:off x="868680" y="1371600"/>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1</a:t>
            </a:r>
            <a:endParaRPr lang="en-US" sz="875" dirty="0"/>
          </a:p>
        </p:txBody>
      </p:sp>
      <p:sp>
        <p:nvSpPr>
          <p:cNvPr id="21" name="Text 17"/>
          <p:cNvSpPr txBox="1"/>
          <p:nvPr/>
        </p:nvSpPr>
        <p:spPr>
          <a:xfrm>
            <a:off x="1335024" y="1371600"/>
            <a:ext cx="5413248" cy="310896"/>
          </a:xfrm>
          <a:prstGeom prst="rect">
            <a:avLst/>
          </a:prstGeom>
          <a:noFill/>
          <a:ln/>
        </p:spPr>
        <p:txBody>
          <a:bodyPr wrap="square" lIns="0" tIns="0" rIns="0" bIns="0" rtlCol="0" anchor="ctr"/>
          <a:lstStyle/>
          <a:p>
            <a:pPr algn="l" indent="0" marL="0">
              <a:buNone/>
            </a:pPr>
            <a:r>
              <a:rPr lang="en-US" sz="1250" dirty="0">
                <a:solidFill>
                  <a:srgbClr val="5F7368"/>
                </a:solidFill>
                <a:latin typeface="JetBrains Mono" pitchFamily="34" charset="0"/>
                <a:ea typeface="JetBrains Mono" pitchFamily="34" charset="-122"/>
                <a:cs typeface="JetBrains Mono" pitchFamily="34" charset="-120"/>
              </a:rPr>
              <a:t>tomer_gal</a:t>
            </a:r>
            <a:r>
              <a:rPr lang="en-US" sz="1250" dirty="0">
                <a:solidFill>
                  <a:srgbClr val="8B8F93"/>
                </a:solidFill>
                <a:latin typeface="JetBrains Mono" pitchFamily="34" charset="0"/>
                <a:ea typeface="JetBrains Mono" pitchFamily="34" charset="-122"/>
                <a:cs typeface="JetBrains Mono" pitchFamily="34" charset="-120"/>
              </a:rPr>
              <a:t>:</a:t>
            </a:r>
            <a:endParaRPr lang="en-US" sz="1250" dirty="0"/>
          </a:p>
        </p:txBody>
      </p:sp>
      <p:sp>
        <p:nvSpPr>
          <p:cNvPr id="22" name="Text 18"/>
          <p:cNvSpPr txBox="1"/>
          <p:nvPr/>
        </p:nvSpPr>
        <p:spPr>
          <a:xfrm>
            <a:off x="868680" y="1682496"/>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2</a:t>
            </a:r>
            <a:endParaRPr lang="en-US" sz="875" dirty="0"/>
          </a:p>
        </p:txBody>
      </p:sp>
      <p:sp>
        <p:nvSpPr>
          <p:cNvPr id="23" name="Text 19"/>
          <p:cNvSpPr txBox="1"/>
          <p:nvPr/>
        </p:nvSpPr>
        <p:spPr>
          <a:xfrm>
            <a:off x="1335024" y="1682496"/>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role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Fractional CTO &amp; Tech Advisor</a:t>
            </a:r>
            <a:endParaRPr lang="en-US" sz="1250" dirty="0"/>
          </a:p>
        </p:txBody>
      </p:sp>
      <p:sp>
        <p:nvSpPr>
          <p:cNvPr id="24" name="Text 20"/>
          <p:cNvSpPr txBox="1"/>
          <p:nvPr/>
        </p:nvSpPr>
        <p:spPr>
          <a:xfrm>
            <a:off x="868680" y="1993392"/>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3</a:t>
            </a:r>
            <a:endParaRPr lang="en-US" sz="875" dirty="0"/>
          </a:p>
        </p:txBody>
      </p:sp>
      <p:sp>
        <p:nvSpPr>
          <p:cNvPr id="25" name="Text 21"/>
          <p:cNvSpPr txBox="1"/>
          <p:nvPr/>
        </p:nvSpPr>
        <p:spPr>
          <a:xfrm>
            <a:off x="1335024" y="1993392"/>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based</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Tel Aviv</a:t>
            </a:r>
            <a:endParaRPr lang="en-US" sz="1250" dirty="0"/>
          </a:p>
        </p:txBody>
      </p:sp>
      <p:sp>
        <p:nvSpPr>
          <p:cNvPr id="26" name="Text 22"/>
          <p:cNvSpPr txBox="1"/>
          <p:nvPr/>
        </p:nvSpPr>
        <p:spPr>
          <a:xfrm>
            <a:off x="868680" y="2304288"/>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4</a:t>
            </a:r>
            <a:endParaRPr lang="en-US" sz="875" dirty="0"/>
          </a:p>
        </p:txBody>
      </p:sp>
      <p:sp>
        <p:nvSpPr>
          <p:cNvPr id="27" name="Text 23"/>
          <p:cNvSpPr txBox="1"/>
          <p:nvPr/>
        </p:nvSpPr>
        <p:spPr>
          <a:xfrm>
            <a:off x="1335024" y="2304288"/>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focus</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[Architecture, AI agents, Automation]</a:t>
            </a:r>
            <a:endParaRPr lang="en-US" sz="1250" dirty="0"/>
          </a:p>
        </p:txBody>
      </p:sp>
      <p:sp>
        <p:nvSpPr>
          <p:cNvPr id="28" name="Text 24"/>
          <p:cNvSpPr txBox="1"/>
          <p:nvPr/>
        </p:nvSpPr>
        <p:spPr>
          <a:xfrm>
            <a:off x="868680" y="2615184"/>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5</a:t>
            </a:r>
            <a:endParaRPr lang="en-US" sz="875" dirty="0"/>
          </a:p>
        </p:txBody>
      </p:sp>
      <p:sp>
        <p:nvSpPr>
          <p:cNvPr id="29" name="Text 25"/>
          <p:cNvSpPr txBox="1"/>
          <p:nvPr/>
        </p:nvSpPr>
        <p:spPr>
          <a:xfrm>
            <a:off x="1335024" y="2615184"/>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before</a:t>
            </a:r>
            <a:r>
              <a:rPr lang="en-US" sz="1250" dirty="0">
                <a:solidFill>
                  <a:srgbClr val="8B8F93"/>
                </a:solidFill>
                <a:latin typeface="JetBrains Mono" pitchFamily="34" charset="0"/>
                <a:ea typeface="JetBrains Mono" pitchFamily="34" charset="-122"/>
                <a:cs typeface="JetBrains Mono" pitchFamily="34" charset="-120"/>
              </a:rPr>
              <a:t>:</a:t>
            </a:r>
            <a:endParaRPr lang="en-US" sz="1250" dirty="0"/>
          </a:p>
        </p:txBody>
      </p:sp>
      <p:sp>
        <p:nvSpPr>
          <p:cNvPr id="30" name="Text 26"/>
          <p:cNvSpPr txBox="1"/>
          <p:nvPr/>
        </p:nvSpPr>
        <p:spPr>
          <a:xfrm>
            <a:off x="868680" y="2926080"/>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6</a:t>
            </a:r>
            <a:endParaRPr lang="en-US" sz="875" dirty="0"/>
          </a:p>
        </p:txBody>
      </p:sp>
      <p:sp>
        <p:nvSpPr>
          <p:cNvPr id="31" name="Text 27"/>
          <p:cNvSpPr txBox="1"/>
          <p:nvPr/>
        </p:nvSpPr>
        <p:spPr>
          <a:xfrm>
            <a:off x="1335024" y="2926080"/>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 </a:t>
            </a:r>
            <a:r>
              <a:rPr lang="en-US" sz="1250" dirty="0">
                <a:solidFill>
                  <a:srgbClr val="5F7368"/>
                </a:solidFill>
                <a:latin typeface="JetBrains Mono" pitchFamily="34" charset="0"/>
                <a:ea typeface="JetBrains Mono" pitchFamily="34" charset="-122"/>
                <a:cs typeface="JetBrains Mono" pitchFamily="34" charset="-120"/>
              </a:rPr>
              <a:t>browser_infrastructure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authenticated sessions</a:t>
            </a:r>
            <a:endParaRPr lang="en-US" sz="1250" dirty="0"/>
          </a:p>
        </p:txBody>
      </p:sp>
      <p:sp>
        <p:nvSpPr>
          <p:cNvPr id="32" name="Text 28"/>
          <p:cNvSpPr txBox="1"/>
          <p:nvPr/>
        </p:nvSpPr>
        <p:spPr>
          <a:xfrm>
            <a:off x="868680" y="3236976"/>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7</a:t>
            </a:r>
            <a:endParaRPr lang="en-US" sz="875" dirty="0"/>
          </a:p>
        </p:txBody>
      </p:sp>
      <p:sp>
        <p:nvSpPr>
          <p:cNvPr id="33" name="Text 29"/>
          <p:cNvSpPr txBox="1"/>
          <p:nvPr/>
        </p:nvSpPr>
        <p:spPr>
          <a:xfrm>
            <a:off x="1335024" y="3236976"/>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 </a:t>
            </a:r>
            <a:r>
              <a:rPr lang="en-US" sz="1250" dirty="0">
                <a:solidFill>
                  <a:srgbClr val="5F7368"/>
                </a:solidFill>
                <a:latin typeface="JetBrains Mono" pitchFamily="34" charset="0"/>
                <a:ea typeface="JetBrains Mono" pitchFamily="34" charset="-122"/>
                <a:cs typeface="JetBrains Mono" pitchFamily="34" charset="-120"/>
              </a:rPr>
              <a:t>agent_reliability</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runtime remediation</a:t>
            </a:r>
            <a:endParaRPr lang="en-US" sz="1250" dirty="0"/>
          </a:p>
        </p:txBody>
      </p:sp>
      <p:sp>
        <p:nvSpPr>
          <p:cNvPr id="34" name="Text 30"/>
          <p:cNvSpPr txBox="1"/>
          <p:nvPr/>
        </p:nvSpPr>
        <p:spPr>
          <a:xfrm>
            <a:off x="868680" y="3547872"/>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8</a:t>
            </a:r>
            <a:endParaRPr lang="en-US" sz="875" dirty="0"/>
          </a:p>
        </p:txBody>
      </p:sp>
      <p:sp>
        <p:nvSpPr>
          <p:cNvPr id="35" name="Text 31"/>
          <p:cNvSpPr txBox="1"/>
          <p:nvPr/>
        </p:nvSpPr>
        <p:spPr>
          <a:xfrm>
            <a:off x="1335024" y="3547872"/>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stack</a:t>
            </a:r>
            <a:r>
              <a:rPr lang="en-US" sz="1250" dirty="0">
                <a:solidFill>
                  <a:srgbClr val="8B8F93"/>
                </a:solidFill>
                <a:latin typeface="JetBrains Mono" pitchFamily="34" charset="0"/>
                <a:ea typeface="JetBrains Mono" pitchFamily="34" charset="-122"/>
                <a:cs typeface="JetBrains Mono" pitchFamily="34" charset="-120"/>
              </a:rPr>
              <a:t>:</a:t>
            </a:r>
            <a:endParaRPr lang="en-US" sz="1250" dirty="0"/>
          </a:p>
        </p:txBody>
      </p:sp>
      <p:sp>
        <p:nvSpPr>
          <p:cNvPr id="36" name="Text 32"/>
          <p:cNvSpPr txBox="1"/>
          <p:nvPr/>
        </p:nvSpPr>
        <p:spPr>
          <a:xfrm>
            <a:off x="868680" y="3858768"/>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9</a:t>
            </a:r>
            <a:endParaRPr lang="en-US" sz="875" dirty="0"/>
          </a:p>
        </p:txBody>
      </p:sp>
      <p:sp>
        <p:nvSpPr>
          <p:cNvPr id="37" name="Text 33"/>
          <p:cNvSpPr txBox="1"/>
          <p:nvPr/>
        </p:nvSpPr>
        <p:spPr>
          <a:xfrm>
            <a:off x="1335024" y="3858768"/>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languages</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[TypeScript, Python, Java, Kotlin]</a:t>
            </a:r>
            <a:endParaRPr lang="en-US" sz="1250" dirty="0"/>
          </a:p>
        </p:txBody>
      </p:sp>
      <p:sp>
        <p:nvSpPr>
          <p:cNvPr id="38" name="Text 34"/>
          <p:cNvSpPr txBox="1"/>
          <p:nvPr/>
        </p:nvSpPr>
        <p:spPr>
          <a:xfrm>
            <a:off x="868680" y="4169664"/>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10</a:t>
            </a:r>
            <a:endParaRPr lang="en-US" sz="875" dirty="0"/>
          </a:p>
        </p:txBody>
      </p:sp>
      <p:sp>
        <p:nvSpPr>
          <p:cNvPr id="39" name="Text 35"/>
          <p:cNvSpPr txBox="1"/>
          <p:nvPr/>
        </p:nvSpPr>
        <p:spPr>
          <a:xfrm>
            <a:off x="1335024" y="4169664"/>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infra</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[AWS, Terraform, Kubernetes]</a:t>
            </a:r>
            <a:endParaRPr lang="en-US" sz="1250" dirty="0"/>
          </a:p>
        </p:txBody>
      </p:sp>
      <p:sp>
        <p:nvSpPr>
          <p:cNvPr id="40" name="Text 36"/>
          <p:cNvSpPr txBox="1"/>
          <p:nvPr/>
        </p:nvSpPr>
        <p:spPr>
          <a:xfrm>
            <a:off x="868680" y="4480560"/>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11</a:t>
            </a:r>
            <a:endParaRPr lang="en-US" sz="875" dirty="0"/>
          </a:p>
        </p:txBody>
      </p:sp>
      <p:sp>
        <p:nvSpPr>
          <p:cNvPr id="41" name="Text 37"/>
          <p:cNvSpPr txBox="1"/>
          <p:nvPr/>
        </p:nvSpPr>
        <p:spPr>
          <a:xfrm>
            <a:off x="1335024" y="4480560"/>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started_coding</a:t>
            </a:r>
            <a:r>
              <a:rPr lang="en-US" sz="1250" dirty="0">
                <a:solidFill>
                  <a:srgbClr val="8B8F93"/>
                </a:solidFill>
                <a:latin typeface="JetBrains Mono" pitchFamily="34" charset="0"/>
                <a:ea typeface="JetBrains Mono" pitchFamily="34" charset="-122"/>
                <a:cs typeface="JetBrains Mono" pitchFamily="34" charset="-120"/>
              </a:rPr>
              <a:t>:</a:t>
            </a:r>
            <a:endParaRPr lang="en-US" sz="1250" dirty="0"/>
          </a:p>
        </p:txBody>
      </p:sp>
      <p:sp>
        <p:nvSpPr>
          <p:cNvPr id="42" name="Text 38"/>
          <p:cNvSpPr txBox="1"/>
          <p:nvPr/>
        </p:nvSpPr>
        <p:spPr>
          <a:xfrm>
            <a:off x="868680" y="4791456"/>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12</a:t>
            </a:r>
            <a:endParaRPr lang="en-US" sz="875" dirty="0"/>
          </a:p>
        </p:txBody>
      </p:sp>
      <p:sp>
        <p:nvSpPr>
          <p:cNvPr id="43" name="Text 39"/>
          <p:cNvSpPr txBox="1"/>
          <p:nvPr/>
        </p:nvSpPr>
        <p:spPr>
          <a:xfrm>
            <a:off x="1335024" y="4791456"/>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age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12</a:t>
            </a:r>
            <a:endParaRPr lang="en-US" sz="1250" dirty="0"/>
          </a:p>
        </p:txBody>
      </p:sp>
      <p:sp>
        <p:nvSpPr>
          <p:cNvPr id="44" name="Text 40"/>
          <p:cNvSpPr txBox="1"/>
          <p:nvPr/>
        </p:nvSpPr>
        <p:spPr>
          <a:xfrm>
            <a:off x="868680" y="5102352"/>
            <a:ext cx="256032" cy="310896"/>
          </a:xfrm>
          <a:prstGeom prst="rect">
            <a:avLst/>
          </a:prstGeom>
          <a:noFill/>
          <a:ln/>
        </p:spPr>
        <p:txBody>
          <a:bodyPr wrap="square" lIns="0" tIns="0" rIns="0" bIns="0" rtlCol="0" anchor="ctr"/>
          <a:lstStyle/>
          <a:p>
            <a:pPr algn="r" indent="0" marL="0">
              <a:buNone/>
            </a:pPr>
            <a:r>
              <a:rPr lang="en-US" sz="875" dirty="0">
                <a:solidFill>
                  <a:srgbClr val="8B8F93"/>
                </a:solidFill>
                <a:latin typeface="JetBrains Mono" pitchFamily="34" charset="0"/>
                <a:ea typeface="JetBrains Mono" pitchFamily="34" charset="-122"/>
                <a:cs typeface="JetBrains Mono" pitchFamily="34" charset="-120"/>
              </a:rPr>
              <a:t>13</a:t>
            </a:r>
            <a:endParaRPr lang="en-US" sz="875" dirty="0"/>
          </a:p>
        </p:txBody>
      </p:sp>
      <p:sp>
        <p:nvSpPr>
          <p:cNvPr id="45" name="Text 41"/>
          <p:cNvSpPr txBox="1"/>
          <p:nvPr/>
        </p:nvSpPr>
        <p:spPr>
          <a:xfrm>
            <a:off x="1335024" y="5102352"/>
            <a:ext cx="5413248" cy="310896"/>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website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tomerwave.com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3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החופשה שלנו</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8240573" y="2148840"/>
            <a:ext cx="3192170" cy="320040"/>
          </a:xfrm>
          <a:prstGeom prst="rect">
            <a:avLst/>
          </a:prstGeom>
          <a:noFill/>
          <a:ln/>
        </p:spPr>
        <p:txBody>
          <a:bodyPr wrap="square" lIns="0" tIns="0" rIns="0" bIns="0" rtlCol="0" anchor="t"/>
          <a:lstStyle/>
          <a:p>
            <a:pPr rtl="1" algn="r" indent="0" marL="0">
              <a:buNone/>
            </a:pPr>
            <a:r>
              <a:rPr lang="he-IL" altLang="en-US" sz="1500" dirty="0">
                <a:solidFill>
                  <a:srgbClr val="5F7368"/>
                </a:solidFill>
                <a:latin typeface="Instrument Sans" pitchFamily="34" charset="0"/>
                <a:ea typeface="Instrument Sans" pitchFamily="34" charset="-122"/>
                <a:cs typeface="Assistant" pitchFamily="34" charset="-120"/>
              </a:rPr>
              <a:t>משך</a:t>
            </a:r>
            <a:endParaRPr lang="he-IL" sz="1500" dirty="0"/>
          </a:p>
        </p:txBody>
      </p:sp>
      <p:sp>
        <p:nvSpPr>
          <p:cNvPr id="9" name="Text 5"/>
          <p:cNvSpPr txBox="1"/>
          <p:nvPr/>
        </p:nvSpPr>
        <p:spPr>
          <a:xfrm>
            <a:off x="8240573" y="2606040"/>
            <a:ext cx="3192170" cy="1005840"/>
          </a:xfrm>
          <a:prstGeom prst="rect">
            <a:avLst/>
          </a:prstGeom>
          <a:noFill/>
          <a:ln/>
        </p:spPr>
        <p:txBody>
          <a:bodyPr wrap="square" lIns="0" tIns="0" rIns="0" bIns="0" rtlCol="0" anchor="ctr"/>
          <a:lstStyle/>
          <a:p>
            <a:pPr rtl="1" algn="r" indent="0" marL="0">
              <a:buNone/>
            </a:pPr>
            <a:r>
              <a:rPr lang="he-IL" altLang="en-US" sz="6000" dirty="0">
                <a:solidFill>
                  <a:srgbClr val="2B3138"/>
                </a:solidFill>
                <a:latin typeface="Fraunces" pitchFamily="34" charset="0"/>
                <a:ea typeface="Fraunces" pitchFamily="34" charset="-122"/>
                <a:cs typeface="Frank Ruhl Libre" pitchFamily="34" charset="-120"/>
              </a:rPr>
              <a:t>3 לילות</a:t>
            </a:r>
            <a:endParaRPr lang="he-IL" sz="6000" dirty="0"/>
          </a:p>
        </p:txBody>
      </p:sp>
      <p:sp>
        <p:nvSpPr>
          <p:cNvPr id="10" name="Text 6"/>
          <p:cNvSpPr txBox="1"/>
          <p:nvPr/>
        </p:nvSpPr>
        <p:spPr>
          <a:xfrm>
            <a:off x="8240573" y="3749040"/>
            <a:ext cx="3192170" cy="365760"/>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אותם תאריכים בכל המלונות</a:t>
            </a:r>
            <a:endParaRPr lang="he-IL" sz="1600" dirty="0"/>
          </a:p>
        </p:txBody>
      </p:sp>
      <p:sp>
        <p:nvSpPr>
          <p:cNvPr id="11" name="Shape 7"/>
          <p:cNvSpPr/>
          <p:nvPr/>
        </p:nvSpPr>
        <p:spPr>
          <a:xfrm>
            <a:off x="7874813" y="2148840"/>
            <a:ext cx="0" cy="2103120"/>
          </a:xfrm>
          <a:prstGeom prst="line">
            <a:avLst/>
          </a:prstGeom>
          <a:noFill/>
          <a:ln w="9525">
            <a:solidFill>
              <a:srgbClr val="E4E0D6"/>
            </a:solidFill>
            <a:prstDash val="solid"/>
          </a:ln>
        </p:spPr>
      </p:sp>
      <p:sp>
        <p:nvSpPr>
          <p:cNvPr id="12" name="Text 8"/>
          <p:cNvSpPr txBox="1"/>
          <p:nvPr/>
        </p:nvSpPr>
        <p:spPr>
          <a:xfrm>
            <a:off x="4682642" y="2148840"/>
            <a:ext cx="2826410" cy="320040"/>
          </a:xfrm>
          <a:prstGeom prst="rect">
            <a:avLst/>
          </a:prstGeom>
          <a:noFill/>
          <a:ln/>
        </p:spPr>
        <p:txBody>
          <a:bodyPr wrap="square" lIns="0" tIns="0" rIns="0" bIns="0" rtlCol="0" anchor="t"/>
          <a:lstStyle/>
          <a:p>
            <a:pPr rtl="1" algn="r" indent="0" marL="0">
              <a:buNone/>
            </a:pPr>
            <a:r>
              <a:rPr lang="he-IL" altLang="en-US" sz="1500" dirty="0">
                <a:solidFill>
                  <a:srgbClr val="5F7368"/>
                </a:solidFill>
                <a:latin typeface="Instrument Sans" pitchFamily="34" charset="0"/>
                <a:ea typeface="Instrument Sans" pitchFamily="34" charset="-122"/>
                <a:cs typeface="Assistant" pitchFamily="34" charset="-120"/>
              </a:rPr>
              <a:t>תקציב</a:t>
            </a:r>
            <a:endParaRPr lang="he-IL" sz="1500" dirty="0"/>
          </a:p>
        </p:txBody>
      </p:sp>
      <p:sp>
        <p:nvSpPr>
          <p:cNvPr id="13" name="Text 9"/>
          <p:cNvSpPr txBox="1"/>
          <p:nvPr/>
        </p:nvSpPr>
        <p:spPr>
          <a:xfrm>
            <a:off x="4682642" y="2606040"/>
            <a:ext cx="2826410" cy="1005840"/>
          </a:xfrm>
          <a:prstGeom prst="rect">
            <a:avLst/>
          </a:prstGeom>
          <a:noFill/>
          <a:ln/>
        </p:spPr>
        <p:txBody>
          <a:bodyPr wrap="square" lIns="0" tIns="0" rIns="0" bIns="0" rtlCol="0" anchor="ctr"/>
          <a:lstStyle/>
          <a:p>
            <a:pPr rtl="1" algn="r" indent="0" marL="0">
              <a:buNone/>
            </a:pPr>
            <a:r>
              <a:rPr lang="he-IL" altLang="en-US" sz="6000" dirty="0">
                <a:solidFill>
                  <a:srgbClr val="2B3138"/>
                </a:solidFill>
                <a:latin typeface="Fraunces" pitchFamily="34" charset="0"/>
                <a:ea typeface="Fraunces" pitchFamily="34" charset="-122"/>
                <a:cs typeface="Frank Ruhl Libre" pitchFamily="34" charset="-120"/>
              </a:rPr>
              <a:t>€600</a:t>
            </a:r>
            <a:endParaRPr lang="he-IL" sz="6000" dirty="0"/>
          </a:p>
        </p:txBody>
      </p:sp>
      <p:sp>
        <p:nvSpPr>
          <p:cNvPr id="14" name="Text 10"/>
          <p:cNvSpPr txBox="1"/>
          <p:nvPr/>
        </p:nvSpPr>
        <p:spPr>
          <a:xfrm>
            <a:off x="4682642" y="3749040"/>
            <a:ext cx="2826410" cy="365760"/>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לכל השהייה</a:t>
            </a:r>
            <a:endParaRPr lang="he-IL" sz="1600" dirty="0"/>
          </a:p>
        </p:txBody>
      </p:sp>
      <p:sp>
        <p:nvSpPr>
          <p:cNvPr id="15" name="Shape 11"/>
          <p:cNvSpPr/>
          <p:nvPr/>
        </p:nvSpPr>
        <p:spPr>
          <a:xfrm>
            <a:off x="4316882" y="2148840"/>
            <a:ext cx="0" cy="2103120"/>
          </a:xfrm>
          <a:prstGeom prst="line">
            <a:avLst/>
          </a:prstGeom>
          <a:noFill/>
          <a:ln w="9525">
            <a:solidFill>
              <a:srgbClr val="E4E0D6"/>
            </a:solidFill>
            <a:prstDash val="solid"/>
          </a:ln>
        </p:spPr>
      </p:sp>
      <p:sp>
        <p:nvSpPr>
          <p:cNvPr id="16" name="Text 12"/>
          <p:cNvSpPr txBox="1"/>
          <p:nvPr/>
        </p:nvSpPr>
        <p:spPr>
          <a:xfrm>
            <a:off x="1124712" y="2148840"/>
            <a:ext cx="2826410" cy="320040"/>
          </a:xfrm>
          <a:prstGeom prst="rect">
            <a:avLst/>
          </a:prstGeom>
          <a:noFill/>
          <a:ln/>
        </p:spPr>
        <p:txBody>
          <a:bodyPr wrap="square" lIns="0" tIns="0" rIns="0" bIns="0" rtlCol="0" anchor="t"/>
          <a:lstStyle/>
          <a:p>
            <a:pPr rtl="1" algn="r" indent="0" marL="0">
              <a:buNone/>
            </a:pPr>
            <a:r>
              <a:rPr lang="he-IL" altLang="en-US" sz="1500" dirty="0">
                <a:solidFill>
                  <a:srgbClr val="5F7368"/>
                </a:solidFill>
                <a:latin typeface="Instrument Sans" pitchFamily="34" charset="0"/>
                <a:ea typeface="Instrument Sans" pitchFamily="34" charset="-122"/>
                <a:cs typeface="Assistant" pitchFamily="34" charset="-120"/>
              </a:rPr>
              <a:t>תנאי חובה</a:t>
            </a:r>
            <a:endParaRPr lang="he-IL" sz="1500" dirty="0"/>
          </a:p>
        </p:txBody>
      </p:sp>
      <p:sp>
        <p:nvSpPr>
          <p:cNvPr id="17" name="Text 13"/>
          <p:cNvSpPr txBox="1"/>
          <p:nvPr/>
        </p:nvSpPr>
        <p:spPr>
          <a:xfrm>
            <a:off x="1124712" y="2606040"/>
            <a:ext cx="2826410" cy="1005840"/>
          </a:xfrm>
          <a:prstGeom prst="rect">
            <a:avLst/>
          </a:prstGeom>
          <a:noFill/>
          <a:ln/>
        </p:spPr>
        <p:txBody>
          <a:bodyPr wrap="square" lIns="0" tIns="0" rIns="0" bIns="0" rtlCol="0" anchor="ctr"/>
          <a:lstStyle/>
          <a:p>
            <a:pPr rtl="1" algn="r" indent="0" marL="0">
              <a:buNone/>
            </a:pPr>
            <a:r>
              <a:rPr lang="he-IL" altLang="en-US" sz="6000" dirty="0">
                <a:solidFill>
                  <a:srgbClr val="2B3138"/>
                </a:solidFill>
                <a:latin typeface="Fraunces" pitchFamily="34" charset="0"/>
                <a:ea typeface="Fraunces" pitchFamily="34" charset="-122"/>
                <a:cs typeface="Frank Ruhl Libre" pitchFamily="34" charset="-120"/>
              </a:rPr>
              <a:t>נגישות</a:t>
            </a:r>
            <a:endParaRPr lang="he-IL" sz="6000" dirty="0"/>
          </a:p>
        </p:txBody>
      </p:sp>
      <p:sp>
        <p:nvSpPr>
          <p:cNvPr id="18" name="Text 14"/>
          <p:cNvSpPr txBox="1"/>
          <p:nvPr/>
        </p:nvSpPr>
        <p:spPr>
          <a:xfrm>
            <a:off x="1124712" y="3749040"/>
            <a:ext cx="2826410" cy="365760"/>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לא העדפה. בלי פשרות.</a:t>
            </a:r>
            <a:endParaRPr lang="he-IL" sz="1600" dirty="0"/>
          </a:p>
        </p:txBody>
      </p:sp>
      <p:sp>
        <p:nvSpPr>
          <p:cNvPr id="19" name="Shape 15"/>
          <p:cNvSpPr/>
          <p:nvPr/>
        </p:nvSpPr>
        <p:spPr>
          <a:xfrm>
            <a:off x="758952" y="4892040"/>
            <a:ext cx="10673791" cy="868680"/>
          </a:xfrm>
          <a:prstGeom prst="rect">
            <a:avLst/>
          </a:prstGeom>
          <a:solidFill>
            <a:srgbClr val="F3EDE2"/>
          </a:solidFill>
          <a:ln/>
        </p:spPr>
      </p:sp>
      <p:sp>
        <p:nvSpPr>
          <p:cNvPr id="20" name="Shape 16"/>
          <p:cNvSpPr/>
          <p:nvPr/>
        </p:nvSpPr>
        <p:spPr>
          <a:xfrm>
            <a:off x="11414455" y="4892040"/>
            <a:ext cx="0" cy="868680"/>
          </a:xfrm>
          <a:prstGeom prst="line">
            <a:avLst/>
          </a:prstGeom>
          <a:noFill/>
          <a:ln w="38100">
            <a:solidFill>
              <a:srgbClr val="8FA396"/>
            </a:solidFill>
            <a:prstDash val="solid"/>
          </a:ln>
        </p:spPr>
      </p:sp>
      <p:sp>
        <p:nvSpPr>
          <p:cNvPr id="21" name="Text 17"/>
          <p:cNvSpPr txBox="1"/>
          <p:nvPr/>
        </p:nvSpPr>
        <p:spPr>
          <a:xfrm>
            <a:off x="1078992" y="4892040"/>
            <a:ext cx="10033711" cy="868680"/>
          </a:xfrm>
          <a:prstGeom prst="rect">
            <a:avLst/>
          </a:prstGeom>
          <a:noFill/>
          <a:ln/>
        </p:spPr>
        <p:txBody>
          <a:bodyPr wrap="square" lIns="0" tIns="0" rIns="0" bIns="0" rtlCol="0" anchor="ctr"/>
          <a:lstStyle/>
          <a:p>
            <a:pPr rtl="1" algn="r" indent="0" marL="0">
              <a:buNone/>
            </a:pPr>
            <a:r>
              <a:rPr lang="he-IL" altLang="en-US" sz="2100" b="1" dirty="0">
                <a:solidFill>
                  <a:srgbClr val="5F7368"/>
                </a:solidFill>
                <a:latin typeface="Instrument Sans" pitchFamily="34" charset="0"/>
                <a:ea typeface="Instrument Sans" pitchFamily="34" charset="-122"/>
                <a:cs typeface="Assistant" pitchFamily="34" charset="-120"/>
              </a:rPr>
              <a:t>המטרה: </a:t>
            </a:r>
            <a:r>
              <a:rPr lang="he-IL" altLang="en-US" sz="2100" dirty="0">
                <a:solidFill>
                  <a:srgbClr val="2B3138"/>
                </a:solidFill>
                <a:latin typeface="Instrument Sans" pitchFamily="34" charset="0"/>
                <a:ea typeface="Instrument Sans" pitchFamily="34" charset="-122"/>
                <a:cs typeface="Assistant" pitchFamily="34" charset="-120"/>
              </a:rPr>
              <a:t>למצוא מלון מתאים ולעצור לפני התשלום.</a:t>
            </a:r>
            <a:endParaRPr lang="he-IL"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pic>
        <p:nvPicPr>
          <p:cNvPr id="3" name="Image 0" descr="/home/claude/b2/image2.jpg">    </p:cNvPr>
          <p:cNvPicPr>
            <a:picLocks noChangeAspect="1"/>
          </p:cNvPicPr>
          <p:nvPr/>
        </p:nvPicPr>
        <p:blipFill>
          <a:blip r:embed="rId1"/>
          <a:stretch>
            <a:fillRect/>
          </a:stretch>
        </p:blipFill>
        <p:spPr>
          <a:xfrm>
            <a:off x="0" y="0"/>
            <a:ext cx="12191695" cy="6858000"/>
          </a:xfrm>
          <a:prstGeom prst="rect">
            <a:avLst/>
          </a:prstGeom>
        </p:spPr>
      </p:pic>
      <p:pic>
        <p:nvPicPr>
          <p:cNvPr id="4" name="Image 1" descr="/home/claude/b2/icon.png">    </p:cNvPr>
          <p:cNvPicPr>
            <a:picLocks noChangeAspect="1"/>
          </p:cNvPicPr>
          <p:nvPr/>
        </p:nvPicPr>
        <p:blipFill>
          <a:blip r:embed="rId2"/>
          <a:stretch>
            <a:fillRect/>
          </a:stretch>
        </p:blipFill>
        <p:spPr>
          <a:xfrm>
            <a:off x="11121847" y="329184"/>
            <a:ext cx="310896" cy="310896"/>
          </a:xfrm>
          <a:prstGeom prst="rect">
            <a:avLst/>
          </a:prstGeom>
        </p:spPr>
      </p:pic>
      <p:sp>
        <p:nvSpPr>
          <p:cNvPr id="5"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6" name="Text 1"/>
          <p:cNvSpPr txBox="1"/>
          <p:nvPr/>
        </p:nvSpPr>
        <p:spPr>
          <a:xfrm>
            <a:off x="10061143" y="6336792"/>
            <a:ext cx="1371600" cy="256032"/>
          </a:xfrm>
          <a:prstGeom prst="rect">
            <a:avLst/>
          </a:prstGeom>
          <a:noFill/>
          <a:ln/>
        </p:spPr>
        <p:txBody>
          <a:bodyPr wrap="square" lIns="0" tIns="0" rIns="0" bIns="0" rtlCol="0" anchor="ctr"/>
          <a:lstStyle/>
          <a:p>
            <a:pPr algn="r" indent="0" marL="0">
              <a:buNone/>
            </a:pPr>
            <a:r>
              <a:rPr lang="en-US" sz="1000" dirty="0">
                <a:solidFill>
                  <a:srgbClr val="8B8F93"/>
                </a:solidFill>
                <a:latin typeface="Instrument Sans" pitchFamily="34" charset="0"/>
                <a:ea typeface="Instrument Sans" pitchFamily="34" charset="-122"/>
                <a:cs typeface="Assistant" pitchFamily="34" charset="-120"/>
              </a:rPr>
              <a:t>4 / 21</a:t>
            </a:r>
            <a:endParaRPr lang="en-US" sz="1000" dirty="0"/>
          </a:p>
        </p:txBody>
      </p:sp>
      <p:sp>
        <p:nvSpPr>
          <p:cNvPr id="7" name="Text 2"/>
          <p:cNvSpPr txBox="1"/>
          <p:nvPr/>
        </p:nvSpPr>
        <p:spPr>
          <a:xfrm>
            <a:off x="6583680" y="868680"/>
            <a:ext cx="4849063" cy="777240"/>
          </a:xfrm>
          <a:prstGeom prst="rect">
            <a:avLst/>
          </a:prstGeom>
          <a:noFill/>
          <a:ln/>
        </p:spPr>
        <p:txBody>
          <a:bodyPr wrap="square" lIns="0" tIns="0" rIns="0" bIns="0" rtlCol="0" anchor="ctr"/>
          <a:lstStyle/>
          <a:p>
            <a:pPr rtl="1" algn="r" indent="0" marL="0">
              <a:buNone/>
            </a:pPr>
            <a:r>
              <a:rPr lang="he-IL" altLang="en-US" sz="4000" dirty="0">
                <a:solidFill>
                  <a:srgbClr val="2B3138"/>
                </a:solidFill>
                <a:latin typeface="Fraunces" pitchFamily="34" charset="0"/>
                <a:ea typeface="Fraunces" pitchFamily="34" charset="-122"/>
                <a:cs typeface="Frank Ruhl Libre" pitchFamily="34" charset="-120"/>
              </a:rPr>
              <a:t>הדפדפן על המסך</a:t>
            </a:r>
            <a:endParaRPr lang="he-IL" sz="4000" dirty="0"/>
          </a:p>
        </p:txBody>
      </p:sp>
      <p:sp>
        <p:nvSpPr>
          <p:cNvPr id="8" name="Shape 3"/>
          <p:cNvSpPr/>
          <p:nvPr/>
        </p:nvSpPr>
        <p:spPr>
          <a:xfrm>
            <a:off x="6583680" y="1783080"/>
            <a:ext cx="4849063" cy="0"/>
          </a:xfrm>
          <a:prstGeom prst="line">
            <a:avLst/>
          </a:prstGeom>
          <a:noFill/>
          <a:ln w="9525">
            <a:solidFill>
              <a:srgbClr val="E4E0D6"/>
            </a:solidFill>
            <a:prstDash val="solid"/>
          </a:ln>
        </p:spPr>
      </p:sp>
      <p:sp>
        <p:nvSpPr>
          <p:cNvPr id="9" name="Text 4"/>
          <p:cNvSpPr txBox="1"/>
          <p:nvPr/>
        </p:nvSpPr>
        <p:spPr>
          <a:xfrm>
            <a:off x="6583680" y="2011680"/>
            <a:ext cx="4849063" cy="548640"/>
          </a:xfrm>
          <a:prstGeom prst="rect">
            <a:avLst/>
          </a:prstGeom>
          <a:noFill/>
          <a:ln/>
        </p:spPr>
        <p:txBody>
          <a:bodyPr wrap="square" lIns="0" tIns="0" rIns="0" bIns="0" rtlCol="0" anchor="t"/>
          <a:lstStyle/>
          <a:p>
            <a:pPr rtl="1" algn="r" indent="0" marL="0">
              <a:buNone/>
            </a:pPr>
            <a:r>
              <a:rPr lang="he-IL" altLang="en-US" sz="3000" dirty="0">
                <a:solidFill>
                  <a:srgbClr val="5F7368"/>
                </a:solidFill>
                <a:latin typeface="Fraunces" pitchFamily="34" charset="0"/>
                <a:ea typeface="Fraunces" pitchFamily="34" charset="-122"/>
                <a:cs typeface="Frank Ruhl Libre" pitchFamily="34" charset="-120"/>
              </a:rPr>
              <a:t>זה נראה חלק מדי?</a:t>
            </a:r>
            <a:endParaRPr lang="he-IL" sz="3000" dirty="0"/>
          </a:p>
        </p:txBody>
      </p:sp>
      <p:sp>
        <p:nvSpPr>
          <p:cNvPr id="10" name="Text 5"/>
          <p:cNvSpPr txBox="1"/>
          <p:nvPr/>
        </p:nvSpPr>
        <p:spPr>
          <a:xfrm>
            <a:off x="6583680" y="2606040"/>
            <a:ext cx="4849063" cy="365760"/>
          </a:xfrm>
          <a:prstGeom prst="rect">
            <a:avLst/>
          </a:prstGeom>
          <a:noFill/>
          <a:ln/>
        </p:spPr>
        <p:txBody>
          <a:bodyPr wrap="square" lIns="0" tIns="0" rIns="0" bIns="0" rtlCol="0" anchor="t"/>
          <a:lstStyle/>
          <a:p>
            <a:pPr rtl="1" algn="r" indent="0" marL="0">
              <a:buNone/>
            </a:pPr>
            <a:r>
              <a:rPr lang="he-IL" altLang="en-US" sz="1900" dirty="0">
                <a:solidFill>
                  <a:srgbClr val="5A6067"/>
                </a:solidFill>
                <a:latin typeface="Instrument Sans" pitchFamily="34" charset="0"/>
                <a:ea typeface="Instrument Sans" pitchFamily="34" charset="-122"/>
                <a:cs typeface="Assistant" pitchFamily="34" charset="-120"/>
              </a:rPr>
              <a:t>מה הייתם בודקים לפני שהסוכן ממשיך?</a:t>
            </a:r>
            <a:endParaRPr lang="he-IL" sz="1900" dirty="0"/>
          </a:p>
        </p:txBody>
      </p:sp>
      <p:sp>
        <p:nvSpPr>
          <p:cNvPr id="11" name="Text 6"/>
          <p:cNvSpPr txBox="1"/>
          <p:nvPr/>
        </p:nvSpPr>
        <p:spPr>
          <a:xfrm>
            <a:off x="10884103" y="3383280"/>
            <a:ext cx="548640" cy="457200"/>
          </a:xfrm>
          <a:prstGeom prst="rect">
            <a:avLst/>
          </a:prstGeom>
          <a:noFill/>
          <a:ln/>
        </p:spPr>
        <p:txBody>
          <a:bodyPr wrap="square" lIns="0" tIns="0" rIns="0" bIns="0" rtlCol="0" anchor="ctr"/>
          <a:lstStyle/>
          <a:p>
            <a:pPr algn="r" indent="0" marL="0">
              <a:buNone/>
            </a:pPr>
            <a:r>
              <a:rPr lang="en-US" sz="2000" i="1" dirty="0">
                <a:solidFill>
                  <a:srgbClr val="5F7368"/>
                </a:solidFill>
                <a:latin typeface="Fraunces" pitchFamily="34" charset="0"/>
                <a:ea typeface="Fraunces" pitchFamily="34" charset="-122"/>
                <a:cs typeface="Frank Ruhl Libre" pitchFamily="34" charset="-120"/>
              </a:rPr>
              <a:t>01</a:t>
            </a:r>
            <a:endParaRPr lang="en-US" sz="2000" dirty="0"/>
          </a:p>
        </p:txBody>
      </p:sp>
      <p:sp>
        <p:nvSpPr>
          <p:cNvPr id="12" name="Text 7"/>
          <p:cNvSpPr txBox="1"/>
          <p:nvPr/>
        </p:nvSpPr>
        <p:spPr>
          <a:xfrm>
            <a:off x="6583680" y="3383280"/>
            <a:ext cx="4117543" cy="457200"/>
          </a:xfrm>
          <a:prstGeom prst="rect">
            <a:avLst/>
          </a:prstGeom>
          <a:noFill/>
          <a:ln/>
        </p:spPr>
        <p:txBody>
          <a:bodyPr wrap="square" lIns="0" tIns="0" rIns="0" bIns="0" rtlCol="0" anchor="ctr"/>
          <a:lstStyle/>
          <a:p>
            <a:pPr rtl="1" algn="r" indent="0" marL="0">
              <a:buNone/>
            </a:pPr>
            <a:r>
              <a:rPr lang="he-IL" altLang="en-US" sz="2000" dirty="0">
                <a:solidFill>
                  <a:srgbClr val="2B3138"/>
                </a:solidFill>
                <a:latin typeface="Instrument Sans" pitchFamily="34" charset="0"/>
                <a:ea typeface="Instrument Sans" pitchFamily="34" charset="-122"/>
                <a:cs typeface="Assistant" pitchFamily="34" charset="-120"/>
              </a:rPr>
              <a:t>תוצאות חיפוש</a:t>
            </a:r>
            <a:endParaRPr lang="he-IL" sz="2000" dirty="0"/>
          </a:p>
        </p:txBody>
      </p:sp>
      <p:sp>
        <p:nvSpPr>
          <p:cNvPr id="13" name="Shape 8"/>
          <p:cNvSpPr/>
          <p:nvPr/>
        </p:nvSpPr>
        <p:spPr>
          <a:xfrm>
            <a:off x="6583680" y="3922776"/>
            <a:ext cx="4849063" cy="0"/>
          </a:xfrm>
          <a:prstGeom prst="line">
            <a:avLst/>
          </a:prstGeom>
          <a:noFill/>
          <a:ln w="9525">
            <a:solidFill>
              <a:srgbClr val="E4E0D6"/>
            </a:solidFill>
            <a:prstDash val="solid"/>
          </a:ln>
        </p:spPr>
      </p:sp>
      <p:sp>
        <p:nvSpPr>
          <p:cNvPr id="14" name="Text 9"/>
          <p:cNvSpPr txBox="1"/>
          <p:nvPr/>
        </p:nvSpPr>
        <p:spPr>
          <a:xfrm>
            <a:off x="10884103" y="4005072"/>
            <a:ext cx="548640" cy="457200"/>
          </a:xfrm>
          <a:prstGeom prst="rect">
            <a:avLst/>
          </a:prstGeom>
          <a:noFill/>
          <a:ln/>
        </p:spPr>
        <p:txBody>
          <a:bodyPr wrap="square" lIns="0" tIns="0" rIns="0" bIns="0" rtlCol="0" anchor="ctr"/>
          <a:lstStyle/>
          <a:p>
            <a:pPr algn="r" indent="0" marL="0">
              <a:buNone/>
            </a:pPr>
            <a:r>
              <a:rPr lang="en-US" sz="2000" i="1" dirty="0">
                <a:solidFill>
                  <a:srgbClr val="5F7368"/>
                </a:solidFill>
                <a:latin typeface="Fraunces" pitchFamily="34" charset="0"/>
                <a:ea typeface="Fraunces" pitchFamily="34" charset="-122"/>
                <a:cs typeface="Frank Ruhl Libre" pitchFamily="34" charset="-120"/>
              </a:rPr>
              <a:t>02</a:t>
            </a:r>
            <a:endParaRPr lang="en-US" sz="2000" dirty="0"/>
          </a:p>
        </p:txBody>
      </p:sp>
      <p:sp>
        <p:nvSpPr>
          <p:cNvPr id="15" name="Text 10"/>
          <p:cNvSpPr txBox="1"/>
          <p:nvPr/>
        </p:nvSpPr>
        <p:spPr>
          <a:xfrm>
            <a:off x="6583680" y="4005072"/>
            <a:ext cx="4117543" cy="457200"/>
          </a:xfrm>
          <a:prstGeom prst="rect">
            <a:avLst/>
          </a:prstGeom>
          <a:noFill/>
          <a:ln/>
        </p:spPr>
        <p:txBody>
          <a:bodyPr wrap="square" lIns="0" tIns="0" rIns="0" bIns="0" rtlCol="0" anchor="ctr"/>
          <a:lstStyle/>
          <a:p>
            <a:pPr rtl="1" algn="r" indent="0" marL="0">
              <a:buNone/>
            </a:pPr>
            <a:r>
              <a:rPr lang="he-IL" altLang="en-US" sz="2000" dirty="0">
                <a:solidFill>
                  <a:srgbClr val="2B3138"/>
                </a:solidFill>
                <a:latin typeface="Instrument Sans" pitchFamily="34" charset="0"/>
                <a:ea typeface="Instrument Sans" pitchFamily="34" charset="-122"/>
                <a:cs typeface="Assistant" pitchFamily="34" charset="-120"/>
              </a:rPr>
              <a:t>פתיחת מלון</a:t>
            </a:r>
            <a:endParaRPr lang="he-IL" sz="2000" dirty="0"/>
          </a:p>
        </p:txBody>
      </p:sp>
      <p:sp>
        <p:nvSpPr>
          <p:cNvPr id="16" name="Shape 11"/>
          <p:cNvSpPr/>
          <p:nvPr/>
        </p:nvSpPr>
        <p:spPr>
          <a:xfrm>
            <a:off x="6583680" y="4544568"/>
            <a:ext cx="4849063" cy="0"/>
          </a:xfrm>
          <a:prstGeom prst="line">
            <a:avLst/>
          </a:prstGeom>
          <a:noFill/>
          <a:ln w="9525">
            <a:solidFill>
              <a:srgbClr val="E4E0D6"/>
            </a:solidFill>
            <a:prstDash val="solid"/>
          </a:ln>
        </p:spPr>
      </p:sp>
      <p:sp>
        <p:nvSpPr>
          <p:cNvPr id="17" name="Text 12"/>
          <p:cNvSpPr txBox="1"/>
          <p:nvPr/>
        </p:nvSpPr>
        <p:spPr>
          <a:xfrm>
            <a:off x="10884103" y="4626864"/>
            <a:ext cx="548640" cy="457200"/>
          </a:xfrm>
          <a:prstGeom prst="rect">
            <a:avLst/>
          </a:prstGeom>
          <a:noFill/>
          <a:ln/>
        </p:spPr>
        <p:txBody>
          <a:bodyPr wrap="square" lIns="0" tIns="0" rIns="0" bIns="0" rtlCol="0" anchor="ctr"/>
          <a:lstStyle/>
          <a:p>
            <a:pPr algn="r" indent="0" marL="0">
              <a:buNone/>
            </a:pPr>
            <a:r>
              <a:rPr lang="en-US" sz="2000" i="1" dirty="0">
                <a:solidFill>
                  <a:srgbClr val="5F7368"/>
                </a:solidFill>
                <a:latin typeface="Fraunces" pitchFamily="34" charset="0"/>
                <a:ea typeface="Fraunces" pitchFamily="34" charset="-122"/>
                <a:cs typeface="Frank Ruhl Libre" pitchFamily="34" charset="-120"/>
              </a:rPr>
              <a:t>03</a:t>
            </a:r>
            <a:endParaRPr lang="en-US" sz="2000" dirty="0"/>
          </a:p>
        </p:txBody>
      </p:sp>
      <p:sp>
        <p:nvSpPr>
          <p:cNvPr id="18" name="Text 13"/>
          <p:cNvSpPr txBox="1"/>
          <p:nvPr/>
        </p:nvSpPr>
        <p:spPr>
          <a:xfrm>
            <a:off x="6583680" y="4626864"/>
            <a:ext cx="4117543" cy="457200"/>
          </a:xfrm>
          <a:prstGeom prst="rect">
            <a:avLst/>
          </a:prstGeom>
          <a:noFill/>
          <a:ln/>
        </p:spPr>
        <p:txBody>
          <a:bodyPr wrap="square" lIns="0" tIns="0" rIns="0" bIns="0" rtlCol="0" anchor="ctr"/>
          <a:lstStyle/>
          <a:p>
            <a:pPr rtl="1" algn="r" indent="0" marL="0">
              <a:buNone/>
            </a:pPr>
            <a:r>
              <a:rPr lang="he-IL" altLang="en-US" sz="2000" dirty="0">
                <a:solidFill>
                  <a:srgbClr val="2B3138"/>
                </a:solidFill>
                <a:latin typeface="Instrument Sans" pitchFamily="34" charset="0"/>
                <a:ea typeface="Instrument Sans" pitchFamily="34" charset="-122"/>
                <a:cs typeface="Assistant" pitchFamily="34" charset="-120"/>
              </a:rPr>
              <a:t>בדיקת תנאים</a:t>
            </a:r>
            <a:endParaRPr lang="he-IL" sz="2000" dirty="0"/>
          </a:p>
        </p:txBody>
      </p:sp>
      <p:sp>
        <p:nvSpPr>
          <p:cNvPr id="19" name="Text 14"/>
          <p:cNvSpPr txBox="1"/>
          <p:nvPr/>
        </p:nvSpPr>
        <p:spPr>
          <a:xfrm>
            <a:off x="6583680" y="5577840"/>
            <a:ext cx="4849063" cy="274320"/>
          </a:xfrm>
          <a:prstGeom prst="rect">
            <a:avLst/>
          </a:prstGeom>
          <a:noFill/>
          <a:ln/>
        </p:spPr>
        <p:txBody>
          <a:bodyPr wrap="square" lIns="0" tIns="0" rIns="0" bIns="0" rtlCol="0" anchor="t"/>
          <a:lstStyle/>
          <a:p>
            <a:pPr rtl="1" algn="r" indent="0" marL="0">
              <a:buNone/>
            </a:pPr>
            <a:r>
              <a:rPr lang="he-IL" altLang="en-US" sz="1200" dirty="0">
                <a:solidFill>
                  <a:srgbClr val="8B8F93"/>
                </a:solidFill>
                <a:latin typeface="Instrument Sans" pitchFamily="34" charset="0"/>
                <a:ea typeface="Instrument Sans" pitchFamily="34" charset="-122"/>
                <a:cs typeface="Assistant" pitchFamily="34" charset="-120"/>
              </a:rPr>
              <a:t>המחשה מקומית, בלי קריאה למודל</a:t>
            </a:r>
            <a:endParaRPr lang="he-IL"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5 / 21</a:t>
            </a:r>
            <a:endParaRPr lang="en-US" sz="1000" dirty="0"/>
          </a:p>
        </p:txBody>
      </p:sp>
      <p:pic>
        <p:nvPicPr>
          <p:cNvPr id="6" name="Image 1" descr="/home/claude/b2/image3.jpg">    </p:cNvPr>
          <p:cNvPicPr>
            <a:picLocks noChangeAspect="1"/>
          </p:cNvPicPr>
          <p:nvPr/>
        </p:nvPicPr>
        <p:blipFill>
          <a:blip r:embed="rId2"/>
          <a:stretch>
            <a:fillRect/>
          </a:stretch>
        </p:blipFill>
        <p:spPr>
          <a:xfrm>
            <a:off x="137160" y="1417320"/>
            <a:ext cx="7589520" cy="4271375"/>
          </a:xfrm>
          <a:prstGeom prst="rect">
            <a:avLst/>
          </a:prstGeom>
        </p:spPr>
      </p:pic>
      <p:sp>
        <p:nvSpPr>
          <p:cNvPr id="7" name="Text 2"/>
          <p:cNvSpPr txBox="1"/>
          <p:nvPr/>
        </p:nvSpPr>
        <p:spPr>
          <a:xfrm>
            <a:off x="8046720" y="868680"/>
            <a:ext cx="3386023" cy="777240"/>
          </a:xfrm>
          <a:prstGeom prst="rect">
            <a:avLst/>
          </a:prstGeom>
          <a:noFill/>
          <a:ln/>
        </p:spPr>
        <p:txBody>
          <a:bodyPr wrap="square" lIns="0" tIns="0" rIns="0" bIns="0" rtlCol="0" anchor="ctr"/>
          <a:lstStyle/>
          <a:p>
            <a:pPr rtl="1" algn="r" indent="0" marL="0">
              <a:buNone/>
            </a:pPr>
            <a:r>
              <a:rPr lang="he-IL" altLang="en-US" sz="4000" dirty="0">
                <a:solidFill>
                  <a:srgbClr val="2B3138"/>
                </a:solidFill>
                <a:latin typeface="Fraunces" pitchFamily="34" charset="0"/>
                <a:ea typeface="Fraunces" pitchFamily="34" charset="-122"/>
                <a:cs typeface="Frank Ruhl Libre" pitchFamily="34" charset="-120"/>
              </a:rPr>
              <a:t>מצאתי מלון!</a:t>
            </a:r>
            <a:endParaRPr lang="he-IL" sz="4000" dirty="0"/>
          </a:p>
        </p:txBody>
      </p:sp>
      <p:sp>
        <p:nvSpPr>
          <p:cNvPr id="8" name="Shape 3"/>
          <p:cNvSpPr/>
          <p:nvPr/>
        </p:nvSpPr>
        <p:spPr>
          <a:xfrm>
            <a:off x="8046720" y="1783080"/>
            <a:ext cx="3386023" cy="0"/>
          </a:xfrm>
          <a:prstGeom prst="line">
            <a:avLst/>
          </a:prstGeom>
          <a:noFill/>
          <a:ln w="9525">
            <a:solidFill>
              <a:srgbClr val="E4E0D6"/>
            </a:solidFill>
            <a:prstDash val="solid"/>
          </a:ln>
        </p:spPr>
      </p:sp>
      <p:sp>
        <p:nvSpPr>
          <p:cNvPr id="9" name="Text 4"/>
          <p:cNvSpPr txBox="1"/>
          <p:nvPr/>
        </p:nvSpPr>
        <p:spPr>
          <a:xfrm>
            <a:off x="8046720" y="1965960"/>
            <a:ext cx="3386023" cy="365760"/>
          </a:xfrm>
          <a:prstGeom prst="rect">
            <a:avLst/>
          </a:prstGeom>
          <a:noFill/>
          <a:ln/>
        </p:spPr>
        <p:txBody>
          <a:bodyPr wrap="square" lIns="0" tIns="0" rIns="0" bIns="0" rtlCol="0" anchor="t"/>
          <a:lstStyle/>
          <a:p>
            <a:pPr rtl="1" algn="r" indent="0" marL="0">
              <a:buNone/>
            </a:pPr>
            <a:r>
              <a:rPr lang="he-IL" altLang="en-US" sz="1800" dirty="0">
                <a:solidFill>
                  <a:srgbClr val="5A6067"/>
                </a:solidFill>
                <a:latin typeface="Instrument Sans" pitchFamily="34" charset="0"/>
                <a:ea typeface="Instrument Sans" pitchFamily="34" charset="-122"/>
                <a:cs typeface="Assistant" pitchFamily="34" charset="-120"/>
              </a:rPr>
              <a:t>המלון: ״היה נעים להכיר״</a:t>
            </a:r>
            <a:endParaRPr lang="he-IL" sz="1800" dirty="0"/>
          </a:p>
        </p:txBody>
      </p:sp>
      <p:sp>
        <p:nvSpPr>
          <p:cNvPr id="10" name="Text 5"/>
          <p:cNvSpPr txBox="1"/>
          <p:nvPr/>
        </p:nvSpPr>
        <p:spPr>
          <a:xfrm>
            <a:off x="8046720" y="2743200"/>
            <a:ext cx="3386023" cy="320040"/>
          </a:xfrm>
          <a:prstGeom prst="rect">
            <a:avLst/>
          </a:prstGeom>
          <a:noFill/>
          <a:ln/>
        </p:spPr>
        <p:txBody>
          <a:bodyPr wrap="square" lIns="0" tIns="0" rIns="0" bIns="0" rtlCol="0" anchor="t"/>
          <a:lstStyle/>
          <a:p>
            <a:pPr rtl="1" algn="r" indent="0" marL="0">
              <a:buNone/>
            </a:pPr>
            <a:r>
              <a:rPr lang="he-IL" altLang="en-US" sz="1700" dirty="0">
                <a:solidFill>
                  <a:srgbClr val="5A6067"/>
                </a:solidFill>
                <a:latin typeface="Instrument Sans" pitchFamily="34" charset="0"/>
                <a:ea typeface="Instrument Sans" pitchFamily="34" charset="-122"/>
                <a:cs typeface="Assistant" pitchFamily="34" charset="-120"/>
              </a:rPr>
              <a:t>ועכשיו אתם מחליטים מה ישתבש:</a:t>
            </a:r>
            <a:endParaRPr lang="he-IL" sz="1700" dirty="0"/>
          </a:p>
        </p:txBody>
      </p:sp>
      <p:sp>
        <p:nvSpPr>
          <p:cNvPr id="11" name="Shape 6"/>
          <p:cNvSpPr/>
          <p:nvPr/>
        </p:nvSpPr>
        <p:spPr>
          <a:xfrm>
            <a:off x="8046720" y="3200400"/>
            <a:ext cx="3386023" cy="0"/>
          </a:xfrm>
          <a:prstGeom prst="line">
            <a:avLst/>
          </a:prstGeom>
          <a:noFill/>
          <a:ln w="9525">
            <a:solidFill>
              <a:srgbClr val="E4E0D6"/>
            </a:solidFill>
            <a:prstDash val="solid"/>
          </a:ln>
        </p:spPr>
      </p:sp>
      <p:sp>
        <p:nvSpPr>
          <p:cNvPr id="12" name="Text 7"/>
          <p:cNvSpPr txBox="1"/>
          <p:nvPr/>
        </p:nvSpPr>
        <p:spPr>
          <a:xfrm>
            <a:off x="10884103" y="3337560"/>
            <a:ext cx="548640" cy="640080"/>
          </a:xfrm>
          <a:prstGeom prst="rect">
            <a:avLst/>
          </a:prstGeom>
          <a:noFill/>
          <a:ln/>
        </p:spPr>
        <p:txBody>
          <a:bodyPr wrap="square" lIns="0" tIns="0" rIns="0" bIns="0" rtlCol="0" anchor="ctr"/>
          <a:lstStyle/>
          <a:p>
            <a:pPr algn="r" indent="0" marL="0">
              <a:buNone/>
            </a:pPr>
            <a:r>
              <a:rPr lang="en-US" sz="3600" dirty="0">
                <a:solidFill>
                  <a:srgbClr val="5F7368"/>
                </a:solidFill>
                <a:latin typeface="Fraunces" pitchFamily="34" charset="0"/>
                <a:ea typeface="Fraunces" pitchFamily="34" charset="-122"/>
                <a:cs typeface="Frank Ruhl Libre" pitchFamily="34" charset="-120"/>
              </a:rPr>
              <a:t>A</a:t>
            </a:r>
            <a:endParaRPr lang="en-US" sz="3600" dirty="0"/>
          </a:p>
        </p:txBody>
      </p:sp>
      <p:sp>
        <p:nvSpPr>
          <p:cNvPr id="13" name="Text 8"/>
          <p:cNvSpPr txBox="1"/>
          <p:nvPr/>
        </p:nvSpPr>
        <p:spPr>
          <a:xfrm>
            <a:off x="8046720" y="3337560"/>
            <a:ext cx="2654503" cy="640080"/>
          </a:xfrm>
          <a:prstGeom prst="rect">
            <a:avLst/>
          </a:prstGeom>
          <a:noFill/>
          <a:ln/>
        </p:spPr>
        <p:txBody>
          <a:bodyPr wrap="square" lIns="0" tIns="0" rIns="0" bIns="0" rtlCol="0" anchor="ctr"/>
          <a:lstStyle/>
          <a:p>
            <a:pPr rtl="1" algn="r" indent="0" marL="0">
              <a:buNone/>
            </a:pPr>
            <a:r>
              <a:rPr lang="he-IL" altLang="en-US" sz="2100" dirty="0">
                <a:solidFill>
                  <a:srgbClr val="2B3138"/>
                </a:solidFill>
                <a:latin typeface="Instrument Sans" pitchFamily="34" charset="0"/>
                <a:ea typeface="Instrument Sans" pitchFamily="34" charset="-122"/>
                <a:cs typeface="Assistant" pitchFamily="34" charset="-120"/>
              </a:rPr>
              <a:t>המלון התמלא</a:t>
            </a:r>
            <a:endParaRPr lang="he-IL" sz="2100" dirty="0"/>
          </a:p>
        </p:txBody>
      </p:sp>
      <p:sp>
        <p:nvSpPr>
          <p:cNvPr id="14" name="Shape 9"/>
          <p:cNvSpPr/>
          <p:nvPr/>
        </p:nvSpPr>
        <p:spPr>
          <a:xfrm>
            <a:off x="8046720" y="4114800"/>
            <a:ext cx="3386023" cy="0"/>
          </a:xfrm>
          <a:prstGeom prst="line">
            <a:avLst/>
          </a:prstGeom>
          <a:noFill/>
          <a:ln w="9525">
            <a:solidFill>
              <a:srgbClr val="E4E0D6"/>
            </a:solidFill>
            <a:prstDash val="solid"/>
          </a:ln>
        </p:spPr>
      </p:sp>
      <p:sp>
        <p:nvSpPr>
          <p:cNvPr id="15" name="Text 10"/>
          <p:cNvSpPr txBox="1"/>
          <p:nvPr/>
        </p:nvSpPr>
        <p:spPr>
          <a:xfrm>
            <a:off x="10884103" y="4251960"/>
            <a:ext cx="548640" cy="640080"/>
          </a:xfrm>
          <a:prstGeom prst="rect">
            <a:avLst/>
          </a:prstGeom>
          <a:noFill/>
          <a:ln/>
        </p:spPr>
        <p:txBody>
          <a:bodyPr wrap="square" lIns="0" tIns="0" rIns="0" bIns="0" rtlCol="0" anchor="ctr"/>
          <a:lstStyle/>
          <a:p>
            <a:pPr algn="r" indent="0" marL="0">
              <a:buNone/>
            </a:pPr>
            <a:r>
              <a:rPr lang="en-US" sz="3600" dirty="0">
                <a:solidFill>
                  <a:srgbClr val="5F7368"/>
                </a:solidFill>
                <a:latin typeface="Fraunces" pitchFamily="34" charset="0"/>
                <a:ea typeface="Fraunces" pitchFamily="34" charset="-122"/>
                <a:cs typeface="Frank Ruhl Libre" pitchFamily="34" charset="-120"/>
              </a:rPr>
              <a:t>B</a:t>
            </a:r>
            <a:endParaRPr lang="en-US" sz="3600" dirty="0"/>
          </a:p>
        </p:txBody>
      </p:sp>
      <p:sp>
        <p:nvSpPr>
          <p:cNvPr id="16" name="Text 11"/>
          <p:cNvSpPr txBox="1"/>
          <p:nvPr/>
        </p:nvSpPr>
        <p:spPr>
          <a:xfrm>
            <a:off x="8046720" y="4251960"/>
            <a:ext cx="2654503" cy="640080"/>
          </a:xfrm>
          <a:prstGeom prst="rect">
            <a:avLst/>
          </a:prstGeom>
          <a:noFill/>
          <a:ln/>
        </p:spPr>
        <p:txBody>
          <a:bodyPr wrap="square" lIns="0" tIns="0" rIns="0" bIns="0" rtlCol="0" anchor="ctr"/>
          <a:lstStyle/>
          <a:p>
            <a:pPr rtl="1" algn="r" indent="0" marL="0">
              <a:buNone/>
            </a:pPr>
            <a:r>
              <a:rPr lang="he-IL" altLang="en-US" sz="2100" dirty="0">
                <a:solidFill>
                  <a:srgbClr val="2B3138"/>
                </a:solidFill>
                <a:latin typeface="Instrument Sans" pitchFamily="34" charset="0"/>
                <a:ea typeface="Instrument Sans" pitchFamily="34" charset="-122"/>
                <a:cs typeface="Assistant" pitchFamily="34" charset="-120"/>
              </a:rPr>
              <a:t>התקציב ירד ל-€500</a:t>
            </a:r>
            <a:endParaRPr lang="he-IL" sz="2100" dirty="0"/>
          </a:p>
        </p:txBody>
      </p:sp>
      <p:sp>
        <p:nvSpPr>
          <p:cNvPr id="17" name="Shape 12"/>
          <p:cNvSpPr/>
          <p:nvPr/>
        </p:nvSpPr>
        <p:spPr>
          <a:xfrm>
            <a:off x="8046720" y="5029200"/>
            <a:ext cx="3386023" cy="0"/>
          </a:xfrm>
          <a:prstGeom prst="line">
            <a:avLst/>
          </a:prstGeom>
          <a:noFill/>
          <a:ln w="9525">
            <a:solidFill>
              <a:srgbClr val="E4E0D6"/>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6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מה הופך את זה לסוכן?</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758952" y="1847088"/>
            <a:ext cx="10673791" cy="365760"/>
          </a:xfrm>
          <a:prstGeom prst="rect">
            <a:avLst/>
          </a:prstGeom>
          <a:noFill/>
          <a:ln/>
        </p:spPr>
        <p:txBody>
          <a:bodyPr wrap="square" lIns="0" tIns="0" rIns="0" bIns="0" rtlCol="0" anchor="t"/>
          <a:lstStyle/>
          <a:p>
            <a:pPr rtl="1" algn="r" indent="0" marL="0">
              <a:buNone/>
            </a:pPr>
            <a:r>
              <a:rPr lang="he-IL" altLang="en-US" sz="1900" dirty="0">
                <a:solidFill>
                  <a:srgbClr val="5A6067"/>
                </a:solidFill>
                <a:latin typeface="Instrument Sans" pitchFamily="34" charset="0"/>
                <a:ea typeface="Instrument Sans" pitchFamily="34" charset="-122"/>
                <a:cs typeface="Assistant" pitchFamily="34" charset="-120"/>
              </a:rPr>
              <a:t>הסוכן בוחר את הצעד הבא לפי מה שקרה</a:t>
            </a:r>
            <a:endParaRPr lang="he-IL" sz="1900" dirty="0"/>
          </a:p>
        </p:txBody>
      </p:sp>
      <p:sp>
        <p:nvSpPr>
          <p:cNvPr id="9" name="Shape 5"/>
          <p:cNvSpPr/>
          <p:nvPr/>
        </p:nvSpPr>
        <p:spPr>
          <a:xfrm>
            <a:off x="4142232" y="2514600"/>
            <a:ext cx="2011680" cy="960120"/>
          </a:xfrm>
          <a:prstGeom prst="rect">
            <a:avLst/>
          </a:prstGeom>
          <a:solidFill>
            <a:srgbClr val="FAF6EF"/>
          </a:solidFill>
          <a:ln w="9525">
            <a:solidFill>
              <a:srgbClr val="D8D2C6"/>
            </a:solidFill>
            <a:prstDash val="solid"/>
          </a:ln>
        </p:spPr>
      </p:sp>
      <p:sp>
        <p:nvSpPr>
          <p:cNvPr id="10" name="Text 6"/>
          <p:cNvSpPr txBox="1"/>
          <p:nvPr/>
        </p:nvSpPr>
        <p:spPr>
          <a:xfrm>
            <a:off x="4370832" y="2651760"/>
            <a:ext cx="1554480" cy="411480"/>
          </a:xfrm>
          <a:prstGeom prst="rect">
            <a:avLst/>
          </a:prstGeom>
          <a:noFill/>
          <a:ln/>
        </p:spPr>
        <p:txBody>
          <a:bodyPr wrap="square" lIns="0" tIns="0" rIns="0" bIns="0" rtlCol="0" anchor="t"/>
          <a:lstStyle/>
          <a:p>
            <a:pPr rtl="1" algn="r" indent="0" marL="0">
              <a:buNone/>
            </a:pPr>
            <a:r>
              <a:rPr lang="he-IL" altLang="en-US" sz="2400" dirty="0">
                <a:solidFill>
                  <a:srgbClr val="2B3138"/>
                </a:solidFill>
                <a:latin typeface="Fraunces" pitchFamily="34" charset="0"/>
                <a:ea typeface="Fraunces" pitchFamily="34" charset="-122"/>
                <a:cs typeface="Frank Ruhl Libre" pitchFamily="34" charset="-120"/>
              </a:rPr>
              <a:t>רואה</a:t>
            </a:r>
            <a:endParaRPr lang="he-IL" sz="2400" dirty="0"/>
          </a:p>
        </p:txBody>
      </p:sp>
      <p:sp>
        <p:nvSpPr>
          <p:cNvPr id="11" name="Text 7"/>
          <p:cNvSpPr txBox="1"/>
          <p:nvPr/>
        </p:nvSpPr>
        <p:spPr>
          <a:xfrm>
            <a:off x="4370832" y="3081528"/>
            <a:ext cx="1554480" cy="274320"/>
          </a:xfrm>
          <a:prstGeom prst="rect">
            <a:avLst/>
          </a:prstGeom>
          <a:noFill/>
          <a:ln/>
        </p:spPr>
        <p:txBody>
          <a:bodyPr wrap="square" lIns="0" tIns="0" rIns="0" bIns="0" rtlCol="0" anchor="t"/>
          <a:lstStyle/>
          <a:p>
            <a:pPr rtl="1" algn="r" indent="0" marL="0">
              <a:buNone/>
            </a:pPr>
            <a:r>
              <a:rPr lang="he-IL" altLang="en-US" sz="1300" dirty="0">
                <a:solidFill>
                  <a:srgbClr val="5A6067"/>
                </a:solidFill>
                <a:latin typeface="Instrument Sans" pitchFamily="34" charset="0"/>
                <a:ea typeface="Instrument Sans" pitchFamily="34" charset="-122"/>
                <a:cs typeface="Assistant" pitchFamily="34" charset="-120"/>
              </a:rPr>
              <a:t>מה השתנה בדף?</a:t>
            </a:r>
            <a:endParaRPr lang="he-IL" sz="1300" dirty="0"/>
          </a:p>
        </p:txBody>
      </p:sp>
      <p:sp>
        <p:nvSpPr>
          <p:cNvPr id="12" name="Shape 8"/>
          <p:cNvSpPr/>
          <p:nvPr/>
        </p:nvSpPr>
        <p:spPr>
          <a:xfrm>
            <a:off x="758952" y="2514600"/>
            <a:ext cx="2011680" cy="960120"/>
          </a:xfrm>
          <a:prstGeom prst="rect">
            <a:avLst/>
          </a:prstGeom>
          <a:solidFill>
            <a:srgbClr val="F3EDE2"/>
          </a:solidFill>
          <a:ln w="15875">
            <a:solidFill>
              <a:srgbClr val="5F7368"/>
            </a:solidFill>
            <a:prstDash val="solid"/>
          </a:ln>
        </p:spPr>
      </p:sp>
      <p:sp>
        <p:nvSpPr>
          <p:cNvPr id="13" name="Text 9"/>
          <p:cNvSpPr txBox="1"/>
          <p:nvPr/>
        </p:nvSpPr>
        <p:spPr>
          <a:xfrm>
            <a:off x="987552" y="2651760"/>
            <a:ext cx="1554480" cy="411480"/>
          </a:xfrm>
          <a:prstGeom prst="rect">
            <a:avLst/>
          </a:prstGeom>
          <a:noFill/>
          <a:ln/>
        </p:spPr>
        <p:txBody>
          <a:bodyPr wrap="square" lIns="0" tIns="0" rIns="0" bIns="0" rtlCol="0" anchor="t"/>
          <a:lstStyle/>
          <a:p>
            <a:pPr rtl="1" algn="r" indent="0" marL="0">
              <a:buNone/>
            </a:pPr>
            <a:r>
              <a:rPr lang="he-IL" altLang="en-US" sz="2400" dirty="0">
                <a:solidFill>
                  <a:srgbClr val="5F7368"/>
                </a:solidFill>
                <a:latin typeface="Fraunces" pitchFamily="34" charset="0"/>
                <a:ea typeface="Fraunces" pitchFamily="34" charset="-122"/>
                <a:cs typeface="Frank Ruhl Libre" pitchFamily="34" charset="-120"/>
              </a:rPr>
              <a:t>בוחר</a:t>
            </a:r>
            <a:endParaRPr lang="he-IL" sz="2400" dirty="0"/>
          </a:p>
        </p:txBody>
      </p:sp>
      <p:sp>
        <p:nvSpPr>
          <p:cNvPr id="14" name="Text 10"/>
          <p:cNvSpPr txBox="1"/>
          <p:nvPr/>
        </p:nvSpPr>
        <p:spPr>
          <a:xfrm>
            <a:off x="987552" y="3081528"/>
            <a:ext cx="1554480" cy="274320"/>
          </a:xfrm>
          <a:prstGeom prst="rect">
            <a:avLst/>
          </a:prstGeom>
          <a:noFill/>
          <a:ln/>
        </p:spPr>
        <p:txBody>
          <a:bodyPr wrap="square" lIns="0" tIns="0" rIns="0" bIns="0" rtlCol="0" anchor="t"/>
          <a:lstStyle/>
          <a:p>
            <a:pPr rtl="1" algn="r" indent="0" marL="0">
              <a:buNone/>
            </a:pPr>
            <a:r>
              <a:rPr lang="he-IL" altLang="en-US" sz="1300" dirty="0">
                <a:solidFill>
                  <a:srgbClr val="5A6067"/>
                </a:solidFill>
                <a:latin typeface="Instrument Sans" pitchFamily="34" charset="0"/>
                <a:ea typeface="Instrument Sans" pitchFamily="34" charset="-122"/>
                <a:cs typeface="Assistant" pitchFamily="34" charset="-120"/>
              </a:rPr>
              <a:t>מה יקדם אותנו?</a:t>
            </a:r>
            <a:endParaRPr lang="he-IL" sz="1300" dirty="0"/>
          </a:p>
        </p:txBody>
      </p:sp>
      <p:sp>
        <p:nvSpPr>
          <p:cNvPr id="15" name="Shape 11"/>
          <p:cNvSpPr/>
          <p:nvPr/>
        </p:nvSpPr>
        <p:spPr>
          <a:xfrm>
            <a:off x="758952" y="4206240"/>
            <a:ext cx="2011680" cy="960120"/>
          </a:xfrm>
          <a:prstGeom prst="rect">
            <a:avLst/>
          </a:prstGeom>
          <a:solidFill>
            <a:srgbClr val="FAF6EF"/>
          </a:solidFill>
          <a:ln w="9525">
            <a:solidFill>
              <a:srgbClr val="D8D2C6"/>
            </a:solidFill>
            <a:prstDash val="solid"/>
          </a:ln>
        </p:spPr>
      </p:sp>
      <p:sp>
        <p:nvSpPr>
          <p:cNvPr id="16" name="Text 12"/>
          <p:cNvSpPr txBox="1"/>
          <p:nvPr/>
        </p:nvSpPr>
        <p:spPr>
          <a:xfrm>
            <a:off x="987552" y="4343400"/>
            <a:ext cx="1554480" cy="411480"/>
          </a:xfrm>
          <a:prstGeom prst="rect">
            <a:avLst/>
          </a:prstGeom>
          <a:noFill/>
          <a:ln/>
        </p:spPr>
        <p:txBody>
          <a:bodyPr wrap="square" lIns="0" tIns="0" rIns="0" bIns="0" rtlCol="0" anchor="t"/>
          <a:lstStyle/>
          <a:p>
            <a:pPr rtl="1" algn="r" indent="0" marL="0">
              <a:buNone/>
            </a:pPr>
            <a:r>
              <a:rPr lang="he-IL" altLang="en-US" sz="2400" dirty="0">
                <a:solidFill>
                  <a:srgbClr val="2B3138"/>
                </a:solidFill>
                <a:latin typeface="Fraunces" pitchFamily="34" charset="0"/>
                <a:ea typeface="Fraunces" pitchFamily="34" charset="-122"/>
                <a:cs typeface="Frank Ruhl Libre" pitchFamily="34" charset="-120"/>
              </a:rPr>
              <a:t>פועל</a:t>
            </a:r>
            <a:endParaRPr lang="he-IL" sz="2400" dirty="0"/>
          </a:p>
        </p:txBody>
      </p:sp>
      <p:sp>
        <p:nvSpPr>
          <p:cNvPr id="17" name="Text 13"/>
          <p:cNvSpPr txBox="1"/>
          <p:nvPr/>
        </p:nvSpPr>
        <p:spPr>
          <a:xfrm>
            <a:off x="987552" y="4773168"/>
            <a:ext cx="1554480" cy="274320"/>
          </a:xfrm>
          <a:prstGeom prst="rect">
            <a:avLst/>
          </a:prstGeom>
          <a:noFill/>
          <a:ln/>
        </p:spPr>
        <p:txBody>
          <a:bodyPr wrap="square" lIns="0" tIns="0" rIns="0" bIns="0" rtlCol="0" anchor="t"/>
          <a:lstStyle/>
          <a:p>
            <a:pPr rtl="1" algn="r" indent="0" marL="0">
              <a:buNone/>
            </a:pPr>
            <a:r>
              <a:rPr lang="he-IL" altLang="en-US" sz="1300" dirty="0">
                <a:solidFill>
                  <a:srgbClr val="5A6067"/>
                </a:solidFill>
                <a:latin typeface="Instrument Sans" pitchFamily="34" charset="0"/>
                <a:ea typeface="Instrument Sans" pitchFamily="34" charset="-122"/>
                <a:cs typeface="Assistant" pitchFamily="34" charset="-120"/>
              </a:rPr>
              <a:t>פעולה אחת</a:t>
            </a:r>
            <a:endParaRPr lang="he-IL" sz="1300" dirty="0"/>
          </a:p>
        </p:txBody>
      </p:sp>
      <p:sp>
        <p:nvSpPr>
          <p:cNvPr id="18" name="Shape 14"/>
          <p:cNvSpPr/>
          <p:nvPr/>
        </p:nvSpPr>
        <p:spPr>
          <a:xfrm>
            <a:off x="4142232" y="4206240"/>
            <a:ext cx="2011680" cy="960120"/>
          </a:xfrm>
          <a:prstGeom prst="rect">
            <a:avLst/>
          </a:prstGeom>
          <a:solidFill>
            <a:srgbClr val="FAF6EF"/>
          </a:solidFill>
          <a:ln w="9525">
            <a:solidFill>
              <a:srgbClr val="D8D2C6"/>
            </a:solidFill>
            <a:prstDash val="solid"/>
          </a:ln>
        </p:spPr>
      </p:sp>
      <p:sp>
        <p:nvSpPr>
          <p:cNvPr id="19" name="Text 15"/>
          <p:cNvSpPr txBox="1"/>
          <p:nvPr/>
        </p:nvSpPr>
        <p:spPr>
          <a:xfrm>
            <a:off x="4370832" y="4343400"/>
            <a:ext cx="1554480" cy="411480"/>
          </a:xfrm>
          <a:prstGeom prst="rect">
            <a:avLst/>
          </a:prstGeom>
          <a:noFill/>
          <a:ln/>
        </p:spPr>
        <p:txBody>
          <a:bodyPr wrap="square" lIns="0" tIns="0" rIns="0" bIns="0" rtlCol="0" anchor="t"/>
          <a:lstStyle/>
          <a:p>
            <a:pPr rtl="1" algn="r" indent="0" marL="0">
              <a:buNone/>
            </a:pPr>
            <a:r>
              <a:rPr lang="he-IL" altLang="en-US" sz="2400" dirty="0">
                <a:solidFill>
                  <a:srgbClr val="2B3138"/>
                </a:solidFill>
                <a:latin typeface="Fraunces" pitchFamily="34" charset="0"/>
                <a:ea typeface="Fraunces" pitchFamily="34" charset="-122"/>
                <a:cs typeface="Frank Ruhl Libre" pitchFamily="34" charset="-120"/>
              </a:rPr>
              <a:t>בודק</a:t>
            </a:r>
            <a:endParaRPr lang="he-IL" sz="2400" dirty="0"/>
          </a:p>
        </p:txBody>
      </p:sp>
      <p:sp>
        <p:nvSpPr>
          <p:cNvPr id="20" name="Text 16"/>
          <p:cNvSpPr txBox="1"/>
          <p:nvPr/>
        </p:nvSpPr>
        <p:spPr>
          <a:xfrm>
            <a:off x="4370832" y="4773168"/>
            <a:ext cx="1554480" cy="274320"/>
          </a:xfrm>
          <a:prstGeom prst="rect">
            <a:avLst/>
          </a:prstGeom>
          <a:noFill/>
          <a:ln/>
        </p:spPr>
        <p:txBody>
          <a:bodyPr wrap="square" lIns="0" tIns="0" rIns="0" bIns="0" rtlCol="0" anchor="t"/>
          <a:lstStyle/>
          <a:p>
            <a:pPr rtl="1" algn="r" indent="0" marL="0">
              <a:buNone/>
            </a:pPr>
            <a:r>
              <a:rPr lang="he-IL" altLang="en-US" sz="1300" dirty="0">
                <a:solidFill>
                  <a:srgbClr val="5A6067"/>
                </a:solidFill>
                <a:latin typeface="Instrument Sans" pitchFamily="34" charset="0"/>
                <a:ea typeface="Instrument Sans" pitchFamily="34" charset="-122"/>
                <a:cs typeface="Assistant" pitchFamily="34" charset="-120"/>
              </a:rPr>
              <a:t>הפעולה הצליחה?</a:t>
            </a:r>
            <a:endParaRPr lang="he-IL" sz="1300" dirty="0"/>
          </a:p>
        </p:txBody>
      </p:sp>
      <p:sp>
        <p:nvSpPr>
          <p:cNvPr id="21" name="Text 17"/>
          <p:cNvSpPr txBox="1"/>
          <p:nvPr/>
        </p:nvSpPr>
        <p:spPr>
          <a:xfrm>
            <a:off x="2770632" y="2514600"/>
            <a:ext cx="1371600" cy="96012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2" name="Text 18"/>
          <p:cNvSpPr txBox="1"/>
          <p:nvPr/>
        </p:nvSpPr>
        <p:spPr>
          <a:xfrm>
            <a:off x="758952" y="3474720"/>
            <a:ext cx="2011680" cy="73152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3" name="Text 19"/>
          <p:cNvSpPr txBox="1"/>
          <p:nvPr/>
        </p:nvSpPr>
        <p:spPr>
          <a:xfrm>
            <a:off x="2770632" y="4206240"/>
            <a:ext cx="1371600" cy="96012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4" name="Text 20"/>
          <p:cNvSpPr txBox="1"/>
          <p:nvPr/>
        </p:nvSpPr>
        <p:spPr>
          <a:xfrm>
            <a:off x="4142232" y="3474720"/>
            <a:ext cx="2011680" cy="73152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5" name="Shape 21"/>
          <p:cNvSpPr/>
          <p:nvPr/>
        </p:nvSpPr>
        <p:spPr>
          <a:xfrm>
            <a:off x="6583680" y="2468880"/>
            <a:ext cx="4849063" cy="0"/>
          </a:xfrm>
          <a:prstGeom prst="line">
            <a:avLst/>
          </a:prstGeom>
          <a:noFill/>
          <a:ln w="9525">
            <a:solidFill>
              <a:srgbClr val="E4E0D6"/>
            </a:solidFill>
            <a:prstDash val="solid"/>
          </a:ln>
        </p:spPr>
      </p:sp>
      <p:sp>
        <p:nvSpPr>
          <p:cNvPr id="26" name="Text 22"/>
          <p:cNvSpPr txBox="1"/>
          <p:nvPr/>
        </p:nvSpPr>
        <p:spPr>
          <a:xfrm>
            <a:off x="6583680" y="2596896"/>
            <a:ext cx="4849063" cy="320040"/>
          </a:xfrm>
          <a:prstGeom prst="rect">
            <a:avLst/>
          </a:prstGeom>
          <a:noFill/>
          <a:ln/>
        </p:spPr>
        <p:txBody>
          <a:bodyPr wrap="square" lIns="0" tIns="0" rIns="0" bIns="0" rtlCol="0" anchor="t"/>
          <a:lstStyle/>
          <a:p>
            <a:pPr rtl="1" algn="r" indent="0" marL="0">
              <a:buNone/>
            </a:pPr>
            <a:r>
              <a:rPr lang="he-IL" altLang="en-US" sz="1600" b="1" dirty="0">
                <a:solidFill>
                  <a:srgbClr val="2B3138"/>
                </a:solidFill>
                <a:latin typeface="Instrument Sans" pitchFamily="34" charset="0"/>
                <a:ea typeface="Instrument Sans" pitchFamily="34" charset="-122"/>
                <a:cs typeface="Assistant" pitchFamily="34" charset="-120"/>
              </a:rPr>
              <a:t>מסלול קבוע</a:t>
            </a:r>
            <a:endParaRPr lang="he-IL" sz="1600" dirty="0"/>
          </a:p>
        </p:txBody>
      </p:sp>
      <p:sp>
        <p:nvSpPr>
          <p:cNvPr id="27" name="Text 23"/>
          <p:cNvSpPr txBox="1"/>
          <p:nvPr/>
        </p:nvSpPr>
        <p:spPr>
          <a:xfrm>
            <a:off x="6583680" y="2926080"/>
            <a:ext cx="4849063" cy="41148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הקוד קובע מראש את הסדר. גם if הוא החלטה של הקוד.</a:t>
            </a:r>
            <a:endParaRPr lang="he-IL" sz="1500" dirty="0"/>
          </a:p>
        </p:txBody>
      </p:sp>
      <p:sp>
        <p:nvSpPr>
          <p:cNvPr id="28" name="Shape 24"/>
          <p:cNvSpPr/>
          <p:nvPr/>
        </p:nvSpPr>
        <p:spPr>
          <a:xfrm>
            <a:off x="6583680" y="3429000"/>
            <a:ext cx="4849063" cy="0"/>
          </a:xfrm>
          <a:prstGeom prst="line">
            <a:avLst/>
          </a:prstGeom>
          <a:noFill/>
          <a:ln w="9525">
            <a:solidFill>
              <a:srgbClr val="E4E0D6"/>
            </a:solidFill>
            <a:prstDash val="solid"/>
          </a:ln>
        </p:spPr>
      </p:sp>
      <p:sp>
        <p:nvSpPr>
          <p:cNvPr id="29" name="Text 25"/>
          <p:cNvSpPr txBox="1"/>
          <p:nvPr/>
        </p:nvSpPr>
        <p:spPr>
          <a:xfrm>
            <a:off x="6583680" y="3557016"/>
            <a:ext cx="4849063" cy="320040"/>
          </a:xfrm>
          <a:prstGeom prst="rect">
            <a:avLst/>
          </a:prstGeom>
          <a:noFill/>
          <a:ln/>
        </p:spPr>
        <p:txBody>
          <a:bodyPr wrap="square" lIns="0" tIns="0" rIns="0" bIns="0" rtlCol="0" anchor="t"/>
          <a:lstStyle/>
          <a:p>
            <a:pPr rtl="1" algn="r" indent="0" marL="0">
              <a:buNone/>
            </a:pPr>
            <a:r>
              <a:rPr lang="he-IL" altLang="en-US" sz="1600" b="1" dirty="0">
                <a:solidFill>
                  <a:srgbClr val="2B3138"/>
                </a:solidFill>
                <a:latin typeface="Instrument Sans" pitchFamily="34" charset="0"/>
                <a:ea typeface="Instrument Sans" pitchFamily="34" charset="-122"/>
                <a:cs typeface="Assistant" pitchFamily="34" charset="-120"/>
              </a:rPr>
              <a:t>לולאת סוכן</a:t>
            </a:r>
            <a:endParaRPr lang="he-IL" sz="1600" dirty="0"/>
          </a:p>
        </p:txBody>
      </p:sp>
      <p:sp>
        <p:nvSpPr>
          <p:cNvPr id="30" name="Text 26"/>
          <p:cNvSpPr txBox="1"/>
          <p:nvPr/>
        </p:nvSpPr>
        <p:spPr>
          <a:xfrm>
            <a:off x="6583680" y="3886200"/>
            <a:ext cx="4849063" cy="41148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המודל בוחר את הפעולה הבאה לפי המצב החדש.</a:t>
            </a:r>
            <a:endParaRPr lang="he-IL" sz="1500" dirty="0"/>
          </a:p>
        </p:txBody>
      </p:sp>
      <p:sp>
        <p:nvSpPr>
          <p:cNvPr id="31" name="Shape 27"/>
          <p:cNvSpPr/>
          <p:nvPr/>
        </p:nvSpPr>
        <p:spPr>
          <a:xfrm>
            <a:off x="6583680" y="4389120"/>
            <a:ext cx="4849063" cy="0"/>
          </a:xfrm>
          <a:prstGeom prst="line">
            <a:avLst/>
          </a:prstGeom>
          <a:noFill/>
          <a:ln w="9525">
            <a:solidFill>
              <a:srgbClr val="E4E0D6"/>
            </a:solidFill>
            <a:prstDash val="solid"/>
          </a:ln>
        </p:spPr>
      </p:sp>
      <p:sp>
        <p:nvSpPr>
          <p:cNvPr id="32" name="Text 28"/>
          <p:cNvSpPr txBox="1"/>
          <p:nvPr/>
        </p:nvSpPr>
        <p:spPr>
          <a:xfrm>
            <a:off x="6583680" y="4517136"/>
            <a:ext cx="4849063" cy="320040"/>
          </a:xfrm>
          <a:prstGeom prst="rect">
            <a:avLst/>
          </a:prstGeom>
          <a:noFill/>
          <a:ln/>
        </p:spPr>
        <p:txBody>
          <a:bodyPr wrap="square" lIns="0" tIns="0" rIns="0" bIns="0" rtlCol="0" anchor="t"/>
          <a:lstStyle/>
          <a:p>
            <a:pPr rtl="1" algn="r" indent="0" marL="0">
              <a:buNone/>
            </a:pPr>
            <a:r>
              <a:rPr lang="he-IL" altLang="en-US" sz="1600" b="1" dirty="0">
                <a:solidFill>
                  <a:srgbClr val="2B3138"/>
                </a:solidFill>
                <a:latin typeface="Instrument Sans" pitchFamily="34" charset="0"/>
                <a:ea typeface="Instrument Sans" pitchFamily="34" charset="-122"/>
                <a:cs typeface="Assistant" pitchFamily="34" charset="-120"/>
              </a:rPr>
              <a:t>בדמו שלנו</a:t>
            </a:r>
            <a:endParaRPr lang="he-IL" sz="1600" dirty="0"/>
          </a:p>
        </p:txBody>
      </p:sp>
      <p:sp>
        <p:nvSpPr>
          <p:cNvPr id="33" name="Text 29"/>
          <p:cNvSpPr txBox="1"/>
          <p:nvPr/>
        </p:nvSpPr>
        <p:spPr>
          <a:xfrm>
            <a:off x="6583680" y="4846320"/>
            <a:ext cx="4849063" cy="64008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רואה שמלון A מלא, בוחר לחזור לתוצאות, לוחץ ובודק שנטענו תוצאות.</a:t>
            </a:r>
            <a:endParaRPr lang="he-IL" sz="1500" dirty="0"/>
          </a:p>
        </p:txBody>
      </p:sp>
      <p:sp>
        <p:nvSpPr>
          <p:cNvPr id="34" name="Shape 30"/>
          <p:cNvSpPr/>
          <p:nvPr/>
        </p:nvSpPr>
        <p:spPr>
          <a:xfrm>
            <a:off x="758952" y="5486400"/>
            <a:ext cx="10673791" cy="685800"/>
          </a:xfrm>
          <a:prstGeom prst="rect">
            <a:avLst/>
          </a:prstGeom>
          <a:solidFill>
            <a:srgbClr val="F3EDE2"/>
          </a:solidFill>
          <a:ln/>
        </p:spPr>
      </p:sp>
      <p:sp>
        <p:nvSpPr>
          <p:cNvPr id="35" name="Shape 31"/>
          <p:cNvSpPr/>
          <p:nvPr/>
        </p:nvSpPr>
        <p:spPr>
          <a:xfrm>
            <a:off x="11414455" y="5486400"/>
            <a:ext cx="0" cy="685800"/>
          </a:xfrm>
          <a:prstGeom prst="line">
            <a:avLst/>
          </a:prstGeom>
          <a:noFill/>
          <a:ln w="38100">
            <a:solidFill>
              <a:srgbClr val="8FA396"/>
            </a:solidFill>
            <a:prstDash val="solid"/>
          </a:ln>
        </p:spPr>
      </p:sp>
      <p:sp>
        <p:nvSpPr>
          <p:cNvPr id="36" name="Text 32"/>
          <p:cNvSpPr txBox="1"/>
          <p:nvPr/>
        </p:nvSpPr>
        <p:spPr>
          <a:xfrm>
            <a:off x="1078992" y="5486400"/>
            <a:ext cx="10033711" cy="685800"/>
          </a:xfrm>
          <a:prstGeom prst="rect">
            <a:avLst/>
          </a:prstGeom>
          <a:noFill/>
          <a:ln/>
        </p:spPr>
        <p:txBody>
          <a:bodyPr wrap="square" lIns="0" tIns="0" rIns="0" bIns="0" rtlCol="0" anchor="ctr"/>
          <a:lstStyle/>
          <a:p>
            <a:pPr rtl="1" algn="r" indent="0" marL="0">
              <a:buNone/>
            </a:pPr>
            <a:r>
              <a:rPr lang="he-IL" altLang="en-US" sz="1600" b="1" dirty="0">
                <a:solidFill>
                  <a:srgbClr val="5F7368"/>
                </a:solidFill>
                <a:latin typeface="Instrument Sans" pitchFamily="34" charset="0"/>
                <a:ea typeface="Instrument Sans" pitchFamily="34" charset="-122"/>
                <a:cs typeface="Assistant" pitchFamily="34" charset="-120"/>
              </a:rPr>
              <a:t>החידוש: </a:t>
            </a:r>
            <a:r>
              <a:rPr lang="he-IL" altLang="en-US" sz="1600" dirty="0">
                <a:solidFill>
                  <a:srgbClr val="2B3138"/>
                </a:solidFill>
                <a:latin typeface="Instrument Sans" pitchFamily="34" charset="0"/>
                <a:ea typeface="Instrument Sans" pitchFamily="34" charset="-122"/>
                <a:cs typeface="Assistant" pitchFamily="34" charset="-120"/>
              </a:rPr>
              <a:t>מי בוחר את הפעולה, ולפי איזה מידע. איסוף המידע, ההרשאות והבדיקה נשארים בקוד.</a:t>
            </a:r>
            <a:endParaRPr lang="he-IL"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7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400" dirty="0">
                <a:solidFill>
                  <a:srgbClr val="2B3138"/>
                </a:solidFill>
                <a:latin typeface="Fraunces" pitchFamily="34" charset="0"/>
                <a:ea typeface="Fraunces" pitchFamily="34" charset="-122"/>
                <a:cs typeface="Frank Ruhl Libre" pitchFamily="34" charset="-120"/>
              </a:rPr>
              <a:t>כלי (Tool): פונקציה שהסוכן יכול להפעיל</a:t>
            </a:r>
            <a:endParaRPr lang="he-IL" sz="34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10884103" y="2148840"/>
            <a:ext cx="54864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01</a:t>
            </a:r>
            <a:endParaRPr lang="en-US" sz="2200" dirty="0"/>
          </a:p>
        </p:txBody>
      </p:sp>
      <p:sp>
        <p:nvSpPr>
          <p:cNvPr id="9" name="Text 5"/>
          <p:cNvSpPr txBox="1"/>
          <p:nvPr/>
        </p:nvSpPr>
        <p:spPr>
          <a:xfrm>
            <a:off x="8278063" y="2148840"/>
            <a:ext cx="2468880" cy="411480"/>
          </a:xfrm>
          <a:prstGeom prst="rect">
            <a:avLst/>
          </a:prstGeom>
          <a:noFill/>
          <a:ln/>
        </p:spPr>
        <p:txBody>
          <a:bodyPr wrap="square" lIns="0" tIns="0" rIns="0" bIns="0" rtlCol="0" anchor="ctr"/>
          <a:lstStyle/>
          <a:p>
            <a:pPr rtl="1" algn="r" indent="0" marL="0">
              <a:buNone/>
            </a:pPr>
            <a:r>
              <a:rPr lang="he-IL" altLang="en-US" sz="2000" b="1" dirty="0">
                <a:solidFill>
                  <a:srgbClr val="2B3138"/>
                </a:solidFill>
                <a:latin typeface="Instrument Sans" pitchFamily="34" charset="0"/>
                <a:ea typeface="Instrument Sans" pitchFamily="34" charset="-122"/>
                <a:cs typeface="Assistant" pitchFamily="34" charset="-120"/>
              </a:rPr>
              <a:t>המודל מבקש</a:t>
            </a:r>
            <a:endParaRPr lang="he-IL" sz="2000" dirty="0"/>
          </a:p>
        </p:txBody>
      </p:sp>
      <p:sp>
        <p:nvSpPr>
          <p:cNvPr id="10" name="Text 6"/>
          <p:cNvSpPr txBox="1"/>
          <p:nvPr/>
        </p:nvSpPr>
        <p:spPr>
          <a:xfrm>
            <a:off x="7673188" y="2697480"/>
            <a:ext cx="604876" cy="146304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11" name="Text 7"/>
          <p:cNvSpPr txBox="1"/>
          <p:nvPr/>
        </p:nvSpPr>
        <p:spPr>
          <a:xfrm>
            <a:off x="7124548" y="2148840"/>
            <a:ext cx="54864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02</a:t>
            </a:r>
            <a:endParaRPr lang="en-US" sz="2200" dirty="0"/>
          </a:p>
        </p:txBody>
      </p:sp>
      <p:sp>
        <p:nvSpPr>
          <p:cNvPr id="12" name="Text 8"/>
          <p:cNvSpPr txBox="1"/>
          <p:nvPr/>
        </p:nvSpPr>
        <p:spPr>
          <a:xfrm>
            <a:off x="4518508" y="2148840"/>
            <a:ext cx="2468880" cy="411480"/>
          </a:xfrm>
          <a:prstGeom prst="rect">
            <a:avLst/>
          </a:prstGeom>
          <a:noFill/>
          <a:ln/>
        </p:spPr>
        <p:txBody>
          <a:bodyPr wrap="square" lIns="0" tIns="0" rIns="0" bIns="0" rtlCol="0" anchor="ctr"/>
          <a:lstStyle/>
          <a:p>
            <a:pPr rtl="1" algn="r" indent="0" marL="0">
              <a:buNone/>
            </a:pPr>
            <a:r>
              <a:rPr lang="he-IL" altLang="en-US" sz="2000" b="1" dirty="0">
                <a:solidFill>
                  <a:srgbClr val="2B3138"/>
                </a:solidFill>
                <a:latin typeface="Instrument Sans" pitchFamily="34" charset="0"/>
                <a:ea typeface="Instrument Sans" pitchFamily="34" charset="-122"/>
                <a:cs typeface="Assistant" pitchFamily="34" charset="-120"/>
              </a:rPr>
              <a:t>הקוד מבצע</a:t>
            </a:r>
            <a:endParaRPr lang="he-IL" sz="2000" dirty="0"/>
          </a:p>
        </p:txBody>
      </p:sp>
      <p:sp>
        <p:nvSpPr>
          <p:cNvPr id="13" name="Text 9"/>
          <p:cNvSpPr txBox="1"/>
          <p:nvPr/>
        </p:nvSpPr>
        <p:spPr>
          <a:xfrm>
            <a:off x="3913632" y="2697480"/>
            <a:ext cx="604876" cy="146304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14" name="Text 10"/>
          <p:cNvSpPr txBox="1"/>
          <p:nvPr/>
        </p:nvSpPr>
        <p:spPr>
          <a:xfrm>
            <a:off x="3364992" y="2148840"/>
            <a:ext cx="54864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03</a:t>
            </a:r>
            <a:endParaRPr lang="en-US" sz="2200" dirty="0"/>
          </a:p>
        </p:txBody>
      </p:sp>
      <p:sp>
        <p:nvSpPr>
          <p:cNvPr id="15" name="Text 11"/>
          <p:cNvSpPr txBox="1"/>
          <p:nvPr/>
        </p:nvSpPr>
        <p:spPr>
          <a:xfrm>
            <a:off x="758952" y="2148840"/>
            <a:ext cx="2468880" cy="411480"/>
          </a:xfrm>
          <a:prstGeom prst="rect">
            <a:avLst/>
          </a:prstGeom>
          <a:noFill/>
          <a:ln/>
        </p:spPr>
        <p:txBody>
          <a:bodyPr wrap="square" lIns="0" tIns="0" rIns="0" bIns="0" rtlCol="0" anchor="ctr"/>
          <a:lstStyle/>
          <a:p>
            <a:pPr rtl="1" algn="r" indent="0" marL="0">
              <a:buNone/>
            </a:pPr>
            <a:r>
              <a:rPr lang="he-IL" altLang="en-US" sz="2000" b="1" dirty="0">
                <a:solidFill>
                  <a:srgbClr val="2B3138"/>
                </a:solidFill>
                <a:latin typeface="Instrument Sans" pitchFamily="34" charset="0"/>
                <a:ea typeface="Instrument Sans" pitchFamily="34" charset="-122"/>
                <a:cs typeface="Assistant" pitchFamily="34" charset="-120"/>
              </a:rPr>
              <a:t>חוזרת תוצאה</a:t>
            </a:r>
            <a:endParaRPr lang="he-IL" sz="2000" dirty="0"/>
          </a:p>
        </p:txBody>
      </p:sp>
      <p:sp>
        <p:nvSpPr>
          <p:cNvPr id="16" name="Shape 12"/>
          <p:cNvSpPr/>
          <p:nvPr/>
        </p:nvSpPr>
        <p:spPr>
          <a:xfrm>
            <a:off x="8278063" y="2697480"/>
            <a:ext cx="3154680" cy="1463040"/>
          </a:xfrm>
          <a:prstGeom prst="rect">
            <a:avLst/>
          </a:prstGeom>
          <a:solidFill>
            <a:srgbClr val="F3EDE2"/>
          </a:solidFill>
          <a:ln w="9525">
            <a:solidFill>
              <a:srgbClr val="D8D2C6"/>
            </a:solidFill>
            <a:prstDash val="solid"/>
          </a:ln>
        </p:spPr>
      </p:sp>
      <p:sp>
        <p:nvSpPr>
          <p:cNvPr id="17" name="Text 13"/>
          <p:cNvSpPr txBox="1"/>
          <p:nvPr/>
        </p:nvSpPr>
        <p:spPr>
          <a:xfrm>
            <a:off x="8506663" y="2807208"/>
            <a:ext cx="2743200" cy="219456"/>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Jev</a:t>
            </a:r>
            <a:endParaRPr lang="en-US" sz="1000" dirty="0"/>
          </a:p>
        </p:txBody>
      </p:sp>
      <p:sp>
        <p:nvSpPr>
          <p:cNvPr id="18" name="Shape 14"/>
          <p:cNvSpPr/>
          <p:nvPr/>
        </p:nvSpPr>
        <p:spPr>
          <a:xfrm>
            <a:off x="8278063" y="3081528"/>
            <a:ext cx="3154680" cy="0"/>
          </a:xfrm>
          <a:prstGeom prst="line">
            <a:avLst/>
          </a:prstGeom>
          <a:noFill/>
          <a:ln w="9525">
            <a:solidFill>
              <a:srgbClr val="D8D2C6"/>
            </a:solidFill>
            <a:prstDash val="solid"/>
          </a:ln>
        </p:spPr>
      </p:sp>
      <p:sp>
        <p:nvSpPr>
          <p:cNvPr id="19" name="Text 15"/>
          <p:cNvSpPr txBox="1"/>
          <p:nvPr/>
        </p:nvSpPr>
        <p:spPr>
          <a:xfrm>
            <a:off x="8506663" y="3108960"/>
            <a:ext cx="2697480" cy="365760"/>
          </a:xfrm>
          <a:prstGeom prst="rect">
            <a:avLst/>
          </a:prstGeom>
          <a:noFill/>
          <a:ln/>
        </p:spPr>
        <p:txBody>
          <a:bodyPr wrap="square" lIns="0" tIns="0" rIns="0" bIns="0" rtlCol="0" anchor="ctr"/>
          <a:lstStyle/>
          <a:p>
            <a:pPr algn="l" indent="0" marL="0">
              <a:buNone/>
            </a:pPr>
            <a:r>
              <a:rPr lang="en-US" sz="1300" dirty="0">
                <a:solidFill>
                  <a:srgbClr val="5F7368"/>
                </a:solidFill>
                <a:latin typeface="JetBrains Mono" pitchFamily="34" charset="0"/>
                <a:ea typeface="JetBrains Mono" pitchFamily="34" charset="-122"/>
                <a:cs typeface="JetBrains Mono" pitchFamily="34" charset="-120"/>
              </a:rPr>
              <a:t>choice</a:t>
            </a:r>
            <a:r>
              <a:rPr lang="en-US" sz="1300" dirty="0">
                <a:solidFill>
                  <a:srgbClr val="8B8F93"/>
                </a:solidFill>
                <a:latin typeface="JetBrains Mono" pitchFamily="34" charset="0"/>
                <a:ea typeface="JetBrains Mono" pitchFamily="34" charset="-122"/>
                <a:cs typeface="JetBrains Mono" pitchFamily="34" charset="-120"/>
              </a:rPr>
              <a:t>:</a:t>
            </a:r>
            <a:r>
              <a:rPr lang="en-US" sz="1300" dirty="0">
                <a:solidFill>
                  <a:srgbClr val="2B3138"/>
                </a:solidFill>
                <a:latin typeface="JetBrains Mono" pitchFamily="34" charset="0"/>
                <a:ea typeface="JetBrains Mono" pitchFamily="34" charset="-122"/>
                <a:cs typeface="JetBrains Mono" pitchFamily="34" charset="-120"/>
              </a:rPr>
              <a:t> open_hotel_C</a:t>
            </a:r>
            <a:endParaRPr lang="en-US" sz="1300" dirty="0"/>
          </a:p>
        </p:txBody>
      </p:sp>
      <p:sp>
        <p:nvSpPr>
          <p:cNvPr id="20" name="Shape 16"/>
          <p:cNvSpPr/>
          <p:nvPr/>
        </p:nvSpPr>
        <p:spPr>
          <a:xfrm>
            <a:off x="4518508" y="2697480"/>
            <a:ext cx="3154680" cy="1463040"/>
          </a:xfrm>
          <a:prstGeom prst="rect">
            <a:avLst/>
          </a:prstGeom>
          <a:solidFill>
            <a:srgbClr val="FAF6EF"/>
          </a:solidFill>
          <a:ln w="9525">
            <a:solidFill>
              <a:srgbClr val="D8D2C6"/>
            </a:solidFill>
            <a:prstDash val="solid"/>
          </a:ln>
        </p:spPr>
      </p:sp>
      <p:sp>
        <p:nvSpPr>
          <p:cNvPr id="21" name="Text 17"/>
          <p:cNvSpPr txBox="1"/>
          <p:nvPr/>
        </p:nvSpPr>
        <p:spPr>
          <a:xfrm>
            <a:off x="4792828" y="2880360"/>
            <a:ext cx="2606040" cy="347472"/>
          </a:xfrm>
          <a:prstGeom prst="rect">
            <a:avLst/>
          </a:prstGeom>
          <a:noFill/>
          <a:ln/>
        </p:spPr>
        <p:txBody>
          <a:bodyPr wrap="square" lIns="0" tIns="0" rIns="0" bIns="0" rtlCol="0" anchor="ctr"/>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מאתר את הכפתור בדף</a:t>
            </a:r>
            <a:endParaRPr lang="he-IL" sz="1500" dirty="0"/>
          </a:p>
        </p:txBody>
      </p:sp>
      <p:sp>
        <p:nvSpPr>
          <p:cNvPr id="22" name="Text 18"/>
          <p:cNvSpPr txBox="1"/>
          <p:nvPr/>
        </p:nvSpPr>
        <p:spPr>
          <a:xfrm>
            <a:off x="4792828" y="3264408"/>
            <a:ext cx="2606040" cy="347472"/>
          </a:xfrm>
          <a:prstGeom prst="rect">
            <a:avLst/>
          </a:prstGeom>
          <a:noFill/>
          <a:ln/>
        </p:spPr>
        <p:txBody>
          <a:bodyPr wrap="square" lIns="0" tIns="0" rIns="0" bIns="0" rtlCol="0" anchor="ctr"/>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לוחץ בעזרת Playwright</a:t>
            </a:r>
            <a:endParaRPr lang="he-IL" sz="1500" dirty="0"/>
          </a:p>
        </p:txBody>
      </p:sp>
      <p:sp>
        <p:nvSpPr>
          <p:cNvPr id="23" name="Text 19"/>
          <p:cNvSpPr txBox="1"/>
          <p:nvPr/>
        </p:nvSpPr>
        <p:spPr>
          <a:xfrm>
            <a:off x="4792828" y="3648456"/>
            <a:ext cx="2606040" cy="347472"/>
          </a:xfrm>
          <a:prstGeom prst="rect">
            <a:avLst/>
          </a:prstGeom>
          <a:noFill/>
          <a:ln/>
        </p:spPr>
        <p:txBody>
          <a:bodyPr wrap="square" lIns="0" tIns="0" rIns="0" bIns="0" rtlCol="0" anchor="ctr"/>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קורא את הדף החדש</a:t>
            </a:r>
            <a:endParaRPr lang="he-IL" sz="1500" dirty="0"/>
          </a:p>
        </p:txBody>
      </p:sp>
      <p:sp>
        <p:nvSpPr>
          <p:cNvPr id="24" name="Shape 20"/>
          <p:cNvSpPr/>
          <p:nvPr/>
        </p:nvSpPr>
        <p:spPr>
          <a:xfrm>
            <a:off x="758952" y="2697480"/>
            <a:ext cx="3154680" cy="1463040"/>
          </a:xfrm>
          <a:prstGeom prst="rect">
            <a:avLst/>
          </a:prstGeom>
          <a:solidFill>
            <a:srgbClr val="F3EDE2"/>
          </a:solidFill>
          <a:ln w="9525">
            <a:solidFill>
              <a:srgbClr val="D8D2C6"/>
            </a:solidFill>
            <a:prstDash val="solid"/>
          </a:ln>
        </p:spPr>
      </p:sp>
      <p:sp>
        <p:nvSpPr>
          <p:cNvPr id="25" name="Text 21"/>
          <p:cNvSpPr txBox="1"/>
          <p:nvPr/>
        </p:nvSpPr>
        <p:spPr>
          <a:xfrm>
            <a:off x="987552" y="2807208"/>
            <a:ext cx="2743200" cy="219456"/>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YAML</a:t>
            </a:r>
            <a:endParaRPr lang="en-US" sz="1000" dirty="0"/>
          </a:p>
        </p:txBody>
      </p:sp>
      <p:sp>
        <p:nvSpPr>
          <p:cNvPr id="26" name="Shape 22"/>
          <p:cNvSpPr/>
          <p:nvPr/>
        </p:nvSpPr>
        <p:spPr>
          <a:xfrm>
            <a:off x="758952" y="3081528"/>
            <a:ext cx="3154680" cy="0"/>
          </a:xfrm>
          <a:prstGeom prst="line">
            <a:avLst/>
          </a:prstGeom>
          <a:noFill/>
          <a:ln w="9525">
            <a:solidFill>
              <a:srgbClr val="D8D2C6"/>
            </a:solidFill>
            <a:prstDash val="solid"/>
          </a:ln>
        </p:spPr>
      </p:sp>
      <p:sp>
        <p:nvSpPr>
          <p:cNvPr id="27" name="Text 23"/>
          <p:cNvSpPr txBox="1"/>
          <p:nvPr/>
        </p:nvSpPr>
        <p:spPr>
          <a:xfrm>
            <a:off x="987552" y="3108960"/>
            <a:ext cx="2697480" cy="292608"/>
          </a:xfrm>
          <a:prstGeom prst="rect">
            <a:avLst/>
          </a:prstGeom>
          <a:noFill/>
          <a:ln/>
        </p:spPr>
        <p:txBody>
          <a:bodyPr wrap="square" lIns="0" tIns="0" rIns="0" bIns="0" rtlCol="0" anchor="ctr"/>
          <a:lstStyle/>
          <a:p>
            <a:pPr algn="l" indent="0" marL="0">
              <a:buNone/>
            </a:pPr>
            <a:r>
              <a:rPr lang="en-US" sz="1300" dirty="0">
                <a:solidFill>
                  <a:srgbClr val="5F7368"/>
                </a:solidFill>
                <a:latin typeface="JetBrains Mono" pitchFamily="34" charset="0"/>
                <a:ea typeface="JetBrains Mono" pitchFamily="34" charset="-122"/>
                <a:cs typeface="JetBrains Mono" pitchFamily="34" charset="-120"/>
              </a:rPr>
              <a:t>hotel_C</a:t>
            </a:r>
            <a:r>
              <a:rPr lang="en-US" sz="1300" dirty="0">
                <a:solidFill>
                  <a:srgbClr val="8B8F93"/>
                </a:solidFill>
                <a:latin typeface="JetBrains Mono" pitchFamily="34" charset="0"/>
                <a:ea typeface="JetBrains Mono" pitchFamily="34" charset="-122"/>
                <a:cs typeface="JetBrains Mono" pitchFamily="34" charset="-120"/>
              </a:rPr>
              <a:t>:</a:t>
            </a:r>
            <a:endParaRPr lang="en-US" sz="1300" dirty="0"/>
          </a:p>
        </p:txBody>
      </p:sp>
      <p:sp>
        <p:nvSpPr>
          <p:cNvPr id="28" name="Text 24"/>
          <p:cNvSpPr txBox="1"/>
          <p:nvPr/>
        </p:nvSpPr>
        <p:spPr>
          <a:xfrm>
            <a:off x="987552" y="3401568"/>
            <a:ext cx="2697480" cy="292608"/>
          </a:xfrm>
          <a:prstGeom prst="rect">
            <a:avLst/>
          </a:prstGeom>
          <a:noFill/>
          <a:ln/>
        </p:spPr>
        <p:txBody>
          <a:bodyPr wrap="square" lIns="0" tIns="0" rIns="0" bIns="0" rtlCol="0" anchor="ctr"/>
          <a:lstStyle/>
          <a:p>
            <a:pPr algn="l" indent="0" marL="0">
              <a:buNone/>
            </a:pPr>
            <a:r>
              <a:rPr lang="en-US" sz="1300" dirty="0">
                <a:solidFill>
                  <a:srgbClr val="8B8F93"/>
                </a:solidFill>
                <a:latin typeface="JetBrains Mono" pitchFamily="34" charset="0"/>
                <a:ea typeface="JetBrains Mono" pitchFamily="34" charset="-122"/>
                <a:cs typeface="JetBrains Mono" pitchFamily="34" charset="-120"/>
              </a:rPr>
              <a:t>  </a:t>
            </a:r>
            <a:r>
              <a:rPr lang="en-US" sz="1300" dirty="0">
                <a:solidFill>
                  <a:srgbClr val="5F7368"/>
                </a:solidFill>
                <a:latin typeface="JetBrains Mono" pitchFamily="34" charset="0"/>
                <a:ea typeface="JetBrains Mono" pitchFamily="34" charset="-122"/>
                <a:cs typeface="JetBrains Mono" pitchFamily="34" charset="-120"/>
              </a:rPr>
              <a:t>accessible</a:t>
            </a:r>
            <a:r>
              <a:rPr lang="en-US" sz="1300" dirty="0">
                <a:solidFill>
                  <a:srgbClr val="8B8F93"/>
                </a:solidFill>
                <a:latin typeface="JetBrains Mono" pitchFamily="34" charset="0"/>
                <a:ea typeface="JetBrains Mono" pitchFamily="34" charset="-122"/>
                <a:cs typeface="JetBrains Mono" pitchFamily="34" charset="-120"/>
              </a:rPr>
              <a:t>:</a:t>
            </a:r>
            <a:r>
              <a:rPr lang="en-US" sz="1300" dirty="0">
                <a:solidFill>
                  <a:srgbClr val="2B3138"/>
                </a:solidFill>
                <a:latin typeface="JetBrains Mono" pitchFamily="34" charset="0"/>
                <a:ea typeface="JetBrains Mono" pitchFamily="34" charset="-122"/>
                <a:cs typeface="JetBrains Mono" pitchFamily="34" charset="-120"/>
              </a:rPr>
              <a:t> true</a:t>
            </a:r>
            <a:endParaRPr lang="en-US" sz="1300" dirty="0"/>
          </a:p>
        </p:txBody>
      </p:sp>
      <p:sp>
        <p:nvSpPr>
          <p:cNvPr id="29" name="Text 25"/>
          <p:cNvSpPr txBox="1"/>
          <p:nvPr/>
        </p:nvSpPr>
        <p:spPr>
          <a:xfrm>
            <a:off x="987552" y="3694176"/>
            <a:ext cx="2697480" cy="292608"/>
          </a:xfrm>
          <a:prstGeom prst="rect">
            <a:avLst/>
          </a:prstGeom>
          <a:noFill/>
          <a:ln/>
        </p:spPr>
        <p:txBody>
          <a:bodyPr wrap="square" lIns="0" tIns="0" rIns="0" bIns="0" rtlCol="0" anchor="ctr"/>
          <a:lstStyle/>
          <a:p>
            <a:pPr algn="l" indent="0" marL="0">
              <a:buNone/>
            </a:pPr>
            <a:r>
              <a:rPr lang="en-US" sz="1300" dirty="0">
                <a:solidFill>
                  <a:srgbClr val="8B8F93"/>
                </a:solidFill>
                <a:latin typeface="JetBrains Mono" pitchFamily="34" charset="0"/>
                <a:ea typeface="JetBrains Mono" pitchFamily="34" charset="-122"/>
                <a:cs typeface="JetBrains Mono" pitchFamily="34" charset="-120"/>
              </a:rPr>
              <a:t>  </a:t>
            </a:r>
            <a:r>
              <a:rPr lang="en-US" sz="1300" dirty="0">
                <a:solidFill>
                  <a:srgbClr val="5F7368"/>
                </a:solidFill>
                <a:latin typeface="JetBrains Mono" pitchFamily="34" charset="0"/>
                <a:ea typeface="JetBrains Mono" pitchFamily="34" charset="-122"/>
                <a:cs typeface="JetBrains Mono" pitchFamily="34" charset="-120"/>
              </a:rPr>
              <a:t>total_eur</a:t>
            </a:r>
            <a:r>
              <a:rPr lang="en-US" sz="1300" dirty="0">
                <a:solidFill>
                  <a:srgbClr val="8B8F93"/>
                </a:solidFill>
                <a:latin typeface="JetBrains Mono" pitchFamily="34" charset="0"/>
                <a:ea typeface="JetBrains Mono" pitchFamily="34" charset="-122"/>
                <a:cs typeface="JetBrains Mono" pitchFamily="34" charset="-120"/>
              </a:rPr>
              <a:t>:</a:t>
            </a:r>
            <a:r>
              <a:rPr lang="en-US" sz="1300" dirty="0">
                <a:solidFill>
                  <a:srgbClr val="2B3138"/>
                </a:solidFill>
                <a:latin typeface="JetBrains Mono" pitchFamily="34" charset="0"/>
                <a:ea typeface="JetBrains Mono" pitchFamily="34" charset="-122"/>
                <a:cs typeface="JetBrains Mono" pitchFamily="34" charset="-120"/>
              </a:rPr>
              <a:t> 590</a:t>
            </a:r>
            <a:endParaRPr lang="en-US" sz="1300" dirty="0"/>
          </a:p>
        </p:txBody>
      </p:sp>
      <p:sp>
        <p:nvSpPr>
          <p:cNvPr id="30" name="Shape 26"/>
          <p:cNvSpPr/>
          <p:nvPr/>
        </p:nvSpPr>
        <p:spPr>
          <a:xfrm>
            <a:off x="758952" y="4206240"/>
            <a:ext cx="10673791" cy="685800"/>
          </a:xfrm>
          <a:prstGeom prst="rect">
            <a:avLst/>
          </a:prstGeom>
          <a:solidFill>
            <a:srgbClr val="F3EDE2"/>
          </a:solidFill>
          <a:ln/>
        </p:spPr>
      </p:sp>
      <p:sp>
        <p:nvSpPr>
          <p:cNvPr id="31" name="Shape 27"/>
          <p:cNvSpPr/>
          <p:nvPr/>
        </p:nvSpPr>
        <p:spPr>
          <a:xfrm>
            <a:off x="11414455" y="4206240"/>
            <a:ext cx="0" cy="685800"/>
          </a:xfrm>
          <a:prstGeom prst="line">
            <a:avLst/>
          </a:prstGeom>
          <a:noFill/>
          <a:ln w="38100">
            <a:solidFill>
              <a:srgbClr val="8FA396"/>
            </a:solidFill>
            <a:prstDash val="solid"/>
          </a:ln>
        </p:spPr>
      </p:sp>
      <p:sp>
        <p:nvSpPr>
          <p:cNvPr id="32" name="Text 28"/>
          <p:cNvSpPr txBox="1"/>
          <p:nvPr/>
        </p:nvSpPr>
        <p:spPr>
          <a:xfrm>
            <a:off x="1078992" y="4206240"/>
            <a:ext cx="10033711" cy="685800"/>
          </a:xfrm>
          <a:prstGeom prst="rect">
            <a:avLst/>
          </a:prstGeom>
          <a:noFill/>
          <a:ln/>
        </p:spPr>
        <p:txBody>
          <a:bodyPr wrap="square" lIns="0" tIns="0" rIns="0" bIns="0" rtlCol="0" anchor="ctr"/>
          <a:lstStyle/>
          <a:p>
            <a:pPr rtl="1" algn="r" indent="0" marL="0">
              <a:buNone/>
            </a:pPr>
            <a:r>
              <a:rPr lang="he-IL" altLang="en-US" sz="1500" b="1" dirty="0">
                <a:solidFill>
                  <a:srgbClr val="5F7368"/>
                </a:solidFill>
                <a:latin typeface="Instrument Sans" pitchFamily="34" charset="0"/>
                <a:ea typeface="Instrument Sans" pitchFamily="34" charset="-122"/>
                <a:cs typeface="Assistant" pitchFamily="34" charset="-120"/>
              </a:rPr>
              <a:t>Playwright: </a:t>
            </a:r>
            <a:r>
              <a:rPr lang="he-IL" altLang="en-US" sz="1500" dirty="0">
                <a:solidFill>
                  <a:srgbClr val="2B3138"/>
                </a:solidFill>
                <a:latin typeface="Instrument Sans" pitchFamily="34" charset="0"/>
                <a:ea typeface="Instrument Sans" pitchFamily="34" charset="-122"/>
                <a:cs typeface="Assistant" pitchFamily="34" charset="-120"/>
              </a:rPr>
              <a:t>ספרייה שמאפשרת לקוד לשלוט בדפדפן: ללחוץ, להקליד ולקרוא את הדף.</a:t>
            </a:r>
            <a:endParaRPr lang="he-IL" sz="1500" dirty="0"/>
          </a:p>
        </p:txBody>
      </p:sp>
      <p:sp>
        <p:nvSpPr>
          <p:cNvPr id="33" name="Text 29"/>
          <p:cNvSpPr txBox="1"/>
          <p:nvPr/>
        </p:nvSpPr>
        <p:spPr>
          <a:xfrm>
            <a:off x="758952" y="5212080"/>
            <a:ext cx="10673791" cy="594360"/>
          </a:xfrm>
          <a:prstGeom prst="rect">
            <a:avLst/>
          </a:prstGeom>
          <a:noFill/>
          <a:ln/>
        </p:spPr>
        <p:txBody>
          <a:bodyPr wrap="square" lIns="0" tIns="0" rIns="0" bIns="0" rtlCol="0" anchor="ctr"/>
          <a:lstStyle/>
          <a:p>
            <a:pPr rtl="1" algn="r" indent="0" marL="0">
              <a:buNone/>
            </a:pPr>
            <a:r>
              <a:rPr lang="he-IL" altLang="en-US" sz="2800" dirty="0">
                <a:solidFill>
                  <a:srgbClr val="2B3138"/>
                </a:solidFill>
                <a:latin typeface="Fraunces" pitchFamily="34" charset="0"/>
                <a:ea typeface="Fraunces" pitchFamily="34" charset="-122"/>
                <a:cs typeface="Frank Ruhl Libre" pitchFamily="34" charset="-120"/>
              </a:rPr>
              <a:t>המודל מבקש. הקוד מבצע ומחזיר תוצאה.</a:t>
            </a:r>
            <a:endParaRPr lang="he-IL" sz="2800" dirty="0"/>
          </a:p>
        </p:txBody>
      </p:sp>
      <p:sp>
        <p:nvSpPr>
          <p:cNvPr id="34" name="Text 30"/>
          <p:cNvSpPr txBox="1"/>
          <p:nvPr/>
        </p:nvSpPr>
        <p:spPr>
          <a:xfrm>
            <a:off x="6860743" y="6336792"/>
            <a:ext cx="4572000" cy="256032"/>
          </a:xfrm>
          <a:prstGeom prst="rect">
            <a:avLst/>
          </a:prstGeom>
          <a:noFill/>
          <a:ln/>
        </p:spPr>
        <p:txBody>
          <a:bodyPr wrap="square" lIns="0" tIns="0" rIns="0" bIns="0" rtlCol="0" anchor="ctr"/>
          <a:lstStyle/>
          <a:p>
            <a:pPr rtl="1" algn="r" indent="0" marL="0">
              <a:buNone/>
            </a:pPr>
            <a:r>
              <a:rPr lang="he-IL" altLang="en-US" sz="1100" dirty="0">
                <a:solidFill>
                  <a:srgbClr val="8B8F93"/>
                </a:solidFill>
                <a:latin typeface="Instrument Sans" pitchFamily="34" charset="0"/>
                <a:ea typeface="Instrument Sans" pitchFamily="34" charset="-122"/>
                <a:cs typeface="Assistant" pitchFamily="34" charset="-120"/>
              </a:rPr>
              <a:t>מתכנן</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Jev</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b="1" dirty="0">
                <a:solidFill>
                  <a:srgbClr val="5F7368"/>
                </a:solidFill>
                <a:latin typeface="Instrument Sans" pitchFamily="34" charset="0"/>
                <a:ea typeface="Instrument Sans" pitchFamily="34" charset="-122"/>
                <a:cs typeface="Assistant" pitchFamily="34" charset="-120"/>
              </a:rPr>
              <a:t>הקוד שלנו</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דפדפן</a:t>
            </a:r>
            <a:endParaRPr lang="he-IL"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pic>
        <p:nvPicPr>
          <p:cNvPr id="3" name="Image 0" descr="/home/claude/b2/image4.jpg">    </p:cNvPr>
          <p:cNvPicPr>
            <a:picLocks noChangeAspect="1"/>
          </p:cNvPicPr>
          <p:nvPr/>
        </p:nvPicPr>
        <p:blipFill>
          <a:blip r:embed="rId1"/>
          <a:stretch>
            <a:fillRect/>
          </a:stretch>
        </p:blipFill>
        <p:spPr>
          <a:xfrm>
            <a:off x="0" y="0"/>
            <a:ext cx="12191695" cy="6858000"/>
          </a:xfrm>
          <a:prstGeom prst="rect">
            <a:avLst/>
          </a:prstGeom>
        </p:spPr>
      </p:pic>
      <p:pic>
        <p:nvPicPr>
          <p:cNvPr id="4" name="Image 1" descr="/home/claude/b2/icon.png">    </p:cNvPr>
          <p:cNvPicPr>
            <a:picLocks noChangeAspect="1"/>
          </p:cNvPicPr>
          <p:nvPr/>
        </p:nvPicPr>
        <p:blipFill>
          <a:blip r:embed="rId2"/>
          <a:stretch>
            <a:fillRect/>
          </a:stretch>
        </p:blipFill>
        <p:spPr>
          <a:xfrm>
            <a:off x="11121847" y="329184"/>
            <a:ext cx="310896" cy="310896"/>
          </a:xfrm>
          <a:prstGeom prst="rect">
            <a:avLst/>
          </a:prstGeom>
        </p:spPr>
      </p:pic>
      <p:sp>
        <p:nvSpPr>
          <p:cNvPr id="5"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6" name="Text 1"/>
          <p:cNvSpPr txBox="1"/>
          <p:nvPr/>
        </p:nvSpPr>
        <p:spPr>
          <a:xfrm>
            <a:off x="10061143" y="6336792"/>
            <a:ext cx="1371600" cy="256032"/>
          </a:xfrm>
          <a:prstGeom prst="rect">
            <a:avLst/>
          </a:prstGeom>
          <a:noFill/>
          <a:ln/>
        </p:spPr>
        <p:txBody>
          <a:bodyPr wrap="square" lIns="0" tIns="0" rIns="0" bIns="0" rtlCol="0" anchor="ctr"/>
          <a:lstStyle/>
          <a:p>
            <a:pPr algn="r" indent="0" marL="0">
              <a:buNone/>
            </a:pPr>
            <a:r>
              <a:rPr lang="en-US" sz="1000" dirty="0">
                <a:solidFill>
                  <a:srgbClr val="8B8F93"/>
                </a:solidFill>
                <a:latin typeface="Instrument Sans" pitchFamily="34" charset="0"/>
                <a:ea typeface="Instrument Sans" pitchFamily="34" charset="-122"/>
                <a:cs typeface="Assistant" pitchFamily="34" charset="-120"/>
              </a:rPr>
              <a:t>8 / 21</a:t>
            </a:r>
            <a:endParaRPr lang="en-US" sz="1000" dirty="0"/>
          </a:p>
        </p:txBody>
      </p:sp>
      <p:sp>
        <p:nvSpPr>
          <p:cNvPr id="7" name="Text 2"/>
          <p:cNvSpPr txBox="1"/>
          <p:nvPr/>
        </p:nvSpPr>
        <p:spPr>
          <a:xfrm>
            <a:off x="6583680" y="777240"/>
            <a:ext cx="4849063" cy="1097280"/>
          </a:xfrm>
          <a:prstGeom prst="rect">
            <a:avLst/>
          </a:prstGeom>
          <a:noFill/>
          <a:ln/>
        </p:spPr>
        <p:txBody>
          <a:bodyPr wrap="square" lIns="0" tIns="0" rIns="0" bIns="0" rtlCol="0" anchor="ctr"/>
          <a:lstStyle/>
          <a:p>
            <a:pPr algn="r" indent="0" marL="0">
              <a:buNone/>
            </a:pPr>
            <a:r>
              <a:rPr lang="en-US" sz="8000" dirty="0">
                <a:solidFill>
                  <a:srgbClr val="2B3138"/>
                </a:solidFill>
                <a:latin typeface="Fraunces" pitchFamily="34" charset="0"/>
                <a:ea typeface="Fraunces" pitchFamily="34" charset="-122"/>
                <a:cs typeface="Frank Ruhl Libre" pitchFamily="34" charset="-120"/>
              </a:rPr>
              <a:t>Jev</a:t>
            </a:r>
            <a:endParaRPr lang="en-US" sz="8000" dirty="0"/>
          </a:p>
        </p:txBody>
      </p:sp>
      <p:sp>
        <p:nvSpPr>
          <p:cNvPr id="8" name="Text 3"/>
          <p:cNvSpPr txBox="1"/>
          <p:nvPr/>
        </p:nvSpPr>
        <p:spPr>
          <a:xfrm>
            <a:off x="6583680" y="1965960"/>
            <a:ext cx="4849063" cy="502920"/>
          </a:xfrm>
          <a:prstGeom prst="rect">
            <a:avLst/>
          </a:prstGeom>
          <a:noFill/>
          <a:ln/>
        </p:spPr>
        <p:txBody>
          <a:bodyPr wrap="square" lIns="0" tIns="0" rIns="0" bIns="0" rtlCol="0" anchor="ctr"/>
          <a:lstStyle/>
          <a:p>
            <a:pPr rtl="1" algn="r" indent="0" marL="0">
              <a:buNone/>
            </a:pPr>
            <a:r>
              <a:rPr lang="he-IL" altLang="en-US" sz="2600" dirty="0">
                <a:solidFill>
                  <a:srgbClr val="2B3138"/>
                </a:solidFill>
                <a:latin typeface="Fraunces" pitchFamily="34" charset="0"/>
                <a:ea typeface="Fraunces" pitchFamily="34" charset="-122"/>
                <a:cs typeface="Frank Ruhl Libre" pitchFamily="34" charset="-120"/>
              </a:rPr>
              <a:t>מודל שבוחר מתוך אפשרויות</a:t>
            </a:r>
            <a:endParaRPr lang="he-IL" sz="2600" dirty="0"/>
          </a:p>
        </p:txBody>
      </p:sp>
      <p:sp>
        <p:nvSpPr>
          <p:cNvPr id="9" name="Text 4"/>
          <p:cNvSpPr txBox="1"/>
          <p:nvPr/>
        </p:nvSpPr>
        <p:spPr>
          <a:xfrm>
            <a:off x="6583680" y="2560320"/>
            <a:ext cx="4849063" cy="640080"/>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כמו enum: מזהה אחד מתוך רשימה סגורה, לא פסקה.</a:t>
            </a:r>
            <a:endParaRPr lang="he-IL" sz="1600" dirty="0"/>
          </a:p>
        </p:txBody>
      </p:sp>
      <p:sp>
        <p:nvSpPr>
          <p:cNvPr id="10" name="Shape 5"/>
          <p:cNvSpPr/>
          <p:nvPr/>
        </p:nvSpPr>
        <p:spPr>
          <a:xfrm>
            <a:off x="6583680" y="3337560"/>
            <a:ext cx="4849063" cy="0"/>
          </a:xfrm>
          <a:prstGeom prst="line">
            <a:avLst/>
          </a:prstGeom>
          <a:noFill/>
          <a:ln w="9525">
            <a:solidFill>
              <a:srgbClr val="E4E0D6"/>
            </a:solidFill>
            <a:prstDash val="solid"/>
          </a:ln>
        </p:spPr>
      </p:sp>
      <p:sp>
        <p:nvSpPr>
          <p:cNvPr id="11" name="Text 6"/>
          <p:cNvSpPr txBox="1"/>
          <p:nvPr/>
        </p:nvSpPr>
        <p:spPr>
          <a:xfrm>
            <a:off x="10609783" y="3447288"/>
            <a:ext cx="822960" cy="420624"/>
          </a:xfrm>
          <a:prstGeom prst="rect">
            <a:avLst/>
          </a:prstGeom>
          <a:noFill/>
          <a:ln/>
        </p:spPr>
        <p:txBody>
          <a:bodyPr wrap="square" lIns="0" tIns="0" rIns="0" bIns="0" rtlCol="0" anchor="ctr"/>
          <a:lstStyle/>
          <a:p>
            <a:pPr rtl="1" algn="r" indent="0" marL="0">
              <a:buNone/>
            </a:pPr>
            <a:r>
              <a:rPr lang="he-IL" altLang="en-US" sz="1500" b="1" dirty="0">
                <a:solidFill>
                  <a:srgbClr val="5F7368"/>
                </a:solidFill>
                <a:latin typeface="Instrument Sans" pitchFamily="34" charset="0"/>
                <a:ea typeface="Instrument Sans" pitchFamily="34" charset="-122"/>
                <a:cs typeface="Assistant" pitchFamily="34" charset="-120"/>
              </a:rPr>
              <a:t>נכנס</a:t>
            </a:r>
            <a:endParaRPr lang="he-IL" sz="1500" dirty="0"/>
          </a:p>
        </p:txBody>
      </p:sp>
      <p:sp>
        <p:nvSpPr>
          <p:cNvPr id="12" name="Text 7"/>
          <p:cNvSpPr txBox="1"/>
          <p:nvPr/>
        </p:nvSpPr>
        <p:spPr>
          <a:xfrm>
            <a:off x="6583680" y="3447288"/>
            <a:ext cx="3843223" cy="420624"/>
          </a:xfrm>
          <a:prstGeom prst="rect">
            <a:avLst/>
          </a:prstGeom>
          <a:noFill/>
          <a:ln/>
        </p:spPr>
        <p:txBody>
          <a:bodyPr wrap="square" lIns="0" tIns="0" rIns="0" bIns="0" rtlCol="0" anchor="ctr"/>
          <a:lstStyle/>
          <a:p>
            <a:pPr rtl="1" algn="r" indent="0" marL="0">
              <a:buNone/>
            </a:pPr>
            <a:r>
              <a:rPr lang="he-IL" altLang="en-US" sz="1800" dirty="0">
                <a:solidFill>
                  <a:srgbClr val="2B3138"/>
                </a:solidFill>
                <a:latin typeface="Instrument Sans" pitchFamily="34" charset="0"/>
                <a:ea typeface="Instrument Sans" pitchFamily="34" charset="-122"/>
                <a:cs typeface="Assistant" pitchFamily="34" charset="-120"/>
              </a:rPr>
              <a:t>מצב קצר + שאלה + אפשרויות</a:t>
            </a:r>
            <a:endParaRPr lang="he-IL" sz="1800" dirty="0"/>
          </a:p>
        </p:txBody>
      </p:sp>
      <p:sp>
        <p:nvSpPr>
          <p:cNvPr id="13" name="Shape 8"/>
          <p:cNvSpPr/>
          <p:nvPr/>
        </p:nvSpPr>
        <p:spPr>
          <a:xfrm>
            <a:off x="6583680" y="3977640"/>
            <a:ext cx="4849063" cy="0"/>
          </a:xfrm>
          <a:prstGeom prst="line">
            <a:avLst/>
          </a:prstGeom>
          <a:noFill/>
          <a:ln w="9525">
            <a:solidFill>
              <a:srgbClr val="E4E0D6"/>
            </a:solidFill>
            <a:prstDash val="solid"/>
          </a:ln>
        </p:spPr>
      </p:sp>
      <p:sp>
        <p:nvSpPr>
          <p:cNvPr id="14" name="Text 9"/>
          <p:cNvSpPr txBox="1"/>
          <p:nvPr/>
        </p:nvSpPr>
        <p:spPr>
          <a:xfrm>
            <a:off x="10609783" y="4087368"/>
            <a:ext cx="822960" cy="420624"/>
          </a:xfrm>
          <a:prstGeom prst="rect">
            <a:avLst/>
          </a:prstGeom>
          <a:noFill/>
          <a:ln/>
        </p:spPr>
        <p:txBody>
          <a:bodyPr wrap="square" lIns="0" tIns="0" rIns="0" bIns="0" rtlCol="0" anchor="ctr"/>
          <a:lstStyle/>
          <a:p>
            <a:pPr rtl="1" algn="r" indent="0" marL="0">
              <a:buNone/>
            </a:pPr>
            <a:r>
              <a:rPr lang="he-IL" altLang="en-US" sz="1500" b="1" dirty="0">
                <a:solidFill>
                  <a:srgbClr val="5F7368"/>
                </a:solidFill>
                <a:latin typeface="Instrument Sans" pitchFamily="34" charset="0"/>
                <a:ea typeface="Instrument Sans" pitchFamily="34" charset="-122"/>
                <a:cs typeface="Assistant" pitchFamily="34" charset="-120"/>
              </a:rPr>
              <a:t>יוצא</a:t>
            </a:r>
            <a:endParaRPr lang="he-IL" sz="1500" dirty="0"/>
          </a:p>
        </p:txBody>
      </p:sp>
      <p:sp>
        <p:nvSpPr>
          <p:cNvPr id="15" name="Text 10"/>
          <p:cNvSpPr txBox="1"/>
          <p:nvPr/>
        </p:nvSpPr>
        <p:spPr>
          <a:xfrm>
            <a:off x="6583680" y="4087368"/>
            <a:ext cx="3843223" cy="420624"/>
          </a:xfrm>
          <a:prstGeom prst="rect">
            <a:avLst/>
          </a:prstGeom>
          <a:noFill/>
          <a:ln/>
        </p:spPr>
        <p:txBody>
          <a:bodyPr wrap="square" lIns="0" tIns="0" rIns="0" bIns="0" rtlCol="0" anchor="ctr"/>
          <a:lstStyle/>
          <a:p>
            <a:pPr rtl="1" algn="r" indent="0" marL="0">
              <a:buNone/>
            </a:pPr>
            <a:r>
              <a:rPr lang="he-IL" altLang="en-US" sz="1800" dirty="0">
                <a:solidFill>
                  <a:srgbClr val="2B3138"/>
                </a:solidFill>
                <a:latin typeface="Instrument Sans" pitchFamily="34" charset="0"/>
                <a:ea typeface="Instrument Sans" pitchFamily="34" charset="-122"/>
                <a:cs typeface="Assistant" pitchFamily="34" charset="-120"/>
              </a:rPr>
              <a:t>בחירה + הסתברויות</a:t>
            </a:r>
            <a:endParaRPr lang="he-IL" sz="1800" dirty="0"/>
          </a:p>
        </p:txBody>
      </p:sp>
      <p:sp>
        <p:nvSpPr>
          <p:cNvPr id="16" name="Shape 11"/>
          <p:cNvSpPr/>
          <p:nvPr/>
        </p:nvSpPr>
        <p:spPr>
          <a:xfrm>
            <a:off x="6583680" y="4617720"/>
            <a:ext cx="4849063" cy="0"/>
          </a:xfrm>
          <a:prstGeom prst="line">
            <a:avLst/>
          </a:prstGeom>
          <a:noFill/>
          <a:ln w="9525">
            <a:solidFill>
              <a:srgbClr val="E4E0D6"/>
            </a:solidFill>
            <a:prstDash val="solid"/>
          </a:ln>
        </p:spPr>
      </p:sp>
      <p:sp>
        <p:nvSpPr>
          <p:cNvPr id="17" name="Text 12"/>
          <p:cNvSpPr txBox="1"/>
          <p:nvPr/>
        </p:nvSpPr>
        <p:spPr>
          <a:xfrm>
            <a:off x="6583680" y="4754880"/>
            <a:ext cx="4849063" cy="640080"/>
          </a:xfrm>
          <a:prstGeom prst="rect">
            <a:avLst/>
          </a:prstGeom>
          <a:noFill/>
          <a:ln/>
        </p:spPr>
        <p:txBody>
          <a:bodyPr wrap="square" lIns="0" tIns="0" rIns="0" bIns="0" rtlCol="0" anchor="t"/>
          <a:lstStyle/>
          <a:p>
            <a:pPr rtl="1" algn="r" indent="0" marL="0">
              <a:buNone/>
            </a:pPr>
            <a:r>
              <a:rPr lang="he-IL" altLang="en-US" sz="1500" b="1" dirty="0">
                <a:solidFill>
                  <a:srgbClr val="5F7368"/>
                </a:solidFill>
                <a:latin typeface="Instrument Sans" pitchFamily="34" charset="0"/>
                <a:ea typeface="Instrument Sans" pitchFamily="34" charset="-122"/>
                <a:cs typeface="Assistant" pitchFamily="34" charset="-120"/>
              </a:rPr>
              <a:t>שני מודלים: </a:t>
            </a:r>
            <a:r>
              <a:rPr lang="he-IL" altLang="en-US" sz="1500" dirty="0">
                <a:solidFill>
                  <a:srgbClr val="2B3138"/>
                </a:solidFill>
                <a:latin typeface="Instrument Sans" pitchFamily="34" charset="0"/>
                <a:ea typeface="Instrument Sans" pitchFamily="34" charset="-122"/>
                <a:cs typeface="Assistant" pitchFamily="34" charset="-120"/>
              </a:rPr>
              <a:t>המתכנן מחליט מה המטרה. Jev בוחר איזו פעולה עכשיו.</a:t>
            </a:r>
            <a:endParaRPr lang="he-IL" sz="1500" dirty="0"/>
          </a:p>
        </p:txBody>
      </p:sp>
      <p:sp>
        <p:nvSpPr>
          <p:cNvPr id="18" name="Text 13"/>
          <p:cNvSpPr txBox="1"/>
          <p:nvPr/>
        </p:nvSpPr>
        <p:spPr>
          <a:xfrm>
            <a:off x="6583680" y="5577840"/>
            <a:ext cx="4849063" cy="274320"/>
          </a:xfrm>
          <a:prstGeom prst="rect">
            <a:avLst/>
          </a:prstGeom>
          <a:noFill/>
          <a:ln/>
        </p:spPr>
        <p:txBody>
          <a:bodyPr wrap="square" lIns="0" tIns="0" rIns="0" bIns="0" rtlCol="0" anchor="t"/>
          <a:lstStyle/>
          <a:p>
            <a:pPr algn="r" indent="0" marL="0">
              <a:buNone/>
            </a:pPr>
            <a:r>
              <a:rPr lang="en-US" sz="1200" dirty="0">
                <a:solidFill>
                  <a:srgbClr val="8B8F93"/>
                </a:solidFill>
                <a:latin typeface="Instrument Sans" pitchFamily="34" charset="0"/>
                <a:ea typeface="Instrument Sans" pitchFamily="34" charset="-122"/>
                <a:cs typeface="Assistant" pitchFamily="34" charset="-120"/>
              </a:rPr>
              <a:t>TypeSafe AI  ·  System One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9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מה Jev מקבל מהקוד שלנו?</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Shape 4"/>
          <p:cNvSpPr/>
          <p:nvPr/>
        </p:nvSpPr>
        <p:spPr>
          <a:xfrm>
            <a:off x="7818120" y="2103120"/>
            <a:ext cx="3614623" cy="2788920"/>
          </a:xfrm>
          <a:prstGeom prst="rect">
            <a:avLst/>
          </a:prstGeom>
          <a:solidFill>
            <a:srgbClr val="FAF6EF"/>
          </a:solidFill>
          <a:ln w="9525">
            <a:solidFill>
              <a:srgbClr val="D8D2C6"/>
            </a:solidFill>
            <a:prstDash val="solid"/>
          </a:ln>
        </p:spPr>
      </p:sp>
      <p:sp>
        <p:nvSpPr>
          <p:cNvPr id="9" name="Shape 5"/>
          <p:cNvSpPr/>
          <p:nvPr/>
        </p:nvSpPr>
        <p:spPr>
          <a:xfrm>
            <a:off x="7818120" y="2103120"/>
            <a:ext cx="3614623" cy="365760"/>
          </a:xfrm>
          <a:prstGeom prst="rect">
            <a:avLst/>
          </a:prstGeom>
          <a:solidFill>
            <a:srgbClr val="F3EDE2"/>
          </a:solidFill>
          <a:ln w="9525">
            <a:solidFill>
              <a:srgbClr val="D8D2C6"/>
            </a:solidFill>
            <a:prstDash val="solid"/>
          </a:ln>
        </p:spPr>
      </p:sp>
      <p:sp>
        <p:nvSpPr>
          <p:cNvPr id="10" name="Text 6"/>
          <p:cNvSpPr txBox="1"/>
          <p:nvPr/>
        </p:nvSpPr>
        <p:spPr>
          <a:xfrm>
            <a:off x="8001000" y="2103120"/>
            <a:ext cx="3248863" cy="365760"/>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vacation-demo.local/hotel/A</a:t>
            </a:r>
            <a:endParaRPr lang="en-US" sz="1000" dirty="0"/>
          </a:p>
        </p:txBody>
      </p:sp>
      <p:sp>
        <p:nvSpPr>
          <p:cNvPr id="11" name="Text 7"/>
          <p:cNvSpPr txBox="1"/>
          <p:nvPr/>
        </p:nvSpPr>
        <p:spPr>
          <a:xfrm>
            <a:off x="8092440" y="2651760"/>
            <a:ext cx="3065983" cy="411480"/>
          </a:xfrm>
          <a:prstGeom prst="rect">
            <a:avLst/>
          </a:prstGeom>
          <a:noFill/>
          <a:ln/>
        </p:spPr>
        <p:txBody>
          <a:bodyPr wrap="square" lIns="0" tIns="0" rIns="0" bIns="0" rtlCol="0" anchor="t"/>
          <a:lstStyle/>
          <a:p>
            <a:pPr rtl="1" algn="r" indent="0" marL="0">
              <a:buNone/>
            </a:pPr>
            <a:r>
              <a:rPr lang="he-IL" altLang="en-US" sz="2400" dirty="0">
                <a:solidFill>
                  <a:srgbClr val="2B3138"/>
                </a:solidFill>
                <a:latin typeface="Fraunces" pitchFamily="34" charset="0"/>
                <a:ea typeface="Fraunces" pitchFamily="34" charset="-122"/>
                <a:cs typeface="Frank Ruhl Libre" pitchFamily="34" charset="-120"/>
              </a:rPr>
              <a:t>מלון A</a:t>
            </a:r>
            <a:endParaRPr lang="he-IL" sz="2400" dirty="0"/>
          </a:p>
        </p:txBody>
      </p:sp>
      <p:sp>
        <p:nvSpPr>
          <p:cNvPr id="12" name="Text 8"/>
          <p:cNvSpPr txBox="1"/>
          <p:nvPr/>
        </p:nvSpPr>
        <p:spPr>
          <a:xfrm>
            <a:off x="8092440" y="3090672"/>
            <a:ext cx="3065983" cy="292608"/>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€520 · 3 לילות · נגיש</a:t>
            </a:r>
            <a:endParaRPr lang="he-IL" sz="1400" dirty="0"/>
          </a:p>
        </p:txBody>
      </p:sp>
      <p:sp>
        <p:nvSpPr>
          <p:cNvPr id="13" name="Text 9"/>
          <p:cNvSpPr txBox="1"/>
          <p:nvPr/>
        </p:nvSpPr>
        <p:spPr>
          <a:xfrm>
            <a:off x="8092440" y="3474720"/>
            <a:ext cx="3065983" cy="292608"/>
          </a:xfrm>
          <a:prstGeom prst="rect">
            <a:avLst/>
          </a:prstGeom>
          <a:noFill/>
          <a:ln/>
        </p:spPr>
        <p:txBody>
          <a:bodyPr wrap="square" lIns="0" tIns="0" rIns="0" bIns="0" rtlCol="0" anchor="t"/>
          <a:lstStyle/>
          <a:p>
            <a:pPr rtl="1" algn="r" indent="0" marL="0">
              <a:buNone/>
            </a:pPr>
            <a:r>
              <a:rPr lang="he-IL" altLang="en-US" sz="1400" b="1" dirty="0">
                <a:solidFill>
                  <a:srgbClr val="A6423F"/>
                </a:solidFill>
                <a:latin typeface="Instrument Sans" pitchFamily="34" charset="0"/>
                <a:ea typeface="Instrument Sans" pitchFamily="34" charset="-122"/>
                <a:cs typeface="Assistant" pitchFamily="34" charset="-120"/>
              </a:rPr>
              <a:t>אין חדרים פנויים</a:t>
            </a:r>
            <a:endParaRPr lang="he-IL" sz="1400" dirty="0"/>
          </a:p>
        </p:txBody>
      </p:sp>
      <p:sp>
        <p:nvSpPr>
          <p:cNvPr id="14" name="Shape 10"/>
          <p:cNvSpPr/>
          <p:nvPr/>
        </p:nvSpPr>
        <p:spPr>
          <a:xfrm>
            <a:off x="9466783" y="4160520"/>
            <a:ext cx="1691640" cy="457200"/>
          </a:xfrm>
          <a:prstGeom prst="rect">
            <a:avLst/>
          </a:prstGeom>
          <a:solidFill>
            <a:srgbClr val="2B3138"/>
          </a:solidFill>
          <a:ln/>
        </p:spPr>
      </p:sp>
      <p:sp>
        <p:nvSpPr>
          <p:cNvPr id="15" name="Text 11"/>
          <p:cNvSpPr txBox="1"/>
          <p:nvPr/>
        </p:nvSpPr>
        <p:spPr>
          <a:xfrm>
            <a:off x="9466783" y="4160520"/>
            <a:ext cx="1691640" cy="457200"/>
          </a:xfrm>
          <a:prstGeom prst="rect">
            <a:avLst/>
          </a:prstGeom>
          <a:noFill/>
          <a:ln/>
        </p:spPr>
        <p:txBody>
          <a:bodyPr wrap="square" lIns="0" tIns="0" rIns="0" bIns="0" rtlCol="0" anchor="ctr"/>
          <a:lstStyle/>
          <a:p>
            <a:pPr rtl="1" algn="ctr" indent="0" marL="0">
              <a:buNone/>
            </a:pPr>
            <a:r>
              <a:rPr lang="he-IL" altLang="en-US" sz="1300" b="1" dirty="0">
                <a:solidFill>
                  <a:srgbClr val="FAF6EF"/>
                </a:solidFill>
                <a:latin typeface="Instrument Sans" pitchFamily="34" charset="0"/>
                <a:ea typeface="Instrument Sans" pitchFamily="34" charset="-122"/>
                <a:cs typeface="Assistant" pitchFamily="34" charset="-120"/>
              </a:rPr>
              <a:t>חזרה לתוצאות</a:t>
            </a:r>
            <a:endParaRPr lang="he-IL" sz="1300" dirty="0"/>
          </a:p>
        </p:txBody>
      </p:sp>
      <p:sp>
        <p:nvSpPr>
          <p:cNvPr id="16" name="Shape 12"/>
          <p:cNvSpPr/>
          <p:nvPr/>
        </p:nvSpPr>
        <p:spPr>
          <a:xfrm>
            <a:off x="8092440" y="4160520"/>
            <a:ext cx="1371600" cy="457200"/>
          </a:xfrm>
          <a:prstGeom prst="rect">
            <a:avLst/>
          </a:prstGeom>
          <a:solidFill>
            <a:srgbClr val="FAF6EF"/>
          </a:solidFill>
          <a:ln w="9525">
            <a:solidFill>
              <a:srgbClr val="D8D2C6"/>
            </a:solidFill>
            <a:prstDash val="solid"/>
          </a:ln>
        </p:spPr>
      </p:sp>
      <p:sp>
        <p:nvSpPr>
          <p:cNvPr id="17" name="Text 13"/>
          <p:cNvSpPr txBox="1"/>
          <p:nvPr/>
        </p:nvSpPr>
        <p:spPr>
          <a:xfrm>
            <a:off x="8092440" y="4160520"/>
            <a:ext cx="1371600" cy="457200"/>
          </a:xfrm>
          <a:prstGeom prst="rect">
            <a:avLst/>
          </a:prstGeom>
          <a:noFill/>
          <a:ln/>
        </p:spPr>
        <p:txBody>
          <a:bodyPr wrap="square" lIns="0" tIns="0" rIns="0" bIns="0" rtlCol="0" anchor="ctr"/>
          <a:lstStyle/>
          <a:p>
            <a:pPr rtl="1" algn="ctr" indent="0" marL="0">
              <a:buNone/>
            </a:pPr>
            <a:r>
              <a:rPr lang="he-IL" altLang="en-US" sz="1300" dirty="0">
                <a:solidFill>
                  <a:srgbClr val="8B8F93"/>
                </a:solidFill>
                <a:latin typeface="Instrument Sans" pitchFamily="34" charset="0"/>
                <a:ea typeface="Instrument Sans" pitchFamily="34" charset="-122"/>
                <a:cs typeface="Assistant" pitchFamily="34" charset="-120"/>
              </a:rPr>
              <a:t>הזמנה</a:t>
            </a:r>
            <a:endParaRPr lang="he-IL" sz="1300" dirty="0"/>
          </a:p>
        </p:txBody>
      </p:sp>
      <p:sp>
        <p:nvSpPr>
          <p:cNvPr id="18" name="Text 14"/>
          <p:cNvSpPr txBox="1"/>
          <p:nvPr/>
        </p:nvSpPr>
        <p:spPr>
          <a:xfrm>
            <a:off x="7818120" y="5074920"/>
            <a:ext cx="3614623" cy="320040"/>
          </a:xfrm>
          <a:prstGeom prst="rect">
            <a:avLst/>
          </a:prstGeom>
          <a:noFill/>
          <a:ln/>
        </p:spPr>
        <p:txBody>
          <a:bodyPr wrap="square" lIns="0" tIns="0" rIns="0" bIns="0" rtlCol="0" anchor="t"/>
          <a:lstStyle/>
          <a:p>
            <a:pPr rtl="1" algn="r" indent="0" marL="0">
              <a:buNone/>
            </a:pPr>
            <a:r>
              <a:rPr lang="he-IL" altLang="en-US" sz="1400" b="1" dirty="0">
                <a:solidFill>
                  <a:srgbClr val="5F7368"/>
                </a:solidFill>
                <a:latin typeface="Instrument Sans" pitchFamily="34" charset="0"/>
                <a:ea typeface="Instrument Sans" pitchFamily="34" charset="-122"/>
                <a:cs typeface="Assistant" pitchFamily="34" charset="-120"/>
              </a:rPr>
              <a:t>הדף (DOM): </a:t>
            </a:r>
            <a:r>
              <a:rPr lang="he-IL" altLang="en-US" sz="1400" dirty="0">
                <a:solidFill>
                  <a:srgbClr val="5A6067"/>
                </a:solidFill>
                <a:latin typeface="Instrument Sans" pitchFamily="34" charset="0"/>
                <a:ea typeface="Instrument Sans" pitchFamily="34" charset="-122"/>
                <a:cs typeface="Assistant" pitchFamily="34" charset="-120"/>
              </a:rPr>
              <a:t>כותרות, כפתורים ושדות</a:t>
            </a:r>
            <a:endParaRPr lang="he-IL" sz="1400" dirty="0"/>
          </a:p>
        </p:txBody>
      </p:sp>
      <p:sp>
        <p:nvSpPr>
          <p:cNvPr id="19" name="Text 15"/>
          <p:cNvSpPr txBox="1"/>
          <p:nvPr/>
        </p:nvSpPr>
        <p:spPr>
          <a:xfrm>
            <a:off x="6537960" y="3223260"/>
            <a:ext cx="1143000" cy="457200"/>
          </a:xfrm>
          <a:prstGeom prst="rect">
            <a:avLst/>
          </a:prstGeom>
          <a:noFill/>
          <a:ln/>
        </p:spPr>
        <p:txBody>
          <a:bodyPr wrap="square" lIns="0" tIns="0" rIns="0" bIns="0" rtlCol="0" anchor="ctr"/>
          <a:lstStyle/>
          <a:p>
            <a:pPr algn="ctr" indent="0" marL="0">
              <a:buNone/>
            </a:pPr>
            <a:r>
              <a:rPr lang="en-US" sz="2600" dirty="0">
                <a:solidFill>
                  <a:srgbClr val="5F7368"/>
                </a:solidFill>
                <a:latin typeface="Instrument Sans" pitchFamily="34" charset="0"/>
                <a:ea typeface="Instrument Sans" pitchFamily="34" charset="-122"/>
                <a:cs typeface="Assistant" pitchFamily="34" charset="-120"/>
              </a:rPr>
              <a:t>←</a:t>
            </a:r>
            <a:endParaRPr lang="en-US" sz="2600" dirty="0"/>
          </a:p>
        </p:txBody>
      </p:sp>
      <p:sp>
        <p:nvSpPr>
          <p:cNvPr id="20" name="Text 16"/>
          <p:cNvSpPr txBox="1"/>
          <p:nvPr/>
        </p:nvSpPr>
        <p:spPr>
          <a:xfrm>
            <a:off x="6492240" y="3680460"/>
            <a:ext cx="1234440" cy="274320"/>
          </a:xfrm>
          <a:prstGeom prst="rect">
            <a:avLst/>
          </a:prstGeom>
          <a:noFill/>
          <a:ln/>
        </p:spPr>
        <p:txBody>
          <a:bodyPr wrap="square" lIns="0" tIns="0" rIns="0" bIns="0" rtlCol="0" anchor="t"/>
          <a:lstStyle/>
          <a:p>
            <a:pPr rtl="1" algn="ctr" indent="0" marL="0">
              <a:buNone/>
            </a:pPr>
            <a:r>
              <a:rPr lang="he-IL" altLang="en-US" sz="1200" dirty="0">
                <a:solidFill>
                  <a:srgbClr val="5F7368"/>
                </a:solidFill>
                <a:latin typeface="Instrument Sans" pitchFamily="34" charset="0"/>
                <a:ea typeface="Instrument Sans" pitchFamily="34" charset="-122"/>
                <a:cs typeface="Assistant" pitchFamily="34" charset="-120"/>
              </a:rPr>
              <a:t>הקוד מתמצת</a:t>
            </a:r>
            <a:endParaRPr lang="he-IL" sz="1200" dirty="0"/>
          </a:p>
        </p:txBody>
      </p:sp>
      <p:sp>
        <p:nvSpPr>
          <p:cNvPr id="21" name="Shape 17"/>
          <p:cNvSpPr/>
          <p:nvPr/>
        </p:nvSpPr>
        <p:spPr>
          <a:xfrm>
            <a:off x="758952" y="2103120"/>
            <a:ext cx="5669280" cy="2788920"/>
          </a:xfrm>
          <a:prstGeom prst="rect">
            <a:avLst/>
          </a:prstGeom>
          <a:solidFill>
            <a:srgbClr val="F3EDE2"/>
          </a:solidFill>
          <a:ln w="9525">
            <a:solidFill>
              <a:srgbClr val="D8D2C6"/>
            </a:solidFill>
            <a:prstDash val="solid"/>
          </a:ln>
        </p:spPr>
      </p:sp>
      <p:sp>
        <p:nvSpPr>
          <p:cNvPr id="22" name="Text 18"/>
          <p:cNvSpPr txBox="1"/>
          <p:nvPr/>
        </p:nvSpPr>
        <p:spPr>
          <a:xfrm>
            <a:off x="987552" y="2212848"/>
            <a:ext cx="2743200" cy="219456"/>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YAML</a:t>
            </a:r>
            <a:endParaRPr lang="en-US" sz="1000" dirty="0"/>
          </a:p>
        </p:txBody>
      </p:sp>
      <p:sp>
        <p:nvSpPr>
          <p:cNvPr id="23" name="Shape 19"/>
          <p:cNvSpPr/>
          <p:nvPr/>
        </p:nvSpPr>
        <p:spPr>
          <a:xfrm>
            <a:off x="758952" y="2487168"/>
            <a:ext cx="5669280" cy="0"/>
          </a:xfrm>
          <a:prstGeom prst="line">
            <a:avLst/>
          </a:prstGeom>
          <a:noFill/>
          <a:ln w="9525">
            <a:solidFill>
              <a:srgbClr val="D8D2C6"/>
            </a:solidFill>
            <a:prstDash val="solid"/>
          </a:ln>
        </p:spPr>
      </p:sp>
      <p:sp>
        <p:nvSpPr>
          <p:cNvPr id="24" name="Text 20"/>
          <p:cNvSpPr txBox="1"/>
          <p:nvPr/>
        </p:nvSpPr>
        <p:spPr>
          <a:xfrm>
            <a:off x="868680" y="2514600"/>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1</a:t>
            </a:r>
            <a:endParaRPr lang="en-US" sz="980" dirty="0"/>
          </a:p>
        </p:txBody>
      </p:sp>
      <p:sp>
        <p:nvSpPr>
          <p:cNvPr id="25" name="Text 21"/>
          <p:cNvSpPr txBox="1"/>
          <p:nvPr/>
        </p:nvSpPr>
        <p:spPr>
          <a:xfrm>
            <a:off x="1335024" y="2514600"/>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subgoal</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find an accessible hotel</a:t>
            </a:r>
            <a:endParaRPr lang="en-US" sz="1400" dirty="0"/>
          </a:p>
        </p:txBody>
      </p:sp>
      <p:sp>
        <p:nvSpPr>
          <p:cNvPr id="26" name="Text 22"/>
          <p:cNvSpPr txBox="1"/>
          <p:nvPr/>
        </p:nvSpPr>
        <p:spPr>
          <a:xfrm>
            <a:off x="868680" y="2816352"/>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2</a:t>
            </a:r>
            <a:endParaRPr lang="en-US" sz="980" dirty="0"/>
          </a:p>
        </p:txBody>
      </p:sp>
      <p:sp>
        <p:nvSpPr>
          <p:cNvPr id="27" name="Text 23"/>
          <p:cNvSpPr txBox="1"/>
          <p:nvPr/>
        </p:nvSpPr>
        <p:spPr>
          <a:xfrm>
            <a:off x="1335024" y="2816352"/>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budget_eur</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600</a:t>
            </a:r>
            <a:endParaRPr lang="en-US" sz="1400" dirty="0"/>
          </a:p>
        </p:txBody>
      </p:sp>
      <p:sp>
        <p:nvSpPr>
          <p:cNvPr id="28" name="Text 24"/>
          <p:cNvSpPr txBox="1"/>
          <p:nvPr/>
        </p:nvSpPr>
        <p:spPr>
          <a:xfrm>
            <a:off x="868680" y="3118104"/>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3</a:t>
            </a:r>
            <a:endParaRPr lang="en-US" sz="980" dirty="0"/>
          </a:p>
        </p:txBody>
      </p:sp>
      <p:sp>
        <p:nvSpPr>
          <p:cNvPr id="29" name="Text 25"/>
          <p:cNvSpPr txBox="1"/>
          <p:nvPr/>
        </p:nvSpPr>
        <p:spPr>
          <a:xfrm>
            <a:off x="1335024" y="3118104"/>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nights</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3</a:t>
            </a:r>
            <a:endParaRPr lang="en-US" sz="1400" dirty="0"/>
          </a:p>
        </p:txBody>
      </p:sp>
      <p:sp>
        <p:nvSpPr>
          <p:cNvPr id="30" name="Text 26"/>
          <p:cNvSpPr txBox="1"/>
          <p:nvPr/>
        </p:nvSpPr>
        <p:spPr>
          <a:xfrm>
            <a:off x="868680" y="3419856"/>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4</a:t>
            </a:r>
            <a:endParaRPr lang="en-US" sz="980" dirty="0"/>
          </a:p>
        </p:txBody>
      </p:sp>
      <p:sp>
        <p:nvSpPr>
          <p:cNvPr id="31" name="Text 27"/>
          <p:cNvSpPr txBox="1"/>
          <p:nvPr/>
        </p:nvSpPr>
        <p:spPr>
          <a:xfrm>
            <a:off x="1335024" y="3419856"/>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page</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hotel_details</a:t>
            </a:r>
            <a:endParaRPr lang="en-US" sz="1400" dirty="0"/>
          </a:p>
        </p:txBody>
      </p:sp>
      <p:sp>
        <p:nvSpPr>
          <p:cNvPr id="32" name="Text 28"/>
          <p:cNvSpPr txBox="1"/>
          <p:nvPr/>
        </p:nvSpPr>
        <p:spPr>
          <a:xfrm>
            <a:off x="868680" y="3721608"/>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5</a:t>
            </a:r>
            <a:endParaRPr lang="en-US" sz="980" dirty="0"/>
          </a:p>
        </p:txBody>
      </p:sp>
      <p:sp>
        <p:nvSpPr>
          <p:cNvPr id="33" name="Text 29"/>
          <p:cNvSpPr txBox="1"/>
          <p:nvPr/>
        </p:nvSpPr>
        <p:spPr>
          <a:xfrm>
            <a:off x="1335024" y="3721608"/>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ruled_out</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 A: sold_out }</a:t>
            </a:r>
            <a:endParaRPr lang="en-US" sz="1400" dirty="0"/>
          </a:p>
        </p:txBody>
      </p:sp>
      <p:sp>
        <p:nvSpPr>
          <p:cNvPr id="34" name="Text 30"/>
          <p:cNvSpPr txBox="1"/>
          <p:nvPr/>
        </p:nvSpPr>
        <p:spPr>
          <a:xfrm>
            <a:off x="868680" y="4023360"/>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6</a:t>
            </a:r>
            <a:endParaRPr lang="en-US" sz="980" dirty="0"/>
          </a:p>
        </p:txBody>
      </p:sp>
      <p:sp>
        <p:nvSpPr>
          <p:cNvPr id="35" name="Text 31"/>
          <p:cNvSpPr txBox="1"/>
          <p:nvPr/>
        </p:nvSpPr>
        <p:spPr>
          <a:xfrm>
            <a:off x="1335024" y="4023360"/>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hotel_A</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sold_out</a:t>
            </a:r>
            <a:endParaRPr lang="en-US" sz="1400" dirty="0"/>
          </a:p>
        </p:txBody>
      </p:sp>
      <p:sp>
        <p:nvSpPr>
          <p:cNvPr id="36" name="Text 32"/>
          <p:cNvSpPr txBox="1"/>
          <p:nvPr/>
        </p:nvSpPr>
        <p:spPr>
          <a:xfrm>
            <a:off x="868680" y="4325112"/>
            <a:ext cx="256032" cy="301752"/>
          </a:xfrm>
          <a:prstGeom prst="rect">
            <a:avLst/>
          </a:prstGeom>
          <a:noFill/>
          <a:ln/>
        </p:spPr>
        <p:txBody>
          <a:bodyPr wrap="square" lIns="0" tIns="0" rIns="0" bIns="0" rtlCol="0" anchor="ctr"/>
          <a:lstStyle/>
          <a:p>
            <a:pPr algn="r" indent="0" marL="0">
              <a:buNone/>
            </a:pPr>
            <a:r>
              <a:rPr lang="en-US" sz="980" dirty="0">
                <a:solidFill>
                  <a:srgbClr val="8B8F93"/>
                </a:solidFill>
                <a:latin typeface="JetBrains Mono" pitchFamily="34" charset="0"/>
                <a:ea typeface="JetBrains Mono" pitchFamily="34" charset="-122"/>
                <a:cs typeface="JetBrains Mono" pitchFamily="34" charset="-120"/>
              </a:rPr>
              <a:t>7</a:t>
            </a:r>
            <a:endParaRPr lang="en-US" sz="980" dirty="0"/>
          </a:p>
        </p:txBody>
      </p:sp>
      <p:sp>
        <p:nvSpPr>
          <p:cNvPr id="37" name="Text 33"/>
          <p:cNvSpPr txBox="1"/>
          <p:nvPr/>
        </p:nvSpPr>
        <p:spPr>
          <a:xfrm>
            <a:off x="1335024" y="4325112"/>
            <a:ext cx="4864608" cy="301752"/>
          </a:xfrm>
          <a:prstGeom prst="rect">
            <a:avLst/>
          </a:prstGeom>
          <a:noFill/>
          <a:ln/>
        </p:spPr>
        <p:txBody>
          <a:bodyPr wrap="square" lIns="0" tIns="0" rIns="0" bIns="0" rtlCol="0" anchor="ctr"/>
          <a:lstStyle/>
          <a:p>
            <a:pPr algn="l" indent="0" marL="0">
              <a:buNone/>
            </a:pPr>
            <a:r>
              <a:rPr lang="en-US" sz="1400" dirty="0">
                <a:solidFill>
                  <a:srgbClr val="5F7368"/>
                </a:solidFill>
                <a:latin typeface="JetBrains Mono" pitchFamily="34" charset="0"/>
                <a:ea typeface="JetBrains Mono" pitchFamily="34" charset="-122"/>
                <a:cs typeface="JetBrains Mono" pitchFamily="34" charset="-120"/>
              </a:rPr>
              <a:t>available_actions</a:t>
            </a:r>
            <a:r>
              <a:rPr lang="en-US" sz="1400" dirty="0">
                <a:solidFill>
                  <a:srgbClr val="8B8F93"/>
                </a:solidFill>
                <a:latin typeface="JetBrains Mono" pitchFamily="34" charset="0"/>
                <a:ea typeface="JetBrains Mono" pitchFamily="34" charset="-122"/>
                <a:cs typeface="JetBrains Mono" pitchFamily="34" charset="-120"/>
              </a:rPr>
              <a:t>:</a:t>
            </a:r>
            <a:r>
              <a:rPr lang="en-US" sz="1400" dirty="0">
                <a:solidFill>
                  <a:srgbClr val="2B3138"/>
                </a:solidFill>
                <a:latin typeface="JetBrains Mono" pitchFamily="34" charset="0"/>
                <a:ea typeface="JetBrains Mono" pitchFamily="34" charset="-122"/>
                <a:cs typeface="JetBrains Mono" pitchFamily="34" charset="-120"/>
              </a:rPr>
              <a:t> [back_to_results, stop]</a:t>
            </a:r>
            <a:endParaRPr lang="en-US" sz="1400" dirty="0"/>
          </a:p>
        </p:txBody>
      </p:sp>
      <p:sp>
        <p:nvSpPr>
          <p:cNvPr id="38" name="Text 34"/>
          <p:cNvSpPr txBox="1"/>
          <p:nvPr/>
        </p:nvSpPr>
        <p:spPr>
          <a:xfrm>
            <a:off x="758952" y="5074920"/>
            <a:ext cx="5669280" cy="320040"/>
          </a:xfrm>
          <a:prstGeom prst="rect">
            <a:avLst/>
          </a:prstGeom>
          <a:noFill/>
          <a:ln/>
        </p:spPr>
        <p:txBody>
          <a:bodyPr wrap="square" lIns="0" tIns="0" rIns="0" bIns="0" rtlCol="0" anchor="t"/>
          <a:lstStyle/>
          <a:p>
            <a:pPr rtl="1" algn="r" indent="0" marL="0">
              <a:buNone/>
            </a:pPr>
            <a:r>
              <a:rPr lang="he-IL" altLang="en-US" sz="1400" b="1" dirty="0">
                <a:solidFill>
                  <a:srgbClr val="5F7368"/>
                </a:solidFill>
                <a:latin typeface="Instrument Sans" pitchFamily="34" charset="0"/>
                <a:ea typeface="Instrument Sans" pitchFamily="34" charset="-122"/>
                <a:cs typeface="Assistant" pitchFamily="34" charset="-120"/>
              </a:rPr>
              <a:t>המצב והפעולות: </a:t>
            </a:r>
            <a:r>
              <a:rPr lang="he-IL" altLang="en-US" sz="1400" dirty="0">
                <a:solidFill>
                  <a:srgbClr val="5A6067"/>
                </a:solidFill>
                <a:latin typeface="Instrument Sans" pitchFamily="34" charset="0"/>
                <a:ea typeface="Instrument Sans" pitchFamily="34" charset="-122"/>
                <a:cs typeface="Assistant" pitchFamily="34" charset="-120"/>
              </a:rPr>
              <a:t>רק מה שזמין כרגע</a:t>
            </a:r>
            <a:endParaRPr lang="he-IL" sz="1400" dirty="0"/>
          </a:p>
        </p:txBody>
      </p:sp>
      <p:sp>
        <p:nvSpPr>
          <p:cNvPr id="39" name="Text 35"/>
          <p:cNvSpPr txBox="1"/>
          <p:nvPr/>
        </p:nvSpPr>
        <p:spPr>
          <a:xfrm>
            <a:off x="758952" y="5532120"/>
            <a:ext cx="10673791" cy="502920"/>
          </a:xfrm>
          <a:prstGeom prst="rect">
            <a:avLst/>
          </a:prstGeom>
          <a:noFill/>
          <a:ln/>
        </p:spPr>
        <p:txBody>
          <a:bodyPr wrap="square" lIns="0" tIns="0" rIns="0" bIns="0" rtlCol="0" anchor="ctr"/>
          <a:lstStyle/>
          <a:p>
            <a:pPr rtl="1" algn="r" indent="0" marL="0">
              <a:buNone/>
            </a:pPr>
            <a:r>
              <a:rPr lang="he-IL" altLang="en-US" sz="2400" dirty="0">
                <a:solidFill>
                  <a:srgbClr val="2B3138"/>
                </a:solidFill>
                <a:latin typeface="Fraunces" pitchFamily="34" charset="0"/>
                <a:ea typeface="Fraunces" pitchFamily="34" charset="-122"/>
                <a:cs typeface="Frank Ruhl Libre" pitchFamily="34" charset="-120"/>
              </a:rPr>
              <a:t>Jev לא רואה את הדפדפן. </a:t>
            </a:r>
            <a:r>
              <a:rPr lang="he-IL" altLang="en-US" sz="2400" dirty="0">
                <a:solidFill>
                  <a:srgbClr val="5F7368"/>
                </a:solidFill>
                <a:latin typeface="Fraunces" pitchFamily="34" charset="0"/>
                <a:ea typeface="Fraunces" pitchFamily="34" charset="-122"/>
                <a:cs typeface="Frank Ruhl Libre" pitchFamily="34" charset="-120"/>
              </a:rPr>
              <a:t>הקוד שלנו מכין לו את המצב ואת הפעולות.</a:t>
            </a:r>
            <a:endParaRPr lang="he-IL" sz="2400" dirty="0"/>
          </a:p>
        </p:txBody>
      </p:sp>
      <p:sp>
        <p:nvSpPr>
          <p:cNvPr id="40" name="Text 36"/>
          <p:cNvSpPr txBox="1"/>
          <p:nvPr/>
        </p:nvSpPr>
        <p:spPr>
          <a:xfrm>
            <a:off x="6860743" y="6336792"/>
            <a:ext cx="4572000" cy="256032"/>
          </a:xfrm>
          <a:prstGeom prst="rect">
            <a:avLst/>
          </a:prstGeom>
          <a:noFill/>
          <a:ln/>
        </p:spPr>
        <p:txBody>
          <a:bodyPr wrap="square" lIns="0" tIns="0" rIns="0" bIns="0" rtlCol="0" anchor="ctr"/>
          <a:lstStyle/>
          <a:p>
            <a:pPr rtl="1" algn="r" indent="0" marL="0">
              <a:buNone/>
            </a:pPr>
            <a:r>
              <a:rPr lang="he-IL" altLang="en-US" sz="1100" dirty="0">
                <a:solidFill>
                  <a:srgbClr val="8B8F93"/>
                </a:solidFill>
                <a:latin typeface="Instrument Sans" pitchFamily="34" charset="0"/>
                <a:ea typeface="Instrument Sans" pitchFamily="34" charset="-122"/>
                <a:cs typeface="Assistant" pitchFamily="34" charset="-120"/>
              </a:rPr>
              <a:t>מתכנן</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b="1" dirty="0">
                <a:solidFill>
                  <a:srgbClr val="5F7368"/>
                </a:solidFill>
                <a:latin typeface="Instrument Sans" pitchFamily="34" charset="0"/>
                <a:ea typeface="Instrument Sans" pitchFamily="34" charset="-122"/>
                <a:cs typeface="Assistant" pitchFamily="34" charset="-120"/>
              </a:rPr>
              <a:t>Jev</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הקוד שלנו</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דפדפן</a:t>
            </a:r>
            <a:endParaRPr lang="he-IL"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10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בחירה שאפשר לחבר לקוד</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Shape 4"/>
          <p:cNvSpPr/>
          <p:nvPr/>
        </p:nvSpPr>
        <p:spPr>
          <a:xfrm>
            <a:off x="758952" y="2103120"/>
            <a:ext cx="7040880" cy="3721608"/>
          </a:xfrm>
          <a:prstGeom prst="rect">
            <a:avLst/>
          </a:prstGeom>
          <a:solidFill>
            <a:srgbClr val="F3EDE2"/>
          </a:solidFill>
          <a:ln w="9525">
            <a:solidFill>
              <a:srgbClr val="D8D2C6"/>
            </a:solidFill>
            <a:prstDash val="solid"/>
          </a:ln>
        </p:spPr>
      </p:sp>
      <p:sp>
        <p:nvSpPr>
          <p:cNvPr id="9" name="Text 5"/>
          <p:cNvSpPr txBox="1"/>
          <p:nvPr/>
        </p:nvSpPr>
        <p:spPr>
          <a:xfrm>
            <a:off x="987552" y="2212848"/>
            <a:ext cx="2743200" cy="219456"/>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TypeScript</a:t>
            </a:r>
            <a:endParaRPr lang="en-US" sz="1000" dirty="0"/>
          </a:p>
        </p:txBody>
      </p:sp>
      <p:sp>
        <p:nvSpPr>
          <p:cNvPr id="10" name="Shape 6"/>
          <p:cNvSpPr/>
          <p:nvPr/>
        </p:nvSpPr>
        <p:spPr>
          <a:xfrm>
            <a:off x="758952" y="2487168"/>
            <a:ext cx="7040880" cy="0"/>
          </a:xfrm>
          <a:prstGeom prst="line">
            <a:avLst/>
          </a:prstGeom>
          <a:noFill/>
          <a:ln w="9525">
            <a:solidFill>
              <a:srgbClr val="D8D2C6"/>
            </a:solidFill>
            <a:prstDash val="solid"/>
          </a:ln>
        </p:spPr>
      </p:sp>
      <p:sp>
        <p:nvSpPr>
          <p:cNvPr id="11" name="Text 7"/>
          <p:cNvSpPr txBox="1"/>
          <p:nvPr/>
        </p:nvSpPr>
        <p:spPr>
          <a:xfrm>
            <a:off x="868680" y="2514600"/>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1</a:t>
            </a:r>
            <a:endParaRPr lang="en-US" sz="945" dirty="0"/>
          </a:p>
        </p:txBody>
      </p:sp>
      <p:sp>
        <p:nvSpPr>
          <p:cNvPr id="12" name="Text 8"/>
          <p:cNvSpPr txBox="1"/>
          <p:nvPr/>
        </p:nvSpPr>
        <p:spPr>
          <a:xfrm>
            <a:off x="1335024" y="2514600"/>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const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result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5F7368"/>
                </a:solidFill>
                <a:latin typeface="JetBrains Mono" pitchFamily="34" charset="0"/>
                <a:ea typeface="JetBrains Mono" pitchFamily="34" charset="-122"/>
                <a:cs typeface="JetBrains Mono" pitchFamily="34" charset="-120"/>
              </a:rPr>
              <a:t>await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client</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systemOne</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13" name="Shape 9"/>
          <p:cNvSpPr/>
          <p:nvPr/>
        </p:nvSpPr>
        <p:spPr>
          <a:xfrm>
            <a:off x="768096" y="2825496"/>
            <a:ext cx="7022592" cy="310896"/>
          </a:xfrm>
          <a:prstGeom prst="rect">
            <a:avLst/>
          </a:prstGeom>
          <a:solidFill>
            <a:srgbClr val="E9E1D2"/>
          </a:solidFill>
          <a:ln/>
        </p:spPr>
      </p:sp>
      <p:sp>
        <p:nvSpPr>
          <p:cNvPr id="14" name="Text 10"/>
          <p:cNvSpPr txBox="1"/>
          <p:nvPr/>
        </p:nvSpPr>
        <p:spPr>
          <a:xfrm>
            <a:off x="868680" y="2825496"/>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2</a:t>
            </a:r>
            <a:endParaRPr lang="en-US" sz="945" dirty="0"/>
          </a:p>
        </p:txBody>
      </p:sp>
      <p:sp>
        <p:nvSpPr>
          <p:cNvPr id="15" name="Text 11"/>
          <p:cNvSpPr txBox="1"/>
          <p:nvPr/>
        </p:nvSpPr>
        <p:spPr>
          <a:xfrm>
            <a:off x="1335024" y="2825496"/>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state</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compactState</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16" name="Text 12"/>
          <p:cNvSpPr txBox="1"/>
          <p:nvPr/>
        </p:nvSpPr>
        <p:spPr>
          <a:xfrm>
            <a:off x="868680" y="3136392"/>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3</a:t>
            </a:r>
            <a:endParaRPr lang="en-US" sz="945" dirty="0"/>
          </a:p>
        </p:txBody>
      </p:sp>
      <p:sp>
        <p:nvSpPr>
          <p:cNvPr id="17" name="Text 13"/>
          <p:cNvSpPr txBox="1"/>
          <p:nvPr/>
        </p:nvSpPr>
        <p:spPr>
          <a:xfrm>
            <a:off x="1335024" y="3136392"/>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questions</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18" name="Shape 14"/>
          <p:cNvSpPr/>
          <p:nvPr/>
        </p:nvSpPr>
        <p:spPr>
          <a:xfrm>
            <a:off x="768096" y="3447288"/>
            <a:ext cx="7022592" cy="310896"/>
          </a:xfrm>
          <a:prstGeom prst="rect">
            <a:avLst/>
          </a:prstGeom>
          <a:solidFill>
            <a:srgbClr val="E9E1D2"/>
          </a:solidFill>
          <a:ln/>
        </p:spPr>
      </p:sp>
      <p:sp>
        <p:nvSpPr>
          <p:cNvPr id="19" name="Text 15"/>
          <p:cNvSpPr txBox="1"/>
          <p:nvPr/>
        </p:nvSpPr>
        <p:spPr>
          <a:xfrm>
            <a:off x="868680" y="3447288"/>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4</a:t>
            </a:r>
            <a:endParaRPr lang="en-US" sz="945" dirty="0"/>
          </a:p>
        </p:txBody>
      </p:sp>
      <p:sp>
        <p:nvSpPr>
          <p:cNvPr id="20" name="Text 16"/>
          <p:cNvSpPr txBox="1"/>
          <p:nvPr/>
        </p:nvSpPr>
        <p:spPr>
          <a:xfrm>
            <a:off x="1335024" y="3447288"/>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nextAction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choice</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QUESTION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1" name="Text 17"/>
          <p:cNvSpPr txBox="1"/>
          <p:nvPr/>
        </p:nvSpPr>
        <p:spPr>
          <a:xfrm>
            <a:off x="868680" y="3758184"/>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5</a:t>
            </a:r>
            <a:endParaRPr lang="en-US" sz="945" dirty="0"/>
          </a:p>
        </p:txBody>
      </p:sp>
      <p:sp>
        <p:nvSpPr>
          <p:cNvPr id="22" name="Text 18"/>
          <p:cNvSpPr txBox="1"/>
          <p:nvPr/>
        </p:nvSpPr>
        <p:spPr>
          <a:xfrm>
            <a:off x="1335024" y="3758184"/>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back_to_results</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5A6067"/>
                </a:solidFill>
                <a:latin typeface="JetBrains Mono" pitchFamily="34" charset="0"/>
                <a:ea typeface="JetBrains Mono" pitchFamily="34" charset="-122"/>
                <a:cs typeface="JetBrains Mono" pitchFamily="34" charset="-120"/>
              </a:rPr>
              <a:t>"Return to the search results"</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3" name="Text 19"/>
          <p:cNvSpPr txBox="1"/>
          <p:nvPr/>
        </p:nvSpPr>
        <p:spPr>
          <a:xfrm>
            <a:off x="868680" y="4069080"/>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6</a:t>
            </a:r>
            <a:endParaRPr lang="en-US" sz="945" dirty="0"/>
          </a:p>
        </p:txBody>
      </p:sp>
      <p:sp>
        <p:nvSpPr>
          <p:cNvPr id="24" name="Text 20"/>
          <p:cNvSpPr txBox="1"/>
          <p:nvPr/>
        </p:nvSpPr>
        <p:spPr>
          <a:xfrm>
            <a:off x="1335024" y="4069080"/>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stop</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5A6067"/>
                </a:solidFill>
                <a:latin typeface="JetBrains Mono" pitchFamily="34" charset="0"/>
                <a:ea typeface="JetBrains Mono" pitchFamily="34" charset="-122"/>
                <a:cs typeface="JetBrains Mono" pitchFamily="34" charset="-120"/>
              </a:rPr>
              <a:t>"Stop and ask the traveler what to change"</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5" name="Text 21"/>
          <p:cNvSpPr txBox="1"/>
          <p:nvPr/>
        </p:nvSpPr>
        <p:spPr>
          <a:xfrm>
            <a:off x="868680" y="4379976"/>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7</a:t>
            </a:r>
            <a:endParaRPr lang="en-US" sz="945" dirty="0"/>
          </a:p>
        </p:txBody>
      </p:sp>
      <p:sp>
        <p:nvSpPr>
          <p:cNvPr id="26" name="Text 22"/>
          <p:cNvSpPr txBox="1"/>
          <p:nvPr/>
        </p:nvSpPr>
        <p:spPr>
          <a:xfrm>
            <a:off x="1335024" y="4379976"/>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7" name="Text 23"/>
          <p:cNvSpPr txBox="1"/>
          <p:nvPr/>
        </p:nvSpPr>
        <p:spPr>
          <a:xfrm>
            <a:off x="868680" y="4690872"/>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8</a:t>
            </a:r>
            <a:endParaRPr lang="en-US" sz="945" dirty="0"/>
          </a:p>
        </p:txBody>
      </p:sp>
      <p:sp>
        <p:nvSpPr>
          <p:cNvPr id="28" name="Text 24"/>
          <p:cNvSpPr txBox="1"/>
          <p:nvPr/>
        </p:nvSpPr>
        <p:spPr>
          <a:xfrm>
            <a:off x="1335024" y="4690872"/>
            <a:ext cx="6236208" cy="310896"/>
          </a:xfrm>
          <a:prstGeom prst="rect">
            <a:avLst/>
          </a:prstGeom>
          <a:noFill/>
          <a:ln/>
        </p:spPr>
        <p:txBody>
          <a:bodyPr wrap="square" lIns="0" tIns="0" rIns="0" bIns="0" rtlCol="0" anchor="ctr"/>
          <a:lstStyle/>
          <a:p>
            <a:pPr algn="l" indent="0" marL="0">
              <a:buNone/>
            </a:pP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9" name="Text 25"/>
          <p:cNvSpPr txBox="1"/>
          <p:nvPr/>
        </p:nvSpPr>
        <p:spPr>
          <a:xfrm>
            <a:off x="868680" y="5001768"/>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9</a:t>
            </a:r>
            <a:endParaRPr lang="en-US" sz="945" dirty="0"/>
          </a:p>
        </p:txBody>
      </p:sp>
      <p:sp>
        <p:nvSpPr>
          <p:cNvPr id="30" name="Text 26"/>
          <p:cNvSpPr txBox="1"/>
          <p:nvPr/>
        </p:nvSpPr>
        <p:spPr>
          <a:xfrm>
            <a:off x="1335024" y="5001768"/>
            <a:ext cx="6236208" cy="310896"/>
          </a:xfrm>
          <a:prstGeom prst="rect">
            <a:avLst/>
          </a:prstGeom>
          <a:noFill/>
          <a:ln/>
        </p:spPr>
        <p:txBody>
          <a:bodyPr wrap="square" lIns="0" tIns="0" rIns="0" bIns="0" rtlCol="0" anchor="ctr"/>
          <a:lstStyle/>
          <a:p>
            <a:pPr algn="l" indent="0" marL="0">
              <a:buNone/>
            </a:pP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31" name="Shape 27"/>
          <p:cNvSpPr/>
          <p:nvPr/>
        </p:nvSpPr>
        <p:spPr>
          <a:xfrm>
            <a:off x="768096" y="5312664"/>
            <a:ext cx="7022592" cy="310896"/>
          </a:xfrm>
          <a:prstGeom prst="rect">
            <a:avLst/>
          </a:prstGeom>
          <a:solidFill>
            <a:srgbClr val="E9E1D2"/>
          </a:solidFill>
          <a:ln/>
        </p:spPr>
      </p:sp>
      <p:sp>
        <p:nvSpPr>
          <p:cNvPr id="32" name="Text 28"/>
          <p:cNvSpPr txBox="1"/>
          <p:nvPr/>
        </p:nvSpPr>
        <p:spPr>
          <a:xfrm>
            <a:off x="868680" y="5312664"/>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10</a:t>
            </a:r>
            <a:endParaRPr lang="en-US" sz="945" dirty="0"/>
          </a:p>
        </p:txBody>
      </p:sp>
      <p:sp>
        <p:nvSpPr>
          <p:cNvPr id="33" name="Text 29"/>
          <p:cNvSpPr txBox="1"/>
          <p:nvPr/>
        </p:nvSpPr>
        <p:spPr>
          <a:xfrm>
            <a:off x="1335024" y="5312664"/>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const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answer</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result</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answers</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nextAction</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34" name="Text 30"/>
          <p:cNvSpPr txBox="1"/>
          <p:nvPr/>
        </p:nvSpPr>
        <p:spPr>
          <a:xfrm>
            <a:off x="758952" y="5943600"/>
            <a:ext cx="7040880" cy="274320"/>
          </a:xfrm>
          <a:prstGeom prst="rect">
            <a:avLst/>
          </a:prstGeom>
          <a:noFill/>
          <a:ln/>
        </p:spPr>
        <p:txBody>
          <a:bodyPr wrap="square" lIns="0" tIns="0" rIns="0" bIns="0" rtlCol="0" anchor="t"/>
          <a:lstStyle/>
          <a:p>
            <a:pPr rtl="1" algn="r" indent="0" marL="0">
              <a:buNone/>
            </a:pPr>
            <a:r>
              <a:rPr lang="he-IL" altLang="en-US" sz="1200" dirty="0">
                <a:solidFill>
                  <a:srgbClr val="8B8F93"/>
                </a:solidFill>
                <a:latin typeface="Instrument Sans" pitchFamily="34" charset="0"/>
                <a:ea typeface="Instrument Sans" pitchFamily="34" charset="-122"/>
                <a:cs typeface="Assistant" pitchFamily="34" charset="-120"/>
              </a:rPr>
              <a:t>מתוך src/jev.ts ב-wave-lab</a:t>
            </a:r>
            <a:endParaRPr lang="he-IL" sz="1200" dirty="0"/>
          </a:p>
        </p:txBody>
      </p:sp>
      <p:sp>
        <p:nvSpPr>
          <p:cNvPr id="35" name="Shape 31"/>
          <p:cNvSpPr/>
          <p:nvPr/>
        </p:nvSpPr>
        <p:spPr>
          <a:xfrm>
            <a:off x="7388352" y="2862072"/>
            <a:ext cx="237744" cy="237744"/>
          </a:xfrm>
          <a:prstGeom prst="rect">
            <a:avLst/>
          </a:prstGeom>
          <a:solidFill>
            <a:srgbClr val="5F7368"/>
          </a:solidFill>
          <a:ln/>
        </p:spPr>
      </p:sp>
      <p:sp>
        <p:nvSpPr>
          <p:cNvPr id="36" name="Text 32"/>
          <p:cNvSpPr txBox="1"/>
          <p:nvPr/>
        </p:nvSpPr>
        <p:spPr>
          <a:xfrm>
            <a:off x="7388352" y="2862072"/>
            <a:ext cx="237744" cy="237744"/>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1</a:t>
            </a:r>
            <a:endParaRPr lang="en-US" sz="1050" dirty="0"/>
          </a:p>
        </p:txBody>
      </p:sp>
      <p:sp>
        <p:nvSpPr>
          <p:cNvPr id="37" name="Shape 33"/>
          <p:cNvSpPr/>
          <p:nvPr/>
        </p:nvSpPr>
        <p:spPr>
          <a:xfrm>
            <a:off x="7388352" y="3483864"/>
            <a:ext cx="237744" cy="237744"/>
          </a:xfrm>
          <a:prstGeom prst="rect">
            <a:avLst/>
          </a:prstGeom>
          <a:solidFill>
            <a:srgbClr val="5F7368"/>
          </a:solidFill>
          <a:ln/>
        </p:spPr>
      </p:sp>
      <p:sp>
        <p:nvSpPr>
          <p:cNvPr id="38" name="Text 34"/>
          <p:cNvSpPr txBox="1"/>
          <p:nvPr/>
        </p:nvSpPr>
        <p:spPr>
          <a:xfrm>
            <a:off x="7388352" y="3483864"/>
            <a:ext cx="237744" cy="237744"/>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2</a:t>
            </a:r>
            <a:endParaRPr lang="en-US" sz="1050" dirty="0"/>
          </a:p>
        </p:txBody>
      </p:sp>
      <p:sp>
        <p:nvSpPr>
          <p:cNvPr id="39" name="Shape 35"/>
          <p:cNvSpPr/>
          <p:nvPr/>
        </p:nvSpPr>
        <p:spPr>
          <a:xfrm>
            <a:off x="7388352" y="5349240"/>
            <a:ext cx="237744" cy="237744"/>
          </a:xfrm>
          <a:prstGeom prst="rect">
            <a:avLst/>
          </a:prstGeom>
          <a:solidFill>
            <a:srgbClr val="5F7368"/>
          </a:solidFill>
          <a:ln/>
        </p:spPr>
      </p:sp>
      <p:sp>
        <p:nvSpPr>
          <p:cNvPr id="40" name="Text 36"/>
          <p:cNvSpPr txBox="1"/>
          <p:nvPr/>
        </p:nvSpPr>
        <p:spPr>
          <a:xfrm>
            <a:off x="7388352" y="5349240"/>
            <a:ext cx="237744" cy="237744"/>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3</a:t>
            </a:r>
            <a:endParaRPr lang="en-US" sz="1050" dirty="0"/>
          </a:p>
        </p:txBody>
      </p:sp>
      <p:sp>
        <p:nvSpPr>
          <p:cNvPr id="41" name="Shape 37"/>
          <p:cNvSpPr/>
          <p:nvPr/>
        </p:nvSpPr>
        <p:spPr>
          <a:xfrm>
            <a:off x="11158423" y="2167128"/>
            <a:ext cx="274320" cy="274320"/>
          </a:xfrm>
          <a:prstGeom prst="rect">
            <a:avLst/>
          </a:prstGeom>
          <a:solidFill>
            <a:srgbClr val="5F7368"/>
          </a:solidFill>
          <a:ln/>
        </p:spPr>
      </p:sp>
      <p:sp>
        <p:nvSpPr>
          <p:cNvPr id="42" name="Text 38"/>
          <p:cNvSpPr txBox="1"/>
          <p:nvPr/>
        </p:nvSpPr>
        <p:spPr>
          <a:xfrm>
            <a:off x="11158423" y="2167128"/>
            <a:ext cx="274320" cy="274320"/>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1</a:t>
            </a:r>
            <a:endParaRPr lang="en-US" sz="1050" dirty="0"/>
          </a:p>
        </p:txBody>
      </p:sp>
      <p:sp>
        <p:nvSpPr>
          <p:cNvPr id="43" name="Text 39"/>
          <p:cNvSpPr txBox="1"/>
          <p:nvPr/>
        </p:nvSpPr>
        <p:spPr>
          <a:xfrm>
            <a:off x="8229600" y="2103120"/>
            <a:ext cx="2745943" cy="384048"/>
          </a:xfrm>
          <a:prstGeom prst="rect">
            <a:avLst/>
          </a:prstGeom>
          <a:noFill/>
          <a:ln/>
        </p:spPr>
        <p:txBody>
          <a:bodyPr wrap="square" lIns="0" tIns="0" rIns="0" bIns="0" rtlCol="0" anchor="ctr"/>
          <a:lstStyle/>
          <a:p>
            <a:pPr rtl="1" algn="r" indent="0" marL="0">
              <a:buNone/>
            </a:pPr>
            <a:r>
              <a:rPr lang="he-IL" altLang="en-US" sz="1900" b="1" dirty="0">
                <a:solidFill>
                  <a:srgbClr val="2B3138"/>
                </a:solidFill>
                <a:latin typeface="Instrument Sans" pitchFamily="34" charset="0"/>
                <a:ea typeface="Instrument Sans" pitchFamily="34" charset="-122"/>
                <a:cs typeface="Assistant" pitchFamily="34" charset="-120"/>
              </a:rPr>
              <a:t>המצב</a:t>
            </a:r>
            <a:endParaRPr lang="he-IL" sz="1900" dirty="0"/>
          </a:p>
        </p:txBody>
      </p:sp>
      <p:sp>
        <p:nvSpPr>
          <p:cNvPr id="44" name="Text 40"/>
          <p:cNvSpPr txBox="1"/>
          <p:nvPr/>
        </p:nvSpPr>
        <p:spPr>
          <a:xfrm>
            <a:off x="8229600" y="2505456"/>
            <a:ext cx="2745943"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מה קורה עכשיו בדף</a:t>
            </a:r>
            <a:endParaRPr lang="he-IL" sz="1400" dirty="0"/>
          </a:p>
        </p:txBody>
      </p:sp>
      <p:sp>
        <p:nvSpPr>
          <p:cNvPr id="45" name="Shape 41"/>
          <p:cNvSpPr/>
          <p:nvPr/>
        </p:nvSpPr>
        <p:spPr>
          <a:xfrm>
            <a:off x="8229600" y="2907792"/>
            <a:ext cx="3203143" cy="0"/>
          </a:xfrm>
          <a:prstGeom prst="line">
            <a:avLst/>
          </a:prstGeom>
          <a:noFill/>
          <a:ln w="9525">
            <a:solidFill>
              <a:srgbClr val="E4E0D6"/>
            </a:solidFill>
            <a:prstDash val="solid"/>
          </a:ln>
        </p:spPr>
      </p:sp>
      <p:sp>
        <p:nvSpPr>
          <p:cNvPr id="46" name="Shape 42"/>
          <p:cNvSpPr/>
          <p:nvPr/>
        </p:nvSpPr>
        <p:spPr>
          <a:xfrm>
            <a:off x="11158423" y="3081528"/>
            <a:ext cx="274320" cy="274320"/>
          </a:xfrm>
          <a:prstGeom prst="rect">
            <a:avLst/>
          </a:prstGeom>
          <a:solidFill>
            <a:srgbClr val="5F7368"/>
          </a:solidFill>
          <a:ln/>
        </p:spPr>
      </p:sp>
      <p:sp>
        <p:nvSpPr>
          <p:cNvPr id="47" name="Text 43"/>
          <p:cNvSpPr txBox="1"/>
          <p:nvPr/>
        </p:nvSpPr>
        <p:spPr>
          <a:xfrm>
            <a:off x="11158423" y="3081528"/>
            <a:ext cx="274320" cy="274320"/>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2</a:t>
            </a:r>
            <a:endParaRPr lang="en-US" sz="1050" dirty="0"/>
          </a:p>
        </p:txBody>
      </p:sp>
      <p:sp>
        <p:nvSpPr>
          <p:cNvPr id="48" name="Text 44"/>
          <p:cNvSpPr txBox="1"/>
          <p:nvPr/>
        </p:nvSpPr>
        <p:spPr>
          <a:xfrm>
            <a:off x="8229600" y="3017520"/>
            <a:ext cx="2745943" cy="384048"/>
          </a:xfrm>
          <a:prstGeom prst="rect">
            <a:avLst/>
          </a:prstGeom>
          <a:noFill/>
          <a:ln/>
        </p:spPr>
        <p:txBody>
          <a:bodyPr wrap="square" lIns="0" tIns="0" rIns="0" bIns="0" rtlCol="0" anchor="ctr"/>
          <a:lstStyle/>
          <a:p>
            <a:pPr rtl="1" algn="r" indent="0" marL="0">
              <a:buNone/>
            </a:pPr>
            <a:r>
              <a:rPr lang="he-IL" altLang="en-US" sz="1900" b="1" dirty="0">
                <a:solidFill>
                  <a:srgbClr val="2B3138"/>
                </a:solidFill>
                <a:latin typeface="Instrument Sans" pitchFamily="34" charset="0"/>
                <a:ea typeface="Instrument Sans" pitchFamily="34" charset="-122"/>
                <a:cs typeface="Assistant" pitchFamily="34" charset="-120"/>
              </a:rPr>
              <a:t>האפשרויות</a:t>
            </a:r>
            <a:endParaRPr lang="he-IL" sz="1900" dirty="0"/>
          </a:p>
        </p:txBody>
      </p:sp>
      <p:sp>
        <p:nvSpPr>
          <p:cNvPr id="49" name="Text 45"/>
          <p:cNvSpPr txBox="1"/>
          <p:nvPr/>
        </p:nvSpPr>
        <p:spPr>
          <a:xfrm>
            <a:off x="8229600" y="3419856"/>
            <a:ext cx="2745943"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רשימה סגורה שהקוד שלנו נותן</a:t>
            </a:r>
            <a:endParaRPr lang="he-IL" sz="1400" dirty="0"/>
          </a:p>
        </p:txBody>
      </p:sp>
      <p:sp>
        <p:nvSpPr>
          <p:cNvPr id="50" name="Shape 46"/>
          <p:cNvSpPr/>
          <p:nvPr/>
        </p:nvSpPr>
        <p:spPr>
          <a:xfrm>
            <a:off x="8229600" y="3822192"/>
            <a:ext cx="3203143" cy="0"/>
          </a:xfrm>
          <a:prstGeom prst="line">
            <a:avLst/>
          </a:prstGeom>
          <a:noFill/>
          <a:ln w="9525">
            <a:solidFill>
              <a:srgbClr val="E4E0D6"/>
            </a:solidFill>
            <a:prstDash val="solid"/>
          </a:ln>
        </p:spPr>
      </p:sp>
      <p:sp>
        <p:nvSpPr>
          <p:cNvPr id="51" name="Shape 47"/>
          <p:cNvSpPr/>
          <p:nvPr/>
        </p:nvSpPr>
        <p:spPr>
          <a:xfrm>
            <a:off x="11158423" y="3995928"/>
            <a:ext cx="274320" cy="274320"/>
          </a:xfrm>
          <a:prstGeom prst="rect">
            <a:avLst/>
          </a:prstGeom>
          <a:solidFill>
            <a:srgbClr val="5F7368"/>
          </a:solidFill>
          <a:ln/>
        </p:spPr>
      </p:sp>
      <p:sp>
        <p:nvSpPr>
          <p:cNvPr id="52" name="Text 48"/>
          <p:cNvSpPr txBox="1"/>
          <p:nvPr/>
        </p:nvSpPr>
        <p:spPr>
          <a:xfrm>
            <a:off x="11158423" y="3995928"/>
            <a:ext cx="274320" cy="274320"/>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3</a:t>
            </a:r>
            <a:endParaRPr lang="en-US" sz="1050" dirty="0"/>
          </a:p>
        </p:txBody>
      </p:sp>
      <p:sp>
        <p:nvSpPr>
          <p:cNvPr id="53" name="Text 49"/>
          <p:cNvSpPr txBox="1"/>
          <p:nvPr/>
        </p:nvSpPr>
        <p:spPr>
          <a:xfrm>
            <a:off x="8229600" y="3931920"/>
            <a:ext cx="2745943" cy="384048"/>
          </a:xfrm>
          <a:prstGeom prst="rect">
            <a:avLst/>
          </a:prstGeom>
          <a:noFill/>
          <a:ln/>
        </p:spPr>
        <p:txBody>
          <a:bodyPr wrap="square" lIns="0" tIns="0" rIns="0" bIns="0" rtlCol="0" anchor="ctr"/>
          <a:lstStyle/>
          <a:p>
            <a:pPr rtl="1" algn="r" indent="0" marL="0">
              <a:buNone/>
            </a:pPr>
            <a:r>
              <a:rPr lang="he-IL" altLang="en-US" sz="1900" b="1" dirty="0">
                <a:solidFill>
                  <a:srgbClr val="2B3138"/>
                </a:solidFill>
                <a:latin typeface="Instrument Sans" pitchFamily="34" charset="0"/>
                <a:ea typeface="Instrument Sans" pitchFamily="34" charset="-122"/>
                <a:cs typeface="Assistant" pitchFamily="34" charset="-120"/>
              </a:rPr>
              <a:t>המזהה שחוזר</a:t>
            </a:r>
            <a:endParaRPr lang="he-IL" sz="1900" dirty="0"/>
          </a:p>
        </p:txBody>
      </p:sp>
      <p:sp>
        <p:nvSpPr>
          <p:cNvPr id="54" name="Text 50"/>
          <p:cNvSpPr txBox="1"/>
          <p:nvPr/>
        </p:nvSpPr>
        <p:spPr>
          <a:xfrm>
            <a:off x="8229600" y="4334256"/>
            <a:ext cx="2745943"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back_to_results או stop</a:t>
            </a:r>
            <a:endParaRPr lang="he-IL" sz="1400" dirty="0"/>
          </a:p>
        </p:txBody>
      </p:sp>
      <p:sp>
        <p:nvSpPr>
          <p:cNvPr id="55" name="Shape 51"/>
          <p:cNvSpPr/>
          <p:nvPr/>
        </p:nvSpPr>
        <p:spPr>
          <a:xfrm>
            <a:off x="8229600" y="4736592"/>
            <a:ext cx="3203143" cy="0"/>
          </a:xfrm>
          <a:prstGeom prst="line">
            <a:avLst/>
          </a:prstGeom>
          <a:noFill/>
          <a:ln w="9525">
            <a:solidFill>
              <a:srgbClr val="E4E0D6"/>
            </a:solidFill>
            <a:prstDash val="solid"/>
          </a:ln>
        </p:spPr>
      </p:sp>
      <p:sp>
        <p:nvSpPr>
          <p:cNvPr id="56" name="Text 52"/>
          <p:cNvSpPr txBox="1"/>
          <p:nvPr/>
        </p:nvSpPr>
        <p:spPr>
          <a:xfrm>
            <a:off x="8229600" y="4892040"/>
            <a:ext cx="3203143" cy="914400"/>
          </a:xfrm>
          <a:prstGeom prst="rect">
            <a:avLst/>
          </a:prstGeom>
          <a:noFill/>
          <a:ln/>
        </p:spPr>
        <p:txBody>
          <a:bodyPr wrap="square" lIns="0" tIns="0" rIns="0" bIns="0" rtlCol="0" anchor="t"/>
          <a:lstStyle/>
          <a:p>
            <a:pPr rtl="1" algn="r" indent="0" marL="0">
              <a:buNone/>
            </a:pPr>
            <a:r>
              <a:rPr lang="he-IL" altLang="en-US" sz="2500" dirty="0">
                <a:solidFill>
                  <a:srgbClr val="5F7368"/>
                </a:solidFill>
                <a:latin typeface="Fraunces" pitchFamily="34" charset="0"/>
                <a:ea typeface="Fraunces" pitchFamily="34" charset="-122"/>
                <a:cs typeface="Frank Ruhl Libre" pitchFamily="34" charset="-120"/>
              </a:rPr>
              <a:t>לא פסקה.</a:t>
            </a:r>
            <a:endParaRPr lang="he-IL" sz="2500" dirty="0"/>
          </a:p>
          <a:p>
            <a:pPr rtl="1" algn="r" indent="0" marL="0">
              <a:buNone/>
            </a:pPr>
            <a:r>
              <a:rPr lang="he-IL" altLang="en-US" sz="2500" dirty="0">
                <a:solidFill>
                  <a:srgbClr val="5F7368"/>
                </a:solidFill>
                <a:latin typeface="Fraunces" pitchFamily="34" charset="0"/>
                <a:ea typeface="Fraunces" pitchFamily="34" charset="-122"/>
                <a:cs typeface="Frank Ruhl Libre" pitchFamily="34" charset="-120"/>
              </a:rPr>
              <a:t>מזהה מתוך רשימה.</a:t>
            </a:r>
            <a:endParaRPr lang="he-IL" sz="2500" dirty="0"/>
          </a:p>
        </p:txBody>
      </p:sp>
      <p:sp>
        <p:nvSpPr>
          <p:cNvPr id="57" name="Text 53"/>
          <p:cNvSpPr txBox="1"/>
          <p:nvPr/>
        </p:nvSpPr>
        <p:spPr>
          <a:xfrm>
            <a:off x="6860743" y="6336792"/>
            <a:ext cx="4572000" cy="256032"/>
          </a:xfrm>
          <a:prstGeom prst="rect">
            <a:avLst/>
          </a:prstGeom>
          <a:noFill/>
          <a:ln/>
        </p:spPr>
        <p:txBody>
          <a:bodyPr wrap="square" lIns="0" tIns="0" rIns="0" bIns="0" rtlCol="0" anchor="ctr"/>
          <a:lstStyle/>
          <a:p>
            <a:pPr rtl="1" algn="r" indent="0" marL="0">
              <a:buNone/>
            </a:pPr>
            <a:r>
              <a:rPr lang="he-IL" altLang="en-US" sz="1100" dirty="0">
                <a:solidFill>
                  <a:srgbClr val="8B8F93"/>
                </a:solidFill>
                <a:latin typeface="Instrument Sans" pitchFamily="34" charset="0"/>
                <a:ea typeface="Instrument Sans" pitchFamily="34" charset="-122"/>
                <a:cs typeface="Assistant" pitchFamily="34" charset="-120"/>
              </a:rPr>
              <a:t>מתכנן</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b="1" dirty="0">
                <a:solidFill>
                  <a:srgbClr val="5F7368"/>
                </a:solidFill>
                <a:latin typeface="Instrument Sans" pitchFamily="34" charset="0"/>
                <a:ea typeface="Instrument Sans" pitchFamily="34" charset="-122"/>
                <a:cs typeface="Assistant" pitchFamily="34" charset="-120"/>
              </a:rPr>
              <a:t>Jev</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הקוד שלנו</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דפדפן</a:t>
            </a:r>
            <a:endParaRPr lang="he-IL"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11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בחירה תקינה יכולה להיות שגויה</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758952" y="1874520"/>
            <a:ext cx="10673791" cy="329184"/>
          </a:xfrm>
          <a:prstGeom prst="rect">
            <a:avLst/>
          </a:prstGeom>
          <a:noFill/>
          <a:ln/>
        </p:spPr>
        <p:txBody>
          <a:bodyPr wrap="square" lIns="0" tIns="0" rIns="0" bIns="0" rtlCol="0" anchor="ctr"/>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בדף של מלון B, הפעולות הזמינות:  </a:t>
            </a:r>
            <a:r>
              <a:rPr lang="he-IL" altLang="en-US" sz="1300" dirty="0">
                <a:solidFill>
                  <a:srgbClr val="2B3138"/>
                </a:solidFill>
                <a:latin typeface="JetBrains Mono" pitchFamily="34" charset="0"/>
                <a:ea typeface="JetBrains Mono" pitchFamily="34" charset="-122"/>
                <a:cs typeface="JetBrains Mono" pitchFamily="34" charset="-120"/>
              </a:rPr>
              <a:t>select_hotel · back_to_results · stop</a:t>
            </a:r>
            <a:endParaRPr lang="he-IL" sz="1500" dirty="0"/>
          </a:p>
        </p:txBody>
      </p:sp>
      <p:sp>
        <p:nvSpPr>
          <p:cNvPr id="9" name="Shape 5"/>
          <p:cNvSpPr/>
          <p:nvPr/>
        </p:nvSpPr>
        <p:spPr>
          <a:xfrm>
            <a:off x="6095848" y="2514600"/>
            <a:ext cx="0" cy="2240280"/>
          </a:xfrm>
          <a:prstGeom prst="line">
            <a:avLst/>
          </a:prstGeom>
          <a:noFill/>
          <a:ln w="9525">
            <a:solidFill>
              <a:srgbClr val="E4E0D6"/>
            </a:solidFill>
            <a:prstDash val="solid"/>
          </a:ln>
        </p:spPr>
      </p:sp>
      <p:sp>
        <p:nvSpPr>
          <p:cNvPr id="10" name="Text 6"/>
          <p:cNvSpPr txBox="1"/>
          <p:nvPr/>
        </p:nvSpPr>
        <p:spPr>
          <a:xfrm>
            <a:off x="6507328" y="2514600"/>
            <a:ext cx="4925416" cy="777240"/>
          </a:xfrm>
          <a:prstGeom prst="rect">
            <a:avLst/>
          </a:prstGeom>
          <a:noFill/>
          <a:ln/>
        </p:spPr>
        <p:txBody>
          <a:bodyPr wrap="square" lIns="0" tIns="0" rIns="0" bIns="0" rtlCol="0" anchor="ctr"/>
          <a:lstStyle/>
          <a:p>
            <a:pPr rtl="1" algn="r" indent="0" marL="0">
              <a:buNone/>
            </a:pPr>
            <a:r>
              <a:rPr lang="he-IL" altLang="en-US" sz="4600" dirty="0">
                <a:solidFill>
                  <a:srgbClr val="2B3138"/>
                </a:solidFill>
                <a:latin typeface="Fraunces" pitchFamily="34" charset="0"/>
                <a:ea typeface="Fraunces" pitchFamily="34" charset="-122"/>
                <a:cs typeface="Frank Ruhl Libre" pitchFamily="34" charset="-120"/>
              </a:rPr>
              <a:t>תקינה</a:t>
            </a:r>
            <a:endParaRPr lang="he-IL" sz="4600" dirty="0"/>
          </a:p>
        </p:txBody>
      </p:sp>
      <p:sp>
        <p:nvSpPr>
          <p:cNvPr id="11" name="Text 7"/>
          <p:cNvSpPr txBox="1"/>
          <p:nvPr/>
        </p:nvSpPr>
        <p:spPr>
          <a:xfrm>
            <a:off x="6507328" y="3337560"/>
            <a:ext cx="4925416" cy="347472"/>
          </a:xfrm>
          <a:prstGeom prst="rect">
            <a:avLst/>
          </a:prstGeom>
          <a:noFill/>
          <a:ln/>
        </p:spPr>
        <p:txBody>
          <a:bodyPr wrap="square" lIns="0" tIns="0" rIns="0" bIns="0" rtlCol="0" anchor="t"/>
          <a:lstStyle/>
          <a:p>
            <a:pPr rtl="1" algn="r" indent="0" marL="0">
              <a:buNone/>
            </a:pPr>
            <a:r>
              <a:rPr lang="he-IL" altLang="en-US" sz="1800" b="1" dirty="0">
                <a:solidFill>
                  <a:srgbClr val="2B3138"/>
                </a:solidFill>
                <a:latin typeface="Instrument Sans" pitchFamily="34" charset="0"/>
                <a:ea typeface="Instrument Sans" pitchFamily="34" charset="-122"/>
                <a:cs typeface="Assistant" pitchFamily="34" charset="-120"/>
              </a:rPr>
              <a:t>בחירה מתוך הרשימה</a:t>
            </a:r>
            <a:endParaRPr lang="he-IL" sz="1800" dirty="0"/>
          </a:p>
        </p:txBody>
      </p:sp>
      <p:sp>
        <p:nvSpPr>
          <p:cNvPr id="12" name="Text 8"/>
          <p:cNvSpPr txBox="1"/>
          <p:nvPr/>
        </p:nvSpPr>
        <p:spPr>
          <a:xfrm>
            <a:off x="6507328" y="3685032"/>
            <a:ext cx="4925416" cy="310896"/>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המזהה קיים ובפורמט תקין</a:t>
            </a:r>
            <a:endParaRPr lang="he-IL" sz="1500" dirty="0"/>
          </a:p>
        </p:txBody>
      </p:sp>
      <p:sp>
        <p:nvSpPr>
          <p:cNvPr id="13" name="Shape 9"/>
          <p:cNvSpPr/>
          <p:nvPr/>
        </p:nvSpPr>
        <p:spPr>
          <a:xfrm>
            <a:off x="6507328" y="4160520"/>
            <a:ext cx="4925416" cy="548640"/>
          </a:xfrm>
          <a:prstGeom prst="rect">
            <a:avLst/>
          </a:prstGeom>
          <a:solidFill>
            <a:srgbClr val="F3EDE2"/>
          </a:solidFill>
          <a:ln w="9525">
            <a:solidFill>
              <a:srgbClr val="D8D2C6"/>
            </a:solidFill>
            <a:prstDash val="solid"/>
          </a:ln>
        </p:spPr>
      </p:sp>
      <p:sp>
        <p:nvSpPr>
          <p:cNvPr id="14" name="Text 10"/>
          <p:cNvSpPr txBox="1"/>
          <p:nvPr/>
        </p:nvSpPr>
        <p:spPr>
          <a:xfrm>
            <a:off x="6735928" y="4160520"/>
            <a:ext cx="2377440" cy="548640"/>
          </a:xfrm>
          <a:prstGeom prst="rect">
            <a:avLst/>
          </a:prstGeom>
          <a:noFill/>
          <a:ln/>
        </p:spPr>
        <p:txBody>
          <a:bodyPr wrap="square" lIns="0" tIns="0" rIns="0" bIns="0" rtlCol="0" anchor="ctr"/>
          <a:lstStyle/>
          <a:p>
            <a:pPr algn="l" indent="0" marL="0">
              <a:buNone/>
            </a:pPr>
            <a:r>
              <a:rPr lang="en-US" sz="1300" dirty="0">
                <a:solidFill>
                  <a:srgbClr val="5F7368"/>
                </a:solidFill>
                <a:latin typeface="JetBrains Mono" pitchFamily="34" charset="0"/>
                <a:ea typeface="JetBrains Mono" pitchFamily="34" charset="-122"/>
                <a:cs typeface="JetBrains Mono" pitchFamily="34" charset="-120"/>
              </a:rPr>
              <a:t>choice: </a:t>
            </a:r>
            <a:r>
              <a:rPr lang="en-US" sz="1300" dirty="0">
                <a:solidFill>
                  <a:srgbClr val="2B3138"/>
                </a:solidFill>
                <a:latin typeface="JetBrains Mono" pitchFamily="34" charset="0"/>
                <a:ea typeface="JetBrains Mono" pitchFamily="34" charset="-122"/>
                <a:cs typeface="JetBrains Mono" pitchFamily="34" charset="-120"/>
              </a:rPr>
              <a:t>select_hotel</a:t>
            </a:r>
            <a:endParaRPr lang="en-US" sz="1300" dirty="0"/>
          </a:p>
        </p:txBody>
      </p:sp>
      <p:pic>
        <p:nvPicPr>
          <p:cNvPr id="15" name="Image 1" descr="/home/claude/b2/FiCheck_g.png">    </p:cNvPr>
          <p:cNvPicPr>
            <a:picLocks noChangeAspect="1"/>
          </p:cNvPicPr>
          <p:nvPr/>
        </p:nvPicPr>
        <p:blipFill>
          <a:blip r:embed="rId2"/>
          <a:stretch>
            <a:fillRect/>
          </a:stretch>
        </p:blipFill>
        <p:spPr>
          <a:xfrm>
            <a:off x="11021263" y="4297680"/>
            <a:ext cx="274320" cy="274320"/>
          </a:xfrm>
          <a:prstGeom prst="rect">
            <a:avLst/>
          </a:prstGeom>
        </p:spPr>
      </p:pic>
      <p:sp>
        <p:nvSpPr>
          <p:cNvPr id="16" name="Text 11"/>
          <p:cNvSpPr txBox="1"/>
          <p:nvPr/>
        </p:nvSpPr>
        <p:spPr>
          <a:xfrm>
            <a:off x="8884768" y="4160520"/>
            <a:ext cx="2045056" cy="548640"/>
          </a:xfrm>
          <a:prstGeom prst="rect">
            <a:avLst/>
          </a:prstGeom>
          <a:noFill/>
          <a:ln/>
        </p:spPr>
        <p:txBody>
          <a:bodyPr wrap="square" lIns="0" tIns="0" rIns="0" bIns="0" rtlCol="0" anchor="ctr"/>
          <a:lstStyle/>
          <a:p>
            <a:pPr rtl="1" algn="r" indent="0" marL="0">
              <a:buNone/>
            </a:pPr>
            <a:r>
              <a:rPr lang="he-IL" altLang="en-US" sz="1400" b="1" dirty="0">
                <a:solidFill>
                  <a:srgbClr val="5F7368"/>
                </a:solidFill>
                <a:latin typeface="Instrument Sans" pitchFamily="34" charset="0"/>
                <a:ea typeface="Instrument Sans" pitchFamily="34" charset="-122"/>
                <a:cs typeface="Assistant" pitchFamily="34" charset="-120"/>
              </a:rPr>
              <a:t>המזהה קיים ברשימה</a:t>
            </a:r>
            <a:endParaRPr lang="he-IL" sz="1400" dirty="0"/>
          </a:p>
        </p:txBody>
      </p:sp>
      <p:sp>
        <p:nvSpPr>
          <p:cNvPr id="17" name="Text 12"/>
          <p:cNvSpPr txBox="1"/>
          <p:nvPr/>
        </p:nvSpPr>
        <p:spPr>
          <a:xfrm>
            <a:off x="758952" y="2514600"/>
            <a:ext cx="4925416" cy="777240"/>
          </a:xfrm>
          <a:prstGeom prst="rect">
            <a:avLst/>
          </a:prstGeom>
          <a:noFill/>
          <a:ln/>
        </p:spPr>
        <p:txBody>
          <a:bodyPr wrap="square" lIns="0" tIns="0" rIns="0" bIns="0" rtlCol="0" anchor="ctr"/>
          <a:lstStyle/>
          <a:p>
            <a:pPr rtl="1" algn="r" indent="0" marL="0">
              <a:buNone/>
            </a:pPr>
            <a:r>
              <a:rPr lang="he-IL" altLang="en-US" sz="4600" dirty="0">
                <a:solidFill>
                  <a:srgbClr val="2B3138"/>
                </a:solidFill>
                <a:latin typeface="Fraunces" pitchFamily="34" charset="0"/>
                <a:ea typeface="Fraunces" pitchFamily="34" charset="-122"/>
                <a:cs typeface="Frank Ruhl Libre" pitchFamily="34" charset="-120"/>
              </a:rPr>
              <a:t>נכונה</a:t>
            </a:r>
            <a:endParaRPr lang="he-IL" sz="4600" dirty="0"/>
          </a:p>
        </p:txBody>
      </p:sp>
      <p:sp>
        <p:nvSpPr>
          <p:cNvPr id="18" name="Text 13"/>
          <p:cNvSpPr txBox="1"/>
          <p:nvPr/>
        </p:nvSpPr>
        <p:spPr>
          <a:xfrm>
            <a:off x="758952" y="3337560"/>
            <a:ext cx="4925416" cy="347472"/>
          </a:xfrm>
          <a:prstGeom prst="rect">
            <a:avLst/>
          </a:prstGeom>
          <a:noFill/>
          <a:ln/>
        </p:spPr>
        <p:txBody>
          <a:bodyPr wrap="square" lIns="0" tIns="0" rIns="0" bIns="0" rtlCol="0" anchor="t"/>
          <a:lstStyle/>
          <a:p>
            <a:pPr rtl="1" algn="r" indent="0" marL="0">
              <a:buNone/>
            </a:pPr>
            <a:r>
              <a:rPr lang="he-IL" altLang="en-US" sz="1800" b="1" dirty="0">
                <a:solidFill>
                  <a:srgbClr val="2B3138"/>
                </a:solidFill>
                <a:latin typeface="Instrument Sans" pitchFamily="34" charset="0"/>
                <a:ea typeface="Instrument Sans" pitchFamily="34" charset="-122"/>
                <a:cs typeface="Assistant" pitchFamily="34" charset="-120"/>
              </a:rPr>
              <a:t>מתאימה למטרה</a:t>
            </a:r>
            <a:endParaRPr lang="he-IL" sz="1800" dirty="0"/>
          </a:p>
        </p:txBody>
      </p:sp>
      <p:sp>
        <p:nvSpPr>
          <p:cNvPr id="19" name="Text 14"/>
          <p:cNvSpPr txBox="1"/>
          <p:nvPr/>
        </p:nvSpPr>
        <p:spPr>
          <a:xfrm>
            <a:off x="758952" y="3685032"/>
            <a:ext cx="4925416" cy="310896"/>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וגם למצב הנוכחי</a:t>
            </a:r>
            <a:endParaRPr lang="he-IL" sz="1500" dirty="0"/>
          </a:p>
        </p:txBody>
      </p:sp>
      <p:sp>
        <p:nvSpPr>
          <p:cNvPr id="20" name="Shape 15"/>
          <p:cNvSpPr/>
          <p:nvPr/>
        </p:nvSpPr>
        <p:spPr>
          <a:xfrm>
            <a:off x="758952" y="4160520"/>
            <a:ext cx="4925416" cy="548640"/>
          </a:xfrm>
          <a:prstGeom prst="rect">
            <a:avLst/>
          </a:prstGeom>
          <a:solidFill>
            <a:srgbClr val="F3EDE2"/>
          </a:solidFill>
          <a:ln w="9525">
            <a:solidFill>
              <a:srgbClr val="D8D2C6"/>
            </a:solidFill>
            <a:prstDash val="solid"/>
          </a:ln>
        </p:spPr>
      </p:sp>
      <p:sp>
        <p:nvSpPr>
          <p:cNvPr id="21" name="Text 16"/>
          <p:cNvSpPr txBox="1"/>
          <p:nvPr/>
        </p:nvSpPr>
        <p:spPr>
          <a:xfrm>
            <a:off x="987552" y="4160520"/>
            <a:ext cx="2377440" cy="548640"/>
          </a:xfrm>
          <a:prstGeom prst="rect">
            <a:avLst/>
          </a:prstGeom>
          <a:noFill/>
          <a:ln/>
        </p:spPr>
        <p:txBody>
          <a:bodyPr wrap="square" lIns="0" tIns="0" rIns="0" bIns="0" rtlCol="0" anchor="ctr"/>
          <a:lstStyle/>
          <a:p>
            <a:pPr algn="l" indent="0" marL="0">
              <a:buNone/>
            </a:pPr>
            <a:r>
              <a:rPr lang="en-US" sz="1300" dirty="0">
                <a:solidFill>
                  <a:srgbClr val="5F7368"/>
                </a:solidFill>
                <a:latin typeface="JetBrains Mono" pitchFamily="34" charset="0"/>
                <a:ea typeface="JetBrains Mono" pitchFamily="34" charset="-122"/>
                <a:cs typeface="JetBrains Mono" pitchFamily="34" charset="-120"/>
              </a:rPr>
              <a:t>choice: </a:t>
            </a:r>
            <a:r>
              <a:rPr lang="en-US" sz="1300" dirty="0">
                <a:solidFill>
                  <a:srgbClr val="2B3138"/>
                </a:solidFill>
                <a:latin typeface="JetBrains Mono" pitchFamily="34" charset="0"/>
                <a:ea typeface="JetBrains Mono" pitchFamily="34" charset="-122"/>
                <a:cs typeface="JetBrains Mono" pitchFamily="34" charset="-120"/>
              </a:rPr>
              <a:t>select_hotel</a:t>
            </a:r>
            <a:endParaRPr lang="en-US" sz="1300" dirty="0"/>
          </a:p>
        </p:txBody>
      </p:sp>
      <p:pic>
        <p:nvPicPr>
          <p:cNvPr id="22" name="Image 2" descr="/home/claude/b2/FiX_r.png">    </p:cNvPr>
          <p:cNvPicPr>
            <a:picLocks noChangeAspect="1"/>
          </p:cNvPicPr>
          <p:nvPr/>
        </p:nvPicPr>
        <p:blipFill>
          <a:blip r:embed="rId3"/>
          <a:stretch>
            <a:fillRect/>
          </a:stretch>
        </p:blipFill>
        <p:spPr>
          <a:xfrm>
            <a:off x="5272888" y="4297680"/>
            <a:ext cx="274320" cy="274320"/>
          </a:xfrm>
          <a:prstGeom prst="rect">
            <a:avLst/>
          </a:prstGeom>
        </p:spPr>
      </p:pic>
      <p:sp>
        <p:nvSpPr>
          <p:cNvPr id="23" name="Text 17"/>
          <p:cNvSpPr txBox="1"/>
          <p:nvPr/>
        </p:nvSpPr>
        <p:spPr>
          <a:xfrm>
            <a:off x="3136392" y="4160520"/>
            <a:ext cx="2045056" cy="548640"/>
          </a:xfrm>
          <a:prstGeom prst="rect">
            <a:avLst/>
          </a:prstGeom>
          <a:noFill/>
          <a:ln/>
        </p:spPr>
        <p:txBody>
          <a:bodyPr wrap="square" lIns="0" tIns="0" rIns="0" bIns="0" rtlCol="0" anchor="ctr"/>
          <a:lstStyle/>
          <a:p>
            <a:pPr rtl="1" algn="r" indent="0" marL="0">
              <a:buNone/>
            </a:pPr>
            <a:r>
              <a:rPr lang="he-IL" altLang="en-US" sz="1400" b="1" dirty="0">
                <a:solidFill>
                  <a:srgbClr val="A6423F"/>
                </a:solidFill>
                <a:latin typeface="Instrument Sans" pitchFamily="34" charset="0"/>
                <a:ea typeface="Instrument Sans" pitchFamily="34" charset="-122"/>
                <a:cs typeface="Assistant" pitchFamily="34" charset="-120"/>
              </a:rPr>
              <a:t>אבל מלון B לא נגיש</a:t>
            </a:r>
            <a:endParaRPr lang="he-IL" sz="1400" dirty="0"/>
          </a:p>
        </p:txBody>
      </p:sp>
      <p:sp>
        <p:nvSpPr>
          <p:cNvPr id="24" name="Shape 18"/>
          <p:cNvSpPr/>
          <p:nvPr/>
        </p:nvSpPr>
        <p:spPr>
          <a:xfrm>
            <a:off x="758952" y="5029200"/>
            <a:ext cx="10673791" cy="0"/>
          </a:xfrm>
          <a:prstGeom prst="line">
            <a:avLst/>
          </a:prstGeom>
          <a:noFill/>
          <a:ln w="9525">
            <a:solidFill>
              <a:srgbClr val="E4E0D6"/>
            </a:solidFill>
            <a:prstDash val="solid"/>
          </a:ln>
        </p:spPr>
      </p:sp>
      <p:sp>
        <p:nvSpPr>
          <p:cNvPr id="25" name="Text 19"/>
          <p:cNvSpPr txBox="1"/>
          <p:nvPr/>
        </p:nvSpPr>
        <p:spPr>
          <a:xfrm>
            <a:off x="758952" y="5166360"/>
            <a:ext cx="10673791" cy="502920"/>
          </a:xfrm>
          <a:prstGeom prst="rect">
            <a:avLst/>
          </a:prstGeom>
          <a:noFill/>
          <a:ln/>
        </p:spPr>
        <p:txBody>
          <a:bodyPr wrap="square" lIns="0" tIns="0" rIns="0" bIns="0" rtlCol="0" anchor="ctr"/>
          <a:lstStyle/>
          <a:p>
            <a:pPr rtl="1" algn="r" indent="0" marL="0">
              <a:buNone/>
            </a:pPr>
            <a:r>
              <a:rPr lang="he-IL" altLang="en-US" sz="2500" dirty="0">
                <a:solidFill>
                  <a:srgbClr val="2B3138"/>
                </a:solidFill>
                <a:latin typeface="Fraunces" pitchFamily="34" charset="0"/>
                <a:ea typeface="Fraunces" pitchFamily="34" charset="-122"/>
                <a:cs typeface="Frank Ruhl Libre" pitchFamily="34" charset="-120"/>
              </a:rPr>
              <a:t>גם confidence גבוה לא מחליף בדיקה.</a:t>
            </a:r>
            <a:endParaRPr lang="he-IL" sz="2500" dirty="0"/>
          </a:p>
        </p:txBody>
      </p:sp>
      <p:sp>
        <p:nvSpPr>
          <p:cNvPr id="26" name="Text 20"/>
          <p:cNvSpPr txBox="1"/>
          <p:nvPr/>
        </p:nvSpPr>
        <p:spPr>
          <a:xfrm>
            <a:off x="758952" y="5687568"/>
            <a:ext cx="10673791" cy="320040"/>
          </a:xfrm>
          <a:prstGeom prst="rect">
            <a:avLst/>
          </a:prstGeom>
          <a:noFill/>
          <a:ln/>
        </p:spPr>
        <p:txBody>
          <a:bodyPr wrap="square" lIns="0" tIns="0" rIns="0" bIns="0" rtlCol="0" anchor="t"/>
          <a:lstStyle/>
          <a:p>
            <a:pPr rtl="1" algn="r" indent="0" marL="0">
              <a:buNone/>
            </a:pPr>
            <a:r>
              <a:rPr lang="he-IL" altLang="en-US" sz="1500" dirty="0">
                <a:solidFill>
                  <a:srgbClr val="5A6067"/>
                </a:solidFill>
                <a:latin typeface="Instrument Sans" pitchFamily="34" charset="0"/>
                <a:ea typeface="Instrument Sans" pitchFamily="34" charset="-122"/>
                <a:cs typeface="Assistant" pitchFamily="34" charset="-120"/>
              </a:rPr>
              <a:t>ביטחון גבוה אומר שהמודל בטוח, לא שהוא צודק.</a:t>
            </a:r>
            <a:endParaRPr lang="he-IL" sz="1500" dirty="0"/>
          </a:p>
        </p:txBody>
      </p:sp>
      <p:sp>
        <p:nvSpPr>
          <p:cNvPr id="27" name="Text 21"/>
          <p:cNvSpPr txBox="1"/>
          <p:nvPr/>
        </p:nvSpPr>
        <p:spPr>
          <a:xfrm>
            <a:off x="6860743" y="6336792"/>
            <a:ext cx="4572000" cy="256032"/>
          </a:xfrm>
          <a:prstGeom prst="rect">
            <a:avLst/>
          </a:prstGeom>
          <a:noFill/>
          <a:ln/>
        </p:spPr>
        <p:txBody>
          <a:bodyPr wrap="square" lIns="0" tIns="0" rIns="0" bIns="0" rtlCol="0" anchor="ctr"/>
          <a:lstStyle/>
          <a:p>
            <a:pPr rtl="1" algn="r" indent="0" marL="0">
              <a:buNone/>
            </a:pPr>
            <a:r>
              <a:rPr lang="he-IL" altLang="en-US" sz="1100" dirty="0">
                <a:solidFill>
                  <a:srgbClr val="8B8F93"/>
                </a:solidFill>
                <a:latin typeface="Instrument Sans" pitchFamily="34" charset="0"/>
                <a:ea typeface="Instrument Sans" pitchFamily="34" charset="-122"/>
                <a:cs typeface="Assistant" pitchFamily="34" charset="-120"/>
              </a:rPr>
              <a:t>מתכנן</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b="1" dirty="0">
                <a:solidFill>
                  <a:srgbClr val="5F7368"/>
                </a:solidFill>
                <a:latin typeface="Instrument Sans" pitchFamily="34" charset="0"/>
                <a:ea typeface="Instrument Sans" pitchFamily="34" charset="-122"/>
                <a:cs typeface="Assistant" pitchFamily="34" charset="-120"/>
              </a:rPr>
              <a:t>Jev</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הקוד שלנו</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דפדפן</a:t>
            </a:r>
            <a:endParaRPr lang="he-IL"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12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איפה AWS בתמונה?</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Shape 4"/>
          <p:cNvSpPr/>
          <p:nvPr/>
        </p:nvSpPr>
        <p:spPr>
          <a:xfrm>
            <a:off x="9101023" y="2103120"/>
            <a:ext cx="2331720" cy="2011680"/>
          </a:xfrm>
          <a:prstGeom prst="rect">
            <a:avLst/>
          </a:prstGeom>
          <a:solidFill>
            <a:srgbClr val="FAF6EF"/>
          </a:solidFill>
          <a:ln w="9525">
            <a:solidFill>
              <a:srgbClr val="D8D2C6"/>
            </a:solidFill>
            <a:prstDash val="solid"/>
          </a:ln>
        </p:spPr>
      </p:sp>
      <p:sp>
        <p:nvSpPr>
          <p:cNvPr id="9" name="Text 5"/>
          <p:cNvSpPr txBox="1"/>
          <p:nvPr/>
        </p:nvSpPr>
        <p:spPr>
          <a:xfrm>
            <a:off x="9329623" y="2286000"/>
            <a:ext cx="1874520" cy="274320"/>
          </a:xfrm>
          <a:prstGeom prst="rect">
            <a:avLst/>
          </a:prstGeom>
          <a:noFill/>
          <a:ln/>
        </p:spPr>
        <p:txBody>
          <a:bodyPr wrap="square" lIns="0" tIns="0" rIns="0" bIns="0" rtlCol="0" anchor="t"/>
          <a:lstStyle/>
          <a:p>
            <a:pPr rtl="1" algn="r" indent="0" marL="0">
              <a:buNone/>
            </a:pPr>
            <a:r>
              <a:rPr lang="he-IL" altLang="en-US" sz="1300" b="1" dirty="0">
                <a:solidFill>
                  <a:srgbClr val="5F7368"/>
                </a:solidFill>
                <a:latin typeface="Instrument Sans" pitchFamily="34" charset="0"/>
                <a:ea typeface="Instrument Sans" pitchFamily="34" charset="-122"/>
                <a:cs typeface="Assistant" pitchFamily="34" charset="-120"/>
              </a:rPr>
              <a:t>מתכנן</a:t>
            </a:r>
            <a:endParaRPr lang="he-IL" sz="1300" dirty="0"/>
          </a:p>
        </p:txBody>
      </p:sp>
      <p:sp>
        <p:nvSpPr>
          <p:cNvPr id="10" name="Shape 6"/>
          <p:cNvSpPr/>
          <p:nvPr/>
        </p:nvSpPr>
        <p:spPr>
          <a:xfrm>
            <a:off x="9302191" y="2286000"/>
            <a:ext cx="502920" cy="256032"/>
          </a:xfrm>
          <a:prstGeom prst="rect">
            <a:avLst/>
          </a:prstGeom>
          <a:solidFill>
            <a:srgbClr val="FAF6EF"/>
          </a:solidFill>
          <a:ln w="9525">
            <a:solidFill>
              <a:srgbClr val="5F7368"/>
            </a:solidFill>
            <a:prstDash val="solid"/>
          </a:ln>
        </p:spPr>
      </p:sp>
      <p:sp>
        <p:nvSpPr>
          <p:cNvPr id="11" name="Text 7"/>
          <p:cNvSpPr txBox="1"/>
          <p:nvPr/>
        </p:nvSpPr>
        <p:spPr>
          <a:xfrm>
            <a:off x="9302191" y="2286000"/>
            <a:ext cx="502920" cy="256032"/>
          </a:xfrm>
          <a:prstGeom prst="rect">
            <a:avLst/>
          </a:prstGeom>
          <a:noFill/>
          <a:ln/>
        </p:spPr>
        <p:txBody>
          <a:bodyPr wrap="square" lIns="0" tIns="0" rIns="0" bIns="0" rtlCol="0" anchor="ctr"/>
          <a:lstStyle/>
          <a:p>
            <a:pPr algn="ctr" indent="0" marL="0">
              <a:buNone/>
            </a:pPr>
            <a:r>
              <a:rPr lang="en-US" sz="950" b="1" dirty="0">
                <a:solidFill>
                  <a:srgbClr val="5F7368"/>
                </a:solidFill>
                <a:latin typeface="Instrument Sans" pitchFamily="34" charset="0"/>
                <a:ea typeface="Instrument Sans" pitchFamily="34" charset="-122"/>
                <a:cs typeface="Assistant" pitchFamily="34" charset="-120"/>
              </a:rPr>
              <a:t>AWS</a:t>
            </a:r>
            <a:endParaRPr lang="en-US" sz="950" dirty="0"/>
          </a:p>
        </p:txBody>
      </p:sp>
      <p:sp>
        <p:nvSpPr>
          <p:cNvPr id="12" name="Text 8"/>
          <p:cNvSpPr txBox="1"/>
          <p:nvPr/>
        </p:nvSpPr>
        <p:spPr>
          <a:xfrm>
            <a:off x="9329623" y="2633472"/>
            <a:ext cx="1874520" cy="566928"/>
          </a:xfrm>
          <a:prstGeom prst="rect">
            <a:avLst/>
          </a:prstGeom>
          <a:noFill/>
          <a:ln/>
        </p:spPr>
        <p:txBody>
          <a:bodyPr wrap="square" lIns="0" tIns="0" rIns="0" bIns="0" rtlCol="0" anchor="t"/>
          <a:lstStyle/>
          <a:p>
            <a:pPr algn="r" indent="0" marL="0">
              <a:buNone/>
            </a:pPr>
            <a:r>
              <a:rPr lang="en-US" sz="1500" b="1" dirty="0">
                <a:solidFill>
                  <a:srgbClr val="2B3138"/>
                </a:solidFill>
                <a:latin typeface="Instrument Sans" pitchFamily="34" charset="0"/>
                <a:ea typeface="Instrument Sans" pitchFamily="34" charset="-122"/>
                <a:cs typeface="Assistant" pitchFamily="34" charset="-120"/>
              </a:rPr>
              <a:t>Strands  ·  Bedrock</a:t>
            </a:r>
            <a:endParaRPr lang="en-US" sz="1500" dirty="0"/>
          </a:p>
        </p:txBody>
      </p:sp>
      <p:sp>
        <p:nvSpPr>
          <p:cNvPr id="13" name="Text 9"/>
          <p:cNvSpPr txBox="1"/>
          <p:nvPr/>
        </p:nvSpPr>
        <p:spPr>
          <a:xfrm>
            <a:off x="9329623" y="3273552"/>
            <a:ext cx="1874520" cy="320040"/>
          </a:xfrm>
          <a:prstGeom prst="rect">
            <a:avLst/>
          </a:prstGeom>
          <a:noFill/>
          <a:ln/>
        </p:spPr>
        <p:txBody>
          <a:bodyPr wrap="square" lIns="0" tIns="0" rIns="0" bIns="0" rtlCol="0" anchor="t"/>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מה המטרה עכשיו</a:t>
            </a:r>
            <a:endParaRPr lang="he-IL" sz="1500" dirty="0"/>
          </a:p>
        </p:txBody>
      </p:sp>
      <p:sp>
        <p:nvSpPr>
          <p:cNvPr id="14" name="Text 10"/>
          <p:cNvSpPr txBox="1"/>
          <p:nvPr/>
        </p:nvSpPr>
        <p:spPr>
          <a:xfrm>
            <a:off x="9329623" y="3621024"/>
            <a:ext cx="1874520" cy="365760"/>
          </a:xfrm>
          <a:prstGeom prst="rect">
            <a:avLst/>
          </a:prstGeom>
          <a:noFill/>
          <a:ln/>
        </p:spPr>
        <p:txBody>
          <a:bodyPr wrap="square" lIns="0" tIns="0" rIns="0" bIns="0" rtlCol="0" anchor="t"/>
          <a:lstStyle/>
          <a:p>
            <a:pPr rtl="1" algn="r" indent="0" marL="0">
              <a:buNone/>
            </a:pPr>
            <a:r>
              <a:rPr lang="he-IL" altLang="en-US" sz="1200" dirty="0">
                <a:solidFill>
                  <a:srgbClr val="5A6067"/>
                </a:solidFill>
                <a:latin typeface="Instrument Sans" pitchFamily="34" charset="0"/>
                <a:ea typeface="Instrument Sans" pitchFamily="34" charset="-122"/>
                <a:cs typeface="Assistant" pitchFamily="34" charset="-120"/>
              </a:rPr>
              <a:t>LLM שמנהל את תת־המשימה</a:t>
            </a:r>
            <a:endParaRPr lang="he-IL" sz="1200" dirty="0"/>
          </a:p>
        </p:txBody>
      </p:sp>
      <p:sp>
        <p:nvSpPr>
          <p:cNvPr id="15" name="Text 11"/>
          <p:cNvSpPr txBox="1"/>
          <p:nvPr/>
        </p:nvSpPr>
        <p:spPr>
          <a:xfrm>
            <a:off x="8652053" y="2103120"/>
            <a:ext cx="448970" cy="201168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16" name="Shape 12"/>
          <p:cNvSpPr/>
          <p:nvPr/>
        </p:nvSpPr>
        <p:spPr>
          <a:xfrm>
            <a:off x="6320333" y="2103120"/>
            <a:ext cx="2331720" cy="2011680"/>
          </a:xfrm>
          <a:prstGeom prst="rect">
            <a:avLst/>
          </a:prstGeom>
          <a:solidFill>
            <a:srgbClr val="F3EDE2"/>
          </a:solidFill>
          <a:ln w="15875">
            <a:solidFill>
              <a:srgbClr val="5F7368"/>
            </a:solidFill>
            <a:prstDash val="solid"/>
          </a:ln>
        </p:spPr>
      </p:sp>
      <p:sp>
        <p:nvSpPr>
          <p:cNvPr id="17" name="Text 13"/>
          <p:cNvSpPr txBox="1"/>
          <p:nvPr/>
        </p:nvSpPr>
        <p:spPr>
          <a:xfrm>
            <a:off x="6548933" y="2286000"/>
            <a:ext cx="1874520" cy="274320"/>
          </a:xfrm>
          <a:prstGeom prst="rect">
            <a:avLst/>
          </a:prstGeom>
          <a:noFill/>
          <a:ln/>
        </p:spPr>
        <p:txBody>
          <a:bodyPr wrap="square" lIns="0" tIns="0" rIns="0" bIns="0" rtlCol="0" anchor="t"/>
          <a:lstStyle/>
          <a:p>
            <a:pPr rtl="1" algn="r" indent="0" marL="0">
              <a:buNone/>
            </a:pPr>
            <a:r>
              <a:rPr lang="he-IL" altLang="en-US" sz="1300" b="1" dirty="0">
                <a:solidFill>
                  <a:srgbClr val="5F7368"/>
                </a:solidFill>
                <a:latin typeface="Instrument Sans" pitchFamily="34" charset="0"/>
                <a:ea typeface="Instrument Sans" pitchFamily="34" charset="-122"/>
                <a:cs typeface="Assistant" pitchFamily="34" charset="-120"/>
              </a:rPr>
              <a:t>בוחר</a:t>
            </a:r>
            <a:endParaRPr lang="he-IL" sz="1300" dirty="0"/>
          </a:p>
        </p:txBody>
      </p:sp>
      <p:sp>
        <p:nvSpPr>
          <p:cNvPr id="18" name="Text 14"/>
          <p:cNvSpPr txBox="1"/>
          <p:nvPr/>
        </p:nvSpPr>
        <p:spPr>
          <a:xfrm>
            <a:off x="6548933" y="2633472"/>
            <a:ext cx="1874520" cy="566928"/>
          </a:xfrm>
          <a:prstGeom prst="rect">
            <a:avLst/>
          </a:prstGeom>
          <a:noFill/>
          <a:ln/>
        </p:spPr>
        <p:txBody>
          <a:bodyPr wrap="square" lIns="0" tIns="0" rIns="0" bIns="0" rtlCol="0" anchor="t"/>
          <a:lstStyle/>
          <a:p>
            <a:pPr algn="r" indent="0" marL="0">
              <a:buNone/>
            </a:pPr>
            <a:r>
              <a:rPr lang="en-US" sz="1500" b="1" dirty="0">
                <a:solidFill>
                  <a:srgbClr val="2B3138"/>
                </a:solidFill>
                <a:latin typeface="Instrument Sans" pitchFamily="34" charset="0"/>
                <a:ea typeface="Instrument Sans" pitchFamily="34" charset="-122"/>
                <a:cs typeface="Assistant" pitchFamily="34" charset="-120"/>
              </a:rPr>
              <a:t>Jev</a:t>
            </a:r>
            <a:endParaRPr lang="en-US" sz="1500" dirty="0"/>
          </a:p>
        </p:txBody>
      </p:sp>
      <p:sp>
        <p:nvSpPr>
          <p:cNvPr id="19" name="Text 15"/>
          <p:cNvSpPr txBox="1"/>
          <p:nvPr/>
        </p:nvSpPr>
        <p:spPr>
          <a:xfrm>
            <a:off x="6548933" y="3273552"/>
            <a:ext cx="1874520" cy="320040"/>
          </a:xfrm>
          <a:prstGeom prst="rect">
            <a:avLst/>
          </a:prstGeom>
          <a:noFill/>
          <a:ln/>
        </p:spPr>
        <p:txBody>
          <a:bodyPr wrap="square" lIns="0" tIns="0" rIns="0" bIns="0" rtlCol="0" anchor="t"/>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איזו פעולה עכשיו</a:t>
            </a:r>
            <a:endParaRPr lang="he-IL" sz="1500" dirty="0"/>
          </a:p>
        </p:txBody>
      </p:sp>
      <p:sp>
        <p:nvSpPr>
          <p:cNvPr id="20" name="Text 16"/>
          <p:cNvSpPr txBox="1"/>
          <p:nvPr/>
        </p:nvSpPr>
        <p:spPr>
          <a:xfrm>
            <a:off x="6548933" y="3621024"/>
            <a:ext cx="1874520" cy="365760"/>
          </a:xfrm>
          <a:prstGeom prst="rect">
            <a:avLst/>
          </a:prstGeom>
          <a:noFill/>
          <a:ln/>
        </p:spPr>
        <p:txBody>
          <a:bodyPr wrap="square" lIns="0" tIns="0" rIns="0" bIns="0" rtlCol="0" anchor="t"/>
          <a:lstStyle/>
          <a:p>
            <a:pPr rtl="1" algn="r" indent="0" marL="0">
              <a:buNone/>
            </a:pPr>
            <a:r>
              <a:rPr lang="he-IL" altLang="en-US" sz="1200" dirty="0">
                <a:solidFill>
                  <a:srgbClr val="5A6067"/>
                </a:solidFill>
                <a:latin typeface="Instrument Sans" pitchFamily="34" charset="0"/>
                <a:ea typeface="Instrument Sans" pitchFamily="34" charset="-122"/>
                <a:cs typeface="Assistant" pitchFamily="34" charset="-120"/>
              </a:rPr>
              <a:t>מודל בחירה של TypeSafe AI</a:t>
            </a:r>
            <a:endParaRPr lang="he-IL" sz="1200" dirty="0"/>
          </a:p>
        </p:txBody>
      </p:sp>
      <p:sp>
        <p:nvSpPr>
          <p:cNvPr id="21" name="Text 17"/>
          <p:cNvSpPr txBox="1"/>
          <p:nvPr/>
        </p:nvSpPr>
        <p:spPr>
          <a:xfrm>
            <a:off x="5871362" y="2103120"/>
            <a:ext cx="448970" cy="201168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2" name="Shape 18"/>
          <p:cNvSpPr/>
          <p:nvPr/>
        </p:nvSpPr>
        <p:spPr>
          <a:xfrm>
            <a:off x="3539642" y="2103120"/>
            <a:ext cx="2331720" cy="2011680"/>
          </a:xfrm>
          <a:prstGeom prst="rect">
            <a:avLst/>
          </a:prstGeom>
          <a:solidFill>
            <a:srgbClr val="FAF6EF"/>
          </a:solidFill>
          <a:ln w="9525">
            <a:solidFill>
              <a:srgbClr val="D8D2C6"/>
            </a:solidFill>
            <a:prstDash val="solid"/>
          </a:ln>
        </p:spPr>
      </p:sp>
      <p:sp>
        <p:nvSpPr>
          <p:cNvPr id="23" name="Text 19"/>
          <p:cNvSpPr txBox="1"/>
          <p:nvPr/>
        </p:nvSpPr>
        <p:spPr>
          <a:xfrm>
            <a:off x="3768242" y="2286000"/>
            <a:ext cx="1874520" cy="274320"/>
          </a:xfrm>
          <a:prstGeom prst="rect">
            <a:avLst/>
          </a:prstGeom>
          <a:noFill/>
          <a:ln/>
        </p:spPr>
        <p:txBody>
          <a:bodyPr wrap="square" lIns="0" tIns="0" rIns="0" bIns="0" rtlCol="0" anchor="t"/>
          <a:lstStyle/>
          <a:p>
            <a:pPr rtl="1" algn="r" indent="0" marL="0">
              <a:buNone/>
            </a:pPr>
            <a:r>
              <a:rPr lang="he-IL" altLang="en-US" sz="1300" b="1" dirty="0">
                <a:solidFill>
                  <a:srgbClr val="5F7368"/>
                </a:solidFill>
                <a:latin typeface="Instrument Sans" pitchFamily="34" charset="0"/>
                <a:ea typeface="Instrument Sans" pitchFamily="34" charset="-122"/>
                <a:cs typeface="Assistant" pitchFamily="34" charset="-120"/>
              </a:rPr>
              <a:t>מבצע</a:t>
            </a:r>
            <a:endParaRPr lang="he-IL" sz="1300" dirty="0"/>
          </a:p>
        </p:txBody>
      </p:sp>
      <p:sp>
        <p:nvSpPr>
          <p:cNvPr id="24" name="Text 20"/>
          <p:cNvSpPr txBox="1"/>
          <p:nvPr/>
        </p:nvSpPr>
        <p:spPr>
          <a:xfrm>
            <a:off x="3768242" y="2633472"/>
            <a:ext cx="1874520" cy="566928"/>
          </a:xfrm>
          <a:prstGeom prst="rect">
            <a:avLst/>
          </a:prstGeom>
          <a:noFill/>
          <a:ln/>
        </p:spPr>
        <p:txBody>
          <a:bodyPr wrap="square" lIns="0" tIns="0" rIns="0" bIns="0" rtlCol="0" anchor="t"/>
          <a:lstStyle/>
          <a:p>
            <a:pPr rtl="1" algn="r" indent="0" marL="0">
              <a:buNone/>
            </a:pPr>
            <a:r>
              <a:rPr lang="he-IL" altLang="en-US" sz="1500" b="1" dirty="0">
                <a:solidFill>
                  <a:srgbClr val="2B3138"/>
                </a:solidFill>
                <a:latin typeface="Instrument Sans" pitchFamily="34" charset="0"/>
                <a:ea typeface="Instrument Sans" pitchFamily="34" charset="-122"/>
                <a:cs typeface="Assistant" pitchFamily="34" charset="-120"/>
              </a:rPr>
              <a:t>הקוד שלנו</a:t>
            </a:r>
            <a:endParaRPr lang="he-IL" sz="1500" dirty="0"/>
          </a:p>
        </p:txBody>
      </p:sp>
      <p:sp>
        <p:nvSpPr>
          <p:cNvPr id="25" name="Text 21"/>
          <p:cNvSpPr txBox="1"/>
          <p:nvPr/>
        </p:nvSpPr>
        <p:spPr>
          <a:xfrm>
            <a:off x="3768242" y="3273552"/>
            <a:ext cx="1874520" cy="320040"/>
          </a:xfrm>
          <a:prstGeom prst="rect">
            <a:avLst/>
          </a:prstGeom>
          <a:noFill/>
          <a:ln/>
        </p:spPr>
        <p:txBody>
          <a:bodyPr wrap="square" lIns="0" tIns="0" rIns="0" bIns="0" rtlCol="0" anchor="t"/>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מאמת ולוחץ</a:t>
            </a:r>
            <a:endParaRPr lang="he-IL" sz="1500" dirty="0"/>
          </a:p>
        </p:txBody>
      </p:sp>
      <p:sp>
        <p:nvSpPr>
          <p:cNvPr id="26" name="Text 22"/>
          <p:cNvSpPr txBox="1"/>
          <p:nvPr/>
        </p:nvSpPr>
        <p:spPr>
          <a:xfrm>
            <a:off x="3768242" y="3621024"/>
            <a:ext cx="1874520" cy="365760"/>
          </a:xfrm>
          <a:prstGeom prst="rect">
            <a:avLst/>
          </a:prstGeom>
          <a:noFill/>
          <a:ln/>
        </p:spPr>
        <p:txBody>
          <a:bodyPr wrap="square" lIns="0" tIns="0" rIns="0" bIns="0" rtlCol="0" anchor="t"/>
          <a:lstStyle/>
          <a:p>
            <a:pPr rtl="1" algn="r" indent="0" marL="0">
              <a:buNone/>
            </a:pPr>
            <a:r>
              <a:rPr lang="he-IL" altLang="en-US" sz="1200" dirty="0">
                <a:solidFill>
                  <a:srgbClr val="5A6067"/>
                </a:solidFill>
                <a:latin typeface="Instrument Sans" pitchFamily="34" charset="0"/>
                <a:ea typeface="Instrument Sans" pitchFamily="34" charset="-122"/>
                <a:cs typeface="Assistant" pitchFamily="34" charset="-120"/>
              </a:rPr>
              <a:t>מפעיל את Playwright, הנהג</a:t>
            </a:r>
            <a:endParaRPr lang="he-IL" sz="1200" dirty="0"/>
          </a:p>
        </p:txBody>
      </p:sp>
      <p:sp>
        <p:nvSpPr>
          <p:cNvPr id="27" name="Text 23"/>
          <p:cNvSpPr txBox="1"/>
          <p:nvPr/>
        </p:nvSpPr>
        <p:spPr>
          <a:xfrm>
            <a:off x="3090672" y="2103120"/>
            <a:ext cx="448970" cy="201168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8" name="Shape 24"/>
          <p:cNvSpPr/>
          <p:nvPr/>
        </p:nvSpPr>
        <p:spPr>
          <a:xfrm>
            <a:off x="758952" y="2103120"/>
            <a:ext cx="2331720" cy="2011680"/>
          </a:xfrm>
          <a:prstGeom prst="rect">
            <a:avLst/>
          </a:prstGeom>
          <a:solidFill>
            <a:srgbClr val="FAF6EF"/>
          </a:solidFill>
          <a:ln w="9525">
            <a:solidFill>
              <a:srgbClr val="D8D2C6"/>
            </a:solidFill>
            <a:prstDash val="solid"/>
          </a:ln>
        </p:spPr>
      </p:sp>
      <p:sp>
        <p:nvSpPr>
          <p:cNvPr id="29" name="Text 25"/>
          <p:cNvSpPr txBox="1"/>
          <p:nvPr/>
        </p:nvSpPr>
        <p:spPr>
          <a:xfrm>
            <a:off x="987552" y="2286000"/>
            <a:ext cx="1874520" cy="274320"/>
          </a:xfrm>
          <a:prstGeom prst="rect">
            <a:avLst/>
          </a:prstGeom>
          <a:noFill/>
          <a:ln/>
        </p:spPr>
        <p:txBody>
          <a:bodyPr wrap="square" lIns="0" tIns="0" rIns="0" bIns="0" rtlCol="0" anchor="t"/>
          <a:lstStyle/>
          <a:p>
            <a:pPr rtl="1" algn="r" indent="0" marL="0">
              <a:buNone/>
            </a:pPr>
            <a:r>
              <a:rPr lang="he-IL" altLang="en-US" sz="1300" b="1" dirty="0">
                <a:solidFill>
                  <a:srgbClr val="5F7368"/>
                </a:solidFill>
                <a:latin typeface="Instrument Sans" pitchFamily="34" charset="0"/>
                <a:ea typeface="Instrument Sans" pitchFamily="34" charset="-122"/>
                <a:cs typeface="Assistant" pitchFamily="34" charset="-120"/>
              </a:rPr>
              <a:t>דפדפן</a:t>
            </a:r>
            <a:endParaRPr lang="he-IL" sz="1300" dirty="0"/>
          </a:p>
        </p:txBody>
      </p:sp>
      <p:sp>
        <p:nvSpPr>
          <p:cNvPr id="30" name="Shape 26"/>
          <p:cNvSpPr/>
          <p:nvPr/>
        </p:nvSpPr>
        <p:spPr>
          <a:xfrm>
            <a:off x="960120" y="2286000"/>
            <a:ext cx="502920" cy="256032"/>
          </a:xfrm>
          <a:prstGeom prst="rect">
            <a:avLst/>
          </a:prstGeom>
          <a:solidFill>
            <a:srgbClr val="FAF6EF"/>
          </a:solidFill>
          <a:ln w="9525">
            <a:solidFill>
              <a:srgbClr val="5F7368"/>
            </a:solidFill>
            <a:prstDash val="solid"/>
          </a:ln>
        </p:spPr>
      </p:sp>
      <p:sp>
        <p:nvSpPr>
          <p:cNvPr id="31" name="Text 27"/>
          <p:cNvSpPr txBox="1"/>
          <p:nvPr/>
        </p:nvSpPr>
        <p:spPr>
          <a:xfrm>
            <a:off x="960120" y="2286000"/>
            <a:ext cx="502920" cy="256032"/>
          </a:xfrm>
          <a:prstGeom prst="rect">
            <a:avLst/>
          </a:prstGeom>
          <a:noFill/>
          <a:ln/>
        </p:spPr>
        <p:txBody>
          <a:bodyPr wrap="square" lIns="0" tIns="0" rIns="0" bIns="0" rtlCol="0" anchor="ctr"/>
          <a:lstStyle/>
          <a:p>
            <a:pPr algn="ctr" indent="0" marL="0">
              <a:buNone/>
            </a:pPr>
            <a:r>
              <a:rPr lang="en-US" sz="950" b="1" dirty="0">
                <a:solidFill>
                  <a:srgbClr val="5F7368"/>
                </a:solidFill>
                <a:latin typeface="Instrument Sans" pitchFamily="34" charset="0"/>
                <a:ea typeface="Instrument Sans" pitchFamily="34" charset="-122"/>
                <a:cs typeface="Assistant" pitchFamily="34" charset="-120"/>
              </a:rPr>
              <a:t>AWS</a:t>
            </a:r>
            <a:endParaRPr lang="en-US" sz="950" dirty="0"/>
          </a:p>
        </p:txBody>
      </p:sp>
      <p:sp>
        <p:nvSpPr>
          <p:cNvPr id="32" name="Text 28"/>
          <p:cNvSpPr txBox="1"/>
          <p:nvPr/>
        </p:nvSpPr>
        <p:spPr>
          <a:xfrm>
            <a:off x="987552" y="2633472"/>
            <a:ext cx="1874520" cy="566928"/>
          </a:xfrm>
          <a:prstGeom prst="rect">
            <a:avLst/>
          </a:prstGeom>
          <a:noFill/>
          <a:ln/>
        </p:spPr>
        <p:txBody>
          <a:bodyPr wrap="square" lIns="0" tIns="0" rIns="0" bIns="0" rtlCol="0" anchor="t"/>
          <a:lstStyle/>
          <a:p>
            <a:pPr algn="r" indent="0" marL="0">
              <a:buNone/>
            </a:pPr>
            <a:r>
              <a:rPr lang="en-US" sz="1500" b="1" dirty="0">
                <a:solidFill>
                  <a:srgbClr val="2B3138"/>
                </a:solidFill>
                <a:latin typeface="Instrument Sans" pitchFamily="34" charset="0"/>
                <a:ea typeface="Instrument Sans" pitchFamily="34" charset="-122"/>
                <a:cs typeface="Assistant" pitchFamily="34" charset="-120"/>
              </a:rPr>
              <a:t>AgentCore Browser</a:t>
            </a:r>
            <a:endParaRPr lang="en-US" sz="1500" dirty="0"/>
          </a:p>
        </p:txBody>
      </p:sp>
      <p:sp>
        <p:nvSpPr>
          <p:cNvPr id="33" name="Text 29"/>
          <p:cNvSpPr txBox="1"/>
          <p:nvPr/>
        </p:nvSpPr>
        <p:spPr>
          <a:xfrm>
            <a:off x="987552" y="3273552"/>
            <a:ext cx="1874520" cy="320040"/>
          </a:xfrm>
          <a:prstGeom prst="rect">
            <a:avLst/>
          </a:prstGeom>
          <a:noFill/>
          <a:ln/>
        </p:spPr>
        <p:txBody>
          <a:bodyPr wrap="square" lIns="0" tIns="0" rIns="0" bIns="0" rtlCol="0" anchor="t"/>
          <a:lstStyle/>
          <a:p>
            <a:pPr rtl="1" algn="r" indent="0" marL="0">
              <a:buNone/>
            </a:pPr>
            <a:r>
              <a:rPr lang="he-IL" altLang="en-US" sz="1500" dirty="0">
                <a:solidFill>
                  <a:srgbClr val="2B3138"/>
                </a:solidFill>
                <a:latin typeface="Instrument Sans" pitchFamily="34" charset="0"/>
                <a:ea typeface="Instrument Sans" pitchFamily="34" charset="-122"/>
                <a:cs typeface="Assistant" pitchFamily="34" charset="-120"/>
              </a:rPr>
              <a:t>דפדפן מנוהל בענן</a:t>
            </a:r>
            <a:endParaRPr lang="he-IL" sz="1500" dirty="0"/>
          </a:p>
        </p:txBody>
      </p:sp>
      <p:sp>
        <p:nvSpPr>
          <p:cNvPr id="34" name="Text 30"/>
          <p:cNvSpPr txBox="1"/>
          <p:nvPr/>
        </p:nvSpPr>
        <p:spPr>
          <a:xfrm>
            <a:off x="987552" y="3621024"/>
            <a:ext cx="1874520" cy="365760"/>
          </a:xfrm>
          <a:prstGeom prst="rect">
            <a:avLst/>
          </a:prstGeom>
          <a:noFill/>
          <a:ln/>
        </p:spPr>
        <p:txBody>
          <a:bodyPr wrap="square" lIns="0" tIns="0" rIns="0" bIns="0" rtlCol="0" anchor="t"/>
          <a:lstStyle/>
          <a:p>
            <a:pPr rtl="1" algn="r" indent="0" marL="0">
              <a:buNone/>
            </a:pPr>
            <a:r>
              <a:rPr lang="he-IL" altLang="en-US" sz="1200" dirty="0">
                <a:solidFill>
                  <a:srgbClr val="5A6067"/>
                </a:solidFill>
                <a:latin typeface="Instrument Sans" pitchFamily="34" charset="0"/>
                <a:ea typeface="Instrument Sans" pitchFamily="34" charset="-122"/>
                <a:cs typeface="Assistant" pitchFamily="34" charset="-120"/>
              </a:rPr>
              <a:t>הרכב. Live View לצפייה חיה</a:t>
            </a:r>
            <a:endParaRPr lang="he-IL" sz="1200" dirty="0"/>
          </a:p>
        </p:txBody>
      </p:sp>
      <p:sp>
        <p:nvSpPr>
          <p:cNvPr id="35" name="Text 31"/>
          <p:cNvSpPr txBox="1"/>
          <p:nvPr/>
        </p:nvSpPr>
        <p:spPr>
          <a:xfrm>
            <a:off x="758952" y="4251960"/>
            <a:ext cx="10673791" cy="292608"/>
          </a:xfrm>
          <a:prstGeom prst="rect">
            <a:avLst/>
          </a:prstGeom>
          <a:noFill/>
          <a:ln/>
        </p:spPr>
        <p:txBody>
          <a:bodyPr wrap="square" lIns="0" tIns="0" rIns="0" bIns="0" rtlCol="0" anchor="t"/>
          <a:lstStyle/>
          <a:p>
            <a:pPr rtl="1" algn="r" indent="0" marL="0">
              <a:buNone/>
            </a:pPr>
            <a:r>
              <a:rPr lang="he-IL" altLang="en-US" sz="1300" dirty="0">
                <a:solidFill>
                  <a:srgbClr val="8B8F93"/>
                </a:solidFill>
                <a:latin typeface="Instrument Sans" pitchFamily="34" charset="0"/>
                <a:ea typeface="Instrument Sans" pitchFamily="34" charset="-122"/>
                <a:cs typeface="Assistant" pitchFamily="34" charset="-120"/>
              </a:rPr>
              <a:t>המצב החדש חוזר ל-Jev. כשתת־המשימה מסתיימת, חוזרים למתכנן.</a:t>
            </a:r>
            <a:endParaRPr lang="he-IL" sz="1300" dirty="0"/>
          </a:p>
        </p:txBody>
      </p:sp>
      <p:sp>
        <p:nvSpPr>
          <p:cNvPr id="36" name="Shape 32"/>
          <p:cNvSpPr/>
          <p:nvPr/>
        </p:nvSpPr>
        <p:spPr>
          <a:xfrm>
            <a:off x="758952" y="4572000"/>
            <a:ext cx="10673791" cy="685800"/>
          </a:xfrm>
          <a:prstGeom prst="rect">
            <a:avLst/>
          </a:prstGeom>
          <a:solidFill>
            <a:srgbClr val="F3EDE2"/>
          </a:solidFill>
          <a:ln/>
        </p:spPr>
      </p:sp>
      <p:sp>
        <p:nvSpPr>
          <p:cNvPr id="37" name="Shape 33"/>
          <p:cNvSpPr/>
          <p:nvPr/>
        </p:nvSpPr>
        <p:spPr>
          <a:xfrm>
            <a:off x="11414455" y="4572000"/>
            <a:ext cx="0" cy="685800"/>
          </a:xfrm>
          <a:prstGeom prst="line">
            <a:avLst/>
          </a:prstGeom>
          <a:noFill/>
          <a:ln w="38100">
            <a:solidFill>
              <a:srgbClr val="8FA396"/>
            </a:solidFill>
            <a:prstDash val="solid"/>
          </a:ln>
        </p:spPr>
      </p:sp>
      <p:sp>
        <p:nvSpPr>
          <p:cNvPr id="38" name="Text 34"/>
          <p:cNvSpPr txBox="1"/>
          <p:nvPr/>
        </p:nvSpPr>
        <p:spPr>
          <a:xfrm>
            <a:off x="1078992" y="4572000"/>
            <a:ext cx="10033711" cy="685800"/>
          </a:xfrm>
          <a:prstGeom prst="rect">
            <a:avLst/>
          </a:prstGeom>
          <a:noFill/>
          <a:ln/>
        </p:spPr>
        <p:txBody>
          <a:bodyPr wrap="square" lIns="0" tIns="0" rIns="0" bIns="0" rtlCol="0" anchor="ctr"/>
          <a:lstStyle/>
          <a:p>
            <a:pPr rtl="1" algn="r" indent="0" marL="0">
              <a:buNone/>
            </a:pPr>
            <a:r>
              <a:rPr lang="he-IL" altLang="en-US" sz="1600" b="1" dirty="0">
                <a:solidFill>
                  <a:srgbClr val="5F7368"/>
                </a:solidFill>
                <a:latin typeface="Instrument Sans" pitchFamily="34" charset="0"/>
                <a:ea typeface="Instrument Sans" pitchFamily="34" charset="-122"/>
                <a:cs typeface="Assistant" pitchFamily="34" charset="-120"/>
              </a:rPr>
              <a:t>איפה הדפדפן רץ? </a:t>
            </a:r>
            <a:r>
              <a:rPr lang="he-IL" altLang="en-US" sz="1600" dirty="0">
                <a:solidFill>
                  <a:srgbClr val="2B3138"/>
                </a:solidFill>
                <a:latin typeface="Instrument Sans" pitchFamily="34" charset="0"/>
                <a:ea typeface="Instrument Sans" pitchFamily="34" charset="-122"/>
                <a:cs typeface="Assistant" pitchFamily="34" charset="-120"/>
              </a:rPr>
              <a:t>Playwright הוא הנהג, AgentCore Browser הוא הרכב, ו-Live View מראה לקהל את הדפדפן בזמן אמת.</a:t>
            </a:r>
            <a:endParaRPr lang="he-IL" sz="1600" dirty="0"/>
          </a:p>
        </p:txBody>
      </p:sp>
      <p:sp>
        <p:nvSpPr>
          <p:cNvPr id="39" name="Text 35"/>
          <p:cNvSpPr txBox="1"/>
          <p:nvPr/>
        </p:nvSpPr>
        <p:spPr>
          <a:xfrm>
            <a:off x="758952" y="5394960"/>
            <a:ext cx="10673791" cy="457200"/>
          </a:xfrm>
          <a:prstGeom prst="rect">
            <a:avLst/>
          </a:prstGeom>
          <a:noFill/>
          <a:ln/>
        </p:spPr>
        <p:txBody>
          <a:bodyPr wrap="square" lIns="0" tIns="0" rIns="0" bIns="0" rtlCol="0" anchor="ctr"/>
          <a:lstStyle/>
          <a:p>
            <a:pPr rtl="1" algn="r" indent="0" marL="0">
              <a:buNone/>
            </a:pPr>
            <a:r>
              <a:rPr lang="he-IL" altLang="en-US" sz="2500" dirty="0">
                <a:solidFill>
                  <a:srgbClr val="2B3138"/>
                </a:solidFill>
                <a:latin typeface="Fraunces" pitchFamily="34" charset="0"/>
                <a:ea typeface="Fraunces" pitchFamily="34" charset="-122"/>
                <a:cs typeface="Frank Ruhl Libre" pitchFamily="34" charset="-120"/>
              </a:rPr>
              <a:t>Jev בוחר. הקוד בודק ומבצע.</a:t>
            </a:r>
            <a:endParaRPr lang="he-IL" sz="2500" dirty="0"/>
          </a:p>
        </p:txBody>
      </p:sp>
      <p:sp>
        <p:nvSpPr>
          <p:cNvPr id="40" name="Text 36"/>
          <p:cNvSpPr txBox="1"/>
          <p:nvPr/>
        </p:nvSpPr>
        <p:spPr>
          <a:xfrm>
            <a:off x="758952" y="5870448"/>
            <a:ext cx="10673791"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להתחלה מספיק Playwright מקומי, בלי AWS.</a:t>
            </a:r>
            <a:endParaRPr lang="he-IL"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13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בין הבחירה ללחיצה</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Shape 4"/>
          <p:cNvSpPr/>
          <p:nvPr/>
        </p:nvSpPr>
        <p:spPr>
          <a:xfrm>
            <a:off x="758952" y="2103120"/>
            <a:ext cx="7040880" cy="3099816"/>
          </a:xfrm>
          <a:prstGeom prst="rect">
            <a:avLst/>
          </a:prstGeom>
          <a:solidFill>
            <a:srgbClr val="F3EDE2"/>
          </a:solidFill>
          <a:ln w="9525">
            <a:solidFill>
              <a:srgbClr val="D8D2C6"/>
            </a:solidFill>
            <a:prstDash val="solid"/>
          </a:ln>
        </p:spPr>
      </p:sp>
      <p:sp>
        <p:nvSpPr>
          <p:cNvPr id="9" name="Text 5"/>
          <p:cNvSpPr txBox="1"/>
          <p:nvPr/>
        </p:nvSpPr>
        <p:spPr>
          <a:xfrm>
            <a:off x="987552" y="2212848"/>
            <a:ext cx="2743200" cy="219456"/>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TypeScript</a:t>
            </a:r>
            <a:endParaRPr lang="en-US" sz="1000" dirty="0"/>
          </a:p>
        </p:txBody>
      </p:sp>
      <p:sp>
        <p:nvSpPr>
          <p:cNvPr id="10" name="Shape 6"/>
          <p:cNvSpPr/>
          <p:nvPr/>
        </p:nvSpPr>
        <p:spPr>
          <a:xfrm>
            <a:off x="758952" y="2487168"/>
            <a:ext cx="7040880" cy="0"/>
          </a:xfrm>
          <a:prstGeom prst="line">
            <a:avLst/>
          </a:prstGeom>
          <a:noFill/>
          <a:ln w="9525">
            <a:solidFill>
              <a:srgbClr val="D8D2C6"/>
            </a:solidFill>
            <a:prstDash val="solid"/>
          </a:ln>
        </p:spPr>
      </p:sp>
      <p:sp>
        <p:nvSpPr>
          <p:cNvPr id="11" name="Text 7"/>
          <p:cNvSpPr txBox="1"/>
          <p:nvPr/>
        </p:nvSpPr>
        <p:spPr>
          <a:xfrm>
            <a:off x="868680" y="2514600"/>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1</a:t>
            </a:r>
            <a:endParaRPr lang="en-US" sz="945" dirty="0"/>
          </a:p>
        </p:txBody>
      </p:sp>
      <p:sp>
        <p:nvSpPr>
          <p:cNvPr id="12" name="Text 8"/>
          <p:cNvSpPr txBox="1"/>
          <p:nvPr/>
        </p:nvSpPr>
        <p:spPr>
          <a:xfrm>
            <a:off x="1335024" y="2514600"/>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const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action</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registry</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get</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id</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13" name="Shape 9"/>
          <p:cNvSpPr/>
          <p:nvPr/>
        </p:nvSpPr>
        <p:spPr>
          <a:xfrm>
            <a:off x="768096" y="2825496"/>
            <a:ext cx="7022592" cy="310896"/>
          </a:xfrm>
          <a:prstGeom prst="rect">
            <a:avLst/>
          </a:prstGeom>
          <a:solidFill>
            <a:srgbClr val="E9E1D2"/>
          </a:solidFill>
          <a:ln/>
        </p:spPr>
      </p:sp>
      <p:sp>
        <p:nvSpPr>
          <p:cNvPr id="14" name="Text 10"/>
          <p:cNvSpPr txBox="1"/>
          <p:nvPr/>
        </p:nvSpPr>
        <p:spPr>
          <a:xfrm>
            <a:off x="868680" y="2825496"/>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2</a:t>
            </a:r>
            <a:endParaRPr lang="en-US" sz="945" dirty="0"/>
          </a:p>
        </p:txBody>
      </p:sp>
      <p:sp>
        <p:nvSpPr>
          <p:cNvPr id="15" name="Text 11"/>
          <p:cNvSpPr txBox="1"/>
          <p:nvPr/>
        </p:nvSpPr>
        <p:spPr>
          <a:xfrm>
            <a:off x="1335024" y="2825496"/>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if</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action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5F7368"/>
                </a:solidFill>
                <a:latin typeface="JetBrains Mono" pitchFamily="34" charset="0"/>
                <a:ea typeface="JetBrains Mono" pitchFamily="34" charset="-122"/>
                <a:cs typeface="JetBrains Mono" pitchFamily="34" charset="-120"/>
              </a:rPr>
              <a:t>return</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replan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5A6067"/>
                </a:solidFill>
                <a:latin typeface="JetBrains Mono" pitchFamily="34" charset="0"/>
                <a:ea typeface="JetBrains Mono" pitchFamily="34" charset="-122"/>
                <a:cs typeface="JetBrains Mono" pitchFamily="34" charset="-120"/>
              </a:rPr>
              <a:t>"unknown_action"</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16" name="Text 12"/>
          <p:cNvSpPr txBox="1"/>
          <p:nvPr/>
        </p:nvSpPr>
        <p:spPr>
          <a:xfrm>
            <a:off x="868680" y="3136392"/>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3</a:t>
            </a:r>
            <a:endParaRPr lang="en-US" sz="945" dirty="0"/>
          </a:p>
        </p:txBody>
      </p:sp>
      <p:sp>
        <p:nvSpPr>
          <p:cNvPr id="17" name="Text 13"/>
          <p:cNvSpPr txBox="1"/>
          <p:nvPr/>
        </p:nvSpPr>
        <p:spPr>
          <a:xfrm>
            <a:off x="868680" y="3447288"/>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4</a:t>
            </a:r>
            <a:endParaRPr lang="en-US" sz="945" dirty="0"/>
          </a:p>
        </p:txBody>
      </p:sp>
      <p:sp>
        <p:nvSpPr>
          <p:cNvPr id="18" name="Text 14"/>
          <p:cNvSpPr txBox="1"/>
          <p:nvPr/>
        </p:nvSpPr>
        <p:spPr>
          <a:xfrm>
            <a:off x="1335024" y="3447288"/>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const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fresh</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5F7368"/>
                </a:solidFill>
                <a:latin typeface="JetBrains Mono" pitchFamily="34" charset="0"/>
                <a:ea typeface="JetBrains Mono" pitchFamily="34" charset="-122"/>
                <a:cs typeface="JetBrains Mono" pitchFamily="34" charset="-120"/>
              </a:rPr>
              <a:t>await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readState</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browser</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19" name="Text 15"/>
          <p:cNvSpPr txBox="1"/>
          <p:nvPr/>
        </p:nvSpPr>
        <p:spPr>
          <a:xfrm>
            <a:off x="868680" y="3758184"/>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5</a:t>
            </a:r>
            <a:endParaRPr lang="en-US" sz="945" dirty="0"/>
          </a:p>
        </p:txBody>
      </p:sp>
      <p:sp>
        <p:nvSpPr>
          <p:cNvPr id="20" name="Text 16"/>
          <p:cNvSpPr txBox="1"/>
          <p:nvPr/>
        </p:nvSpPr>
        <p:spPr>
          <a:xfrm>
            <a:off x="1335024" y="3758184"/>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const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verdict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action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allowed</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fresh</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1" name="Shape 17"/>
          <p:cNvSpPr/>
          <p:nvPr/>
        </p:nvSpPr>
        <p:spPr>
          <a:xfrm>
            <a:off x="768096" y="4069080"/>
            <a:ext cx="7022592" cy="310896"/>
          </a:xfrm>
          <a:prstGeom prst="rect">
            <a:avLst/>
          </a:prstGeom>
          <a:solidFill>
            <a:srgbClr val="E9E1D2"/>
          </a:solidFill>
          <a:ln/>
        </p:spPr>
      </p:sp>
      <p:sp>
        <p:nvSpPr>
          <p:cNvPr id="22" name="Text 18"/>
          <p:cNvSpPr txBox="1"/>
          <p:nvPr/>
        </p:nvSpPr>
        <p:spPr>
          <a:xfrm>
            <a:off x="868680" y="4069080"/>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6</a:t>
            </a:r>
            <a:endParaRPr lang="en-US" sz="945" dirty="0"/>
          </a:p>
        </p:txBody>
      </p:sp>
      <p:sp>
        <p:nvSpPr>
          <p:cNvPr id="23" name="Text 19"/>
          <p:cNvSpPr txBox="1"/>
          <p:nvPr/>
        </p:nvSpPr>
        <p:spPr>
          <a:xfrm>
            <a:off x="1335024" y="4069080"/>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if</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verdict</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ok</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5F7368"/>
                </a:solidFill>
                <a:latin typeface="JetBrains Mono" pitchFamily="34" charset="0"/>
                <a:ea typeface="JetBrains Mono" pitchFamily="34" charset="-122"/>
                <a:cs typeface="JetBrains Mono" pitchFamily="34" charset="-120"/>
              </a:rPr>
              <a:t>return</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replan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verdict</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reason</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4" name="Shape 20"/>
          <p:cNvSpPr/>
          <p:nvPr/>
        </p:nvSpPr>
        <p:spPr>
          <a:xfrm>
            <a:off x="768096" y="4379976"/>
            <a:ext cx="7022592" cy="310896"/>
          </a:xfrm>
          <a:prstGeom prst="rect">
            <a:avLst/>
          </a:prstGeom>
          <a:solidFill>
            <a:srgbClr val="E9E1D2"/>
          </a:solidFill>
          <a:ln/>
        </p:spPr>
      </p:sp>
      <p:sp>
        <p:nvSpPr>
          <p:cNvPr id="25" name="Text 21"/>
          <p:cNvSpPr txBox="1"/>
          <p:nvPr/>
        </p:nvSpPr>
        <p:spPr>
          <a:xfrm>
            <a:off x="868680" y="4379976"/>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7</a:t>
            </a:r>
            <a:endParaRPr lang="en-US" sz="945" dirty="0"/>
          </a:p>
        </p:txBody>
      </p:sp>
      <p:sp>
        <p:nvSpPr>
          <p:cNvPr id="26" name="Text 22"/>
          <p:cNvSpPr txBox="1"/>
          <p:nvPr/>
        </p:nvSpPr>
        <p:spPr>
          <a:xfrm>
            <a:off x="1335024" y="4379976"/>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await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action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run</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browser</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7" name="Text 23"/>
          <p:cNvSpPr txBox="1"/>
          <p:nvPr/>
        </p:nvSpPr>
        <p:spPr>
          <a:xfrm>
            <a:off x="868680" y="4690872"/>
            <a:ext cx="256032" cy="310896"/>
          </a:xfrm>
          <a:prstGeom prst="rect">
            <a:avLst/>
          </a:prstGeom>
          <a:noFill/>
          <a:ln/>
        </p:spPr>
        <p:txBody>
          <a:bodyPr wrap="square" lIns="0" tIns="0" rIns="0" bIns="0" rtlCol="0" anchor="ctr"/>
          <a:lstStyle/>
          <a:p>
            <a:pPr algn="r" indent="0" marL="0">
              <a:buNone/>
            </a:pPr>
            <a:r>
              <a:rPr lang="en-US" sz="945" dirty="0">
                <a:solidFill>
                  <a:srgbClr val="8B8F93"/>
                </a:solidFill>
                <a:latin typeface="JetBrains Mono" pitchFamily="34" charset="0"/>
                <a:ea typeface="JetBrains Mono" pitchFamily="34" charset="-122"/>
                <a:cs typeface="JetBrains Mono" pitchFamily="34" charset="-120"/>
              </a:rPr>
              <a:t>8</a:t>
            </a:r>
            <a:endParaRPr lang="en-US" sz="945" dirty="0"/>
          </a:p>
        </p:txBody>
      </p:sp>
      <p:sp>
        <p:nvSpPr>
          <p:cNvPr id="28" name="Text 24"/>
          <p:cNvSpPr txBox="1"/>
          <p:nvPr/>
        </p:nvSpPr>
        <p:spPr>
          <a:xfrm>
            <a:off x="1335024" y="4690872"/>
            <a:ext cx="6236208" cy="310896"/>
          </a:xfrm>
          <a:prstGeom prst="rect">
            <a:avLst/>
          </a:prstGeom>
          <a:noFill/>
          <a:ln/>
        </p:spPr>
        <p:txBody>
          <a:bodyPr wrap="square" lIns="0" tIns="0" rIns="0" bIns="0" rtlCol="0" anchor="ctr"/>
          <a:lstStyle/>
          <a:p>
            <a:pPr algn="l" indent="0" marL="0">
              <a:buNone/>
            </a:pPr>
            <a:r>
              <a:rPr lang="en-US" sz="1350" dirty="0">
                <a:solidFill>
                  <a:srgbClr val="5F7368"/>
                </a:solidFill>
                <a:latin typeface="JetBrains Mono" pitchFamily="34" charset="0"/>
                <a:ea typeface="JetBrains Mono" pitchFamily="34" charset="-122"/>
                <a:cs typeface="JetBrains Mono" pitchFamily="34" charset="-120"/>
              </a:rPr>
              <a:t>return</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done</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5F7368"/>
                </a:solidFill>
                <a:latin typeface="JetBrains Mono" pitchFamily="34" charset="0"/>
                <a:ea typeface="JetBrains Mono" pitchFamily="34" charset="-122"/>
                <a:cs typeface="JetBrains Mono" pitchFamily="34" charset="-120"/>
              </a:rPr>
              <a:t>await</a:t>
            </a:r>
            <a:r>
              <a:rPr lang="en-US" sz="1350" dirty="0">
                <a:solidFill>
                  <a:srgbClr val="2B3138"/>
                </a:solidFill>
                <a:latin typeface="JetBrains Mono" pitchFamily="34" charset="0"/>
                <a:ea typeface="JetBrains Mono" pitchFamily="34" charset="-122"/>
                <a:cs typeface="JetBrains Mono" pitchFamily="34" charset="-120"/>
              </a:rPr>
              <a:t> </a:t>
            </a:r>
            <a:r>
              <a:rPr lang="en-US" sz="1350" dirty="0">
                <a:solidFill>
                  <a:srgbClr val="2B3138"/>
                </a:solidFill>
                <a:latin typeface="JetBrains Mono" pitchFamily="34" charset="0"/>
                <a:ea typeface="JetBrains Mono" pitchFamily="34" charset="-122"/>
                <a:cs typeface="JetBrains Mono" pitchFamily="34" charset="-120"/>
              </a:rPr>
              <a:t>readState</a:t>
            </a:r>
            <a:r>
              <a:rPr lang="en-US" sz="1350" dirty="0">
                <a:solidFill>
                  <a:srgbClr val="8B8F93"/>
                </a:solidFill>
                <a:latin typeface="JetBrains Mono" pitchFamily="34" charset="0"/>
                <a:ea typeface="JetBrains Mono" pitchFamily="34" charset="-122"/>
                <a:cs typeface="JetBrains Mono" pitchFamily="34" charset="-120"/>
              </a:rPr>
              <a:t>(</a:t>
            </a:r>
            <a:r>
              <a:rPr lang="en-US" sz="1350" dirty="0">
                <a:solidFill>
                  <a:srgbClr val="2B3138"/>
                </a:solidFill>
                <a:latin typeface="JetBrains Mono" pitchFamily="34" charset="0"/>
                <a:ea typeface="JetBrains Mono" pitchFamily="34" charset="-122"/>
                <a:cs typeface="JetBrains Mono" pitchFamily="34" charset="-120"/>
              </a:rPr>
              <a:t>browser</a:t>
            </a:r>
            <a:r>
              <a:rPr lang="en-US" sz="1350" dirty="0">
                <a:solidFill>
                  <a:srgbClr val="8B8F93"/>
                </a:solidFill>
                <a:latin typeface="JetBrains Mono" pitchFamily="34" charset="0"/>
                <a:ea typeface="JetBrains Mono" pitchFamily="34" charset="-122"/>
                <a:cs typeface="JetBrains Mono" pitchFamily="34" charset="-120"/>
              </a:rPr>
              <a:t>));</a:t>
            </a:r>
            <a:endParaRPr lang="en-US" sz="1350" dirty="0"/>
          </a:p>
        </p:txBody>
      </p:sp>
      <p:sp>
        <p:nvSpPr>
          <p:cNvPr id="29" name="Text 25"/>
          <p:cNvSpPr txBox="1"/>
          <p:nvPr/>
        </p:nvSpPr>
        <p:spPr>
          <a:xfrm>
            <a:off x="758952" y="5276088"/>
            <a:ext cx="7040880" cy="274320"/>
          </a:xfrm>
          <a:prstGeom prst="rect">
            <a:avLst/>
          </a:prstGeom>
          <a:noFill/>
          <a:ln/>
        </p:spPr>
        <p:txBody>
          <a:bodyPr wrap="square" lIns="0" tIns="0" rIns="0" bIns="0" rtlCol="0" anchor="t"/>
          <a:lstStyle/>
          <a:p>
            <a:pPr rtl="1" algn="r" indent="0" marL="0">
              <a:buNone/>
            </a:pPr>
            <a:r>
              <a:rPr lang="he-IL" altLang="en-US" sz="1200" dirty="0">
                <a:solidFill>
                  <a:srgbClr val="8B8F93"/>
                </a:solidFill>
                <a:latin typeface="Instrument Sans" pitchFamily="34" charset="0"/>
                <a:ea typeface="Instrument Sans" pitchFamily="34" charset="-122"/>
                <a:cs typeface="Assistant" pitchFamily="34" charset="-120"/>
              </a:rPr>
              <a:t>מתוך src/executor.ts ב-wave-lab, מקוצר</a:t>
            </a:r>
            <a:endParaRPr lang="he-IL" sz="1200" dirty="0"/>
          </a:p>
        </p:txBody>
      </p:sp>
      <p:sp>
        <p:nvSpPr>
          <p:cNvPr id="30" name="Shape 26"/>
          <p:cNvSpPr/>
          <p:nvPr/>
        </p:nvSpPr>
        <p:spPr>
          <a:xfrm>
            <a:off x="7388352" y="2862072"/>
            <a:ext cx="237744" cy="237744"/>
          </a:xfrm>
          <a:prstGeom prst="rect">
            <a:avLst/>
          </a:prstGeom>
          <a:solidFill>
            <a:srgbClr val="5F7368"/>
          </a:solidFill>
          <a:ln/>
        </p:spPr>
      </p:sp>
      <p:sp>
        <p:nvSpPr>
          <p:cNvPr id="31" name="Text 27"/>
          <p:cNvSpPr txBox="1"/>
          <p:nvPr/>
        </p:nvSpPr>
        <p:spPr>
          <a:xfrm>
            <a:off x="7388352" y="2862072"/>
            <a:ext cx="237744" cy="237744"/>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1</a:t>
            </a:r>
            <a:endParaRPr lang="en-US" sz="1050" dirty="0"/>
          </a:p>
        </p:txBody>
      </p:sp>
      <p:sp>
        <p:nvSpPr>
          <p:cNvPr id="32" name="Shape 28"/>
          <p:cNvSpPr/>
          <p:nvPr/>
        </p:nvSpPr>
        <p:spPr>
          <a:xfrm>
            <a:off x="7388352" y="4105656"/>
            <a:ext cx="237744" cy="237744"/>
          </a:xfrm>
          <a:prstGeom prst="rect">
            <a:avLst/>
          </a:prstGeom>
          <a:solidFill>
            <a:srgbClr val="5F7368"/>
          </a:solidFill>
          <a:ln/>
        </p:spPr>
      </p:sp>
      <p:sp>
        <p:nvSpPr>
          <p:cNvPr id="33" name="Text 29"/>
          <p:cNvSpPr txBox="1"/>
          <p:nvPr/>
        </p:nvSpPr>
        <p:spPr>
          <a:xfrm>
            <a:off x="7388352" y="4105656"/>
            <a:ext cx="237744" cy="237744"/>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2</a:t>
            </a:r>
            <a:endParaRPr lang="en-US" sz="1050" dirty="0"/>
          </a:p>
        </p:txBody>
      </p:sp>
      <p:sp>
        <p:nvSpPr>
          <p:cNvPr id="34" name="Shape 30"/>
          <p:cNvSpPr/>
          <p:nvPr/>
        </p:nvSpPr>
        <p:spPr>
          <a:xfrm>
            <a:off x="7388352" y="4416552"/>
            <a:ext cx="237744" cy="237744"/>
          </a:xfrm>
          <a:prstGeom prst="rect">
            <a:avLst/>
          </a:prstGeom>
          <a:solidFill>
            <a:srgbClr val="5F7368"/>
          </a:solidFill>
          <a:ln/>
        </p:spPr>
      </p:sp>
      <p:sp>
        <p:nvSpPr>
          <p:cNvPr id="35" name="Text 31"/>
          <p:cNvSpPr txBox="1"/>
          <p:nvPr/>
        </p:nvSpPr>
        <p:spPr>
          <a:xfrm>
            <a:off x="7388352" y="4416552"/>
            <a:ext cx="237744" cy="237744"/>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3</a:t>
            </a:r>
            <a:endParaRPr lang="en-US" sz="1050" dirty="0"/>
          </a:p>
        </p:txBody>
      </p:sp>
      <p:sp>
        <p:nvSpPr>
          <p:cNvPr id="36" name="Shape 32"/>
          <p:cNvSpPr/>
          <p:nvPr/>
        </p:nvSpPr>
        <p:spPr>
          <a:xfrm>
            <a:off x="11158423" y="2167128"/>
            <a:ext cx="274320" cy="274320"/>
          </a:xfrm>
          <a:prstGeom prst="rect">
            <a:avLst/>
          </a:prstGeom>
          <a:solidFill>
            <a:srgbClr val="5F7368"/>
          </a:solidFill>
          <a:ln/>
        </p:spPr>
      </p:sp>
      <p:sp>
        <p:nvSpPr>
          <p:cNvPr id="37" name="Text 33"/>
          <p:cNvSpPr txBox="1"/>
          <p:nvPr/>
        </p:nvSpPr>
        <p:spPr>
          <a:xfrm>
            <a:off x="11158423" y="2167128"/>
            <a:ext cx="274320" cy="274320"/>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1</a:t>
            </a:r>
            <a:endParaRPr lang="en-US" sz="1050" dirty="0"/>
          </a:p>
        </p:txBody>
      </p:sp>
      <p:sp>
        <p:nvSpPr>
          <p:cNvPr id="38" name="Text 34"/>
          <p:cNvSpPr txBox="1"/>
          <p:nvPr/>
        </p:nvSpPr>
        <p:spPr>
          <a:xfrm>
            <a:off x="8229600" y="2103120"/>
            <a:ext cx="2745943" cy="384048"/>
          </a:xfrm>
          <a:prstGeom prst="rect">
            <a:avLst/>
          </a:prstGeom>
          <a:noFill/>
          <a:ln/>
        </p:spPr>
        <p:txBody>
          <a:bodyPr wrap="square" lIns="0" tIns="0" rIns="0" bIns="0" rtlCol="0" anchor="ctr"/>
          <a:lstStyle/>
          <a:p>
            <a:pPr rtl="1" algn="r" indent="0" marL="0">
              <a:buNone/>
            </a:pPr>
            <a:r>
              <a:rPr lang="he-IL" altLang="en-US" sz="1900" b="1" dirty="0">
                <a:solidFill>
                  <a:srgbClr val="2B3138"/>
                </a:solidFill>
                <a:latin typeface="Instrument Sans" pitchFamily="34" charset="0"/>
                <a:ea typeface="Instrument Sans" pitchFamily="34" charset="-122"/>
                <a:cs typeface="Assistant" pitchFamily="34" charset="-120"/>
              </a:rPr>
              <a:t>הפעולה קיימת?</a:t>
            </a:r>
            <a:endParaRPr lang="he-IL" sz="1900" dirty="0"/>
          </a:p>
        </p:txBody>
      </p:sp>
      <p:sp>
        <p:nvSpPr>
          <p:cNvPr id="39" name="Text 35"/>
          <p:cNvSpPr txBox="1"/>
          <p:nvPr/>
        </p:nvSpPr>
        <p:spPr>
          <a:xfrm>
            <a:off x="8229600" y="2505456"/>
            <a:ext cx="2745943"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מחפשים את המזהה ב-registry</a:t>
            </a:r>
            <a:endParaRPr lang="he-IL" sz="1400" dirty="0"/>
          </a:p>
        </p:txBody>
      </p:sp>
      <p:sp>
        <p:nvSpPr>
          <p:cNvPr id="40" name="Shape 36"/>
          <p:cNvSpPr/>
          <p:nvPr/>
        </p:nvSpPr>
        <p:spPr>
          <a:xfrm>
            <a:off x="8229600" y="2907792"/>
            <a:ext cx="3203143" cy="0"/>
          </a:xfrm>
          <a:prstGeom prst="line">
            <a:avLst/>
          </a:prstGeom>
          <a:noFill/>
          <a:ln w="9525">
            <a:solidFill>
              <a:srgbClr val="E4E0D6"/>
            </a:solidFill>
            <a:prstDash val="solid"/>
          </a:ln>
        </p:spPr>
      </p:sp>
      <p:sp>
        <p:nvSpPr>
          <p:cNvPr id="41" name="Shape 37"/>
          <p:cNvSpPr/>
          <p:nvPr/>
        </p:nvSpPr>
        <p:spPr>
          <a:xfrm>
            <a:off x="11158423" y="3081528"/>
            <a:ext cx="274320" cy="274320"/>
          </a:xfrm>
          <a:prstGeom prst="rect">
            <a:avLst/>
          </a:prstGeom>
          <a:solidFill>
            <a:srgbClr val="5F7368"/>
          </a:solidFill>
          <a:ln/>
        </p:spPr>
      </p:sp>
      <p:sp>
        <p:nvSpPr>
          <p:cNvPr id="42" name="Text 38"/>
          <p:cNvSpPr txBox="1"/>
          <p:nvPr/>
        </p:nvSpPr>
        <p:spPr>
          <a:xfrm>
            <a:off x="11158423" y="3081528"/>
            <a:ext cx="274320" cy="274320"/>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2</a:t>
            </a:r>
            <a:endParaRPr lang="en-US" sz="1050" dirty="0"/>
          </a:p>
        </p:txBody>
      </p:sp>
      <p:sp>
        <p:nvSpPr>
          <p:cNvPr id="43" name="Text 39"/>
          <p:cNvSpPr txBox="1"/>
          <p:nvPr/>
        </p:nvSpPr>
        <p:spPr>
          <a:xfrm>
            <a:off x="8229600" y="3017520"/>
            <a:ext cx="2745943" cy="384048"/>
          </a:xfrm>
          <a:prstGeom prst="rect">
            <a:avLst/>
          </a:prstGeom>
          <a:noFill/>
          <a:ln/>
        </p:spPr>
        <p:txBody>
          <a:bodyPr wrap="square" lIns="0" tIns="0" rIns="0" bIns="0" rtlCol="0" anchor="ctr"/>
          <a:lstStyle/>
          <a:p>
            <a:pPr rtl="1" algn="r" indent="0" marL="0">
              <a:buNone/>
            </a:pPr>
            <a:r>
              <a:rPr lang="he-IL" altLang="en-US" sz="1900" b="1" dirty="0">
                <a:solidFill>
                  <a:srgbClr val="2B3138"/>
                </a:solidFill>
                <a:latin typeface="Instrument Sans" pitchFamily="34" charset="0"/>
                <a:ea typeface="Instrument Sans" pitchFamily="34" charset="-122"/>
                <a:cs typeface="Assistant" pitchFamily="34" charset="-120"/>
              </a:rPr>
              <a:t>היא עדיין מותרת?</a:t>
            </a:r>
            <a:endParaRPr lang="he-IL" sz="1900" dirty="0"/>
          </a:p>
        </p:txBody>
      </p:sp>
      <p:sp>
        <p:nvSpPr>
          <p:cNvPr id="44" name="Text 40"/>
          <p:cNvSpPr txBox="1"/>
          <p:nvPr/>
        </p:nvSpPr>
        <p:spPr>
          <a:xfrm>
            <a:off x="8229600" y="3419856"/>
            <a:ext cx="2745943"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קוראים מצב עדכני ובודקים שוב</a:t>
            </a:r>
            <a:endParaRPr lang="he-IL" sz="1400" dirty="0"/>
          </a:p>
        </p:txBody>
      </p:sp>
      <p:sp>
        <p:nvSpPr>
          <p:cNvPr id="45" name="Shape 41"/>
          <p:cNvSpPr/>
          <p:nvPr/>
        </p:nvSpPr>
        <p:spPr>
          <a:xfrm>
            <a:off x="8229600" y="3822192"/>
            <a:ext cx="3203143" cy="0"/>
          </a:xfrm>
          <a:prstGeom prst="line">
            <a:avLst/>
          </a:prstGeom>
          <a:noFill/>
          <a:ln w="9525">
            <a:solidFill>
              <a:srgbClr val="E4E0D6"/>
            </a:solidFill>
            <a:prstDash val="solid"/>
          </a:ln>
        </p:spPr>
      </p:sp>
      <p:sp>
        <p:nvSpPr>
          <p:cNvPr id="46" name="Shape 42"/>
          <p:cNvSpPr/>
          <p:nvPr/>
        </p:nvSpPr>
        <p:spPr>
          <a:xfrm>
            <a:off x="11158423" y="3995928"/>
            <a:ext cx="274320" cy="274320"/>
          </a:xfrm>
          <a:prstGeom prst="rect">
            <a:avLst/>
          </a:prstGeom>
          <a:solidFill>
            <a:srgbClr val="5F7368"/>
          </a:solidFill>
          <a:ln/>
        </p:spPr>
      </p:sp>
      <p:sp>
        <p:nvSpPr>
          <p:cNvPr id="47" name="Text 43"/>
          <p:cNvSpPr txBox="1"/>
          <p:nvPr/>
        </p:nvSpPr>
        <p:spPr>
          <a:xfrm>
            <a:off x="11158423" y="3995928"/>
            <a:ext cx="274320" cy="274320"/>
          </a:xfrm>
          <a:prstGeom prst="rect">
            <a:avLst/>
          </a:prstGeom>
          <a:noFill/>
          <a:ln/>
        </p:spPr>
        <p:txBody>
          <a:bodyPr wrap="square" lIns="0" tIns="0" rIns="0" bIns="0" rtlCol="0" anchor="ctr"/>
          <a:lstStyle/>
          <a:p>
            <a:pPr algn="ctr" indent="0" marL="0">
              <a:buNone/>
            </a:pPr>
            <a:r>
              <a:rPr lang="en-US" sz="1050" b="1" dirty="0">
                <a:solidFill>
                  <a:srgbClr val="FAF6EF"/>
                </a:solidFill>
                <a:latin typeface="Instrument Sans" pitchFamily="34" charset="0"/>
                <a:ea typeface="Instrument Sans" pitchFamily="34" charset="-122"/>
                <a:cs typeface="Assistant" pitchFamily="34" charset="-120"/>
              </a:rPr>
              <a:t>3</a:t>
            </a:r>
            <a:endParaRPr lang="en-US" sz="1050" dirty="0"/>
          </a:p>
        </p:txBody>
      </p:sp>
      <p:sp>
        <p:nvSpPr>
          <p:cNvPr id="48" name="Text 44"/>
          <p:cNvSpPr txBox="1"/>
          <p:nvPr/>
        </p:nvSpPr>
        <p:spPr>
          <a:xfrm>
            <a:off x="8229600" y="3931920"/>
            <a:ext cx="2745943" cy="384048"/>
          </a:xfrm>
          <a:prstGeom prst="rect">
            <a:avLst/>
          </a:prstGeom>
          <a:noFill/>
          <a:ln/>
        </p:spPr>
        <p:txBody>
          <a:bodyPr wrap="square" lIns="0" tIns="0" rIns="0" bIns="0" rtlCol="0" anchor="ctr"/>
          <a:lstStyle/>
          <a:p>
            <a:pPr rtl="1" algn="r" indent="0" marL="0">
              <a:buNone/>
            </a:pPr>
            <a:r>
              <a:rPr lang="he-IL" altLang="en-US" sz="1900" b="1" dirty="0">
                <a:solidFill>
                  <a:srgbClr val="2B3138"/>
                </a:solidFill>
                <a:latin typeface="Instrument Sans" pitchFamily="34" charset="0"/>
                <a:ea typeface="Instrument Sans" pitchFamily="34" charset="-122"/>
                <a:cs typeface="Assistant" pitchFamily="34" charset="-120"/>
              </a:rPr>
              <a:t>רק אז לוחצים</a:t>
            </a:r>
            <a:endParaRPr lang="he-IL" sz="1900" dirty="0"/>
          </a:p>
        </p:txBody>
      </p:sp>
      <p:sp>
        <p:nvSpPr>
          <p:cNvPr id="49" name="Text 45"/>
          <p:cNvSpPr txBox="1"/>
          <p:nvPr/>
        </p:nvSpPr>
        <p:spPr>
          <a:xfrm>
            <a:off x="8229600" y="4334256"/>
            <a:ext cx="2745943"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ומיד קוראים את התוצאה</a:t>
            </a:r>
            <a:endParaRPr lang="he-IL" sz="1400" dirty="0"/>
          </a:p>
        </p:txBody>
      </p:sp>
      <p:sp>
        <p:nvSpPr>
          <p:cNvPr id="50" name="Shape 46"/>
          <p:cNvSpPr/>
          <p:nvPr/>
        </p:nvSpPr>
        <p:spPr>
          <a:xfrm>
            <a:off x="758952" y="5532120"/>
            <a:ext cx="10673791" cy="685800"/>
          </a:xfrm>
          <a:prstGeom prst="rect">
            <a:avLst/>
          </a:prstGeom>
          <a:solidFill>
            <a:srgbClr val="F3EDE2"/>
          </a:solidFill>
          <a:ln/>
        </p:spPr>
      </p:sp>
      <p:sp>
        <p:nvSpPr>
          <p:cNvPr id="51" name="Shape 47"/>
          <p:cNvSpPr/>
          <p:nvPr/>
        </p:nvSpPr>
        <p:spPr>
          <a:xfrm>
            <a:off x="11414455" y="5532120"/>
            <a:ext cx="0" cy="685800"/>
          </a:xfrm>
          <a:prstGeom prst="line">
            <a:avLst/>
          </a:prstGeom>
          <a:noFill/>
          <a:ln w="38100">
            <a:solidFill>
              <a:srgbClr val="8FA396"/>
            </a:solidFill>
            <a:prstDash val="solid"/>
          </a:ln>
        </p:spPr>
      </p:sp>
      <p:sp>
        <p:nvSpPr>
          <p:cNvPr id="52" name="Text 48"/>
          <p:cNvSpPr txBox="1"/>
          <p:nvPr/>
        </p:nvSpPr>
        <p:spPr>
          <a:xfrm>
            <a:off x="1078992" y="5532120"/>
            <a:ext cx="10033711" cy="685800"/>
          </a:xfrm>
          <a:prstGeom prst="rect">
            <a:avLst/>
          </a:prstGeom>
          <a:noFill/>
          <a:ln/>
        </p:spPr>
        <p:txBody>
          <a:bodyPr wrap="square" lIns="0" tIns="0" rIns="0" bIns="0" rtlCol="0" anchor="ctr"/>
          <a:lstStyle/>
          <a:p>
            <a:pPr rtl="1" algn="r" indent="0" marL="0">
              <a:buNone/>
            </a:pPr>
            <a:r>
              <a:rPr lang="he-IL" altLang="en-US" sz="1700" dirty="0">
                <a:solidFill>
                  <a:srgbClr val="2B3138"/>
                </a:solidFill>
                <a:latin typeface="Instrument Sans" pitchFamily="34" charset="0"/>
                <a:ea typeface="Instrument Sans" pitchFamily="34" charset="-122"/>
                <a:cs typeface="Assistant" pitchFamily="34" charset="-120"/>
              </a:rPr>
              <a:t>פעולה משמעותית, כמו הזמנה, </a:t>
            </a:r>
            <a:r>
              <a:rPr lang="he-IL" altLang="en-US" sz="1700" b="1" dirty="0">
                <a:solidFill>
                  <a:srgbClr val="5F7368"/>
                </a:solidFill>
                <a:latin typeface="Instrument Sans" pitchFamily="34" charset="0"/>
                <a:ea typeface="Instrument Sans" pitchFamily="34" charset="-122"/>
                <a:cs typeface="Assistant" pitchFamily="34" charset="-120"/>
              </a:rPr>
              <a:t>נבדקת סופית בצד השרת.</a:t>
            </a:r>
            <a:endParaRPr lang="he-IL" sz="1700" dirty="0"/>
          </a:p>
        </p:txBody>
      </p:sp>
      <p:sp>
        <p:nvSpPr>
          <p:cNvPr id="53" name="Text 49"/>
          <p:cNvSpPr txBox="1"/>
          <p:nvPr/>
        </p:nvSpPr>
        <p:spPr>
          <a:xfrm>
            <a:off x="6860743" y="6336792"/>
            <a:ext cx="4572000" cy="256032"/>
          </a:xfrm>
          <a:prstGeom prst="rect">
            <a:avLst/>
          </a:prstGeom>
          <a:noFill/>
          <a:ln/>
        </p:spPr>
        <p:txBody>
          <a:bodyPr wrap="square" lIns="0" tIns="0" rIns="0" bIns="0" rtlCol="0" anchor="ctr"/>
          <a:lstStyle/>
          <a:p>
            <a:pPr rtl="1" algn="r" indent="0" marL="0">
              <a:buNone/>
            </a:pPr>
            <a:r>
              <a:rPr lang="he-IL" altLang="en-US" sz="1100" dirty="0">
                <a:solidFill>
                  <a:srgbClr val="8B8F93"/>
                </a:solidFill>
                <a:latin typeface="Instrument Sans" pitchFamily="34" charset="0"/>
                <a:ea typeface="Instrument Sans" pitchFamily="34" charset="-122"/>
                <a:cs typeface="Assistant" pitchFamily="34" charset="-120"/>
              </a:rPr>
              <a:t>מתכנן</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Jev</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b="1" dirty="0">
                <a:solidFill>
                  <a:srgbClr val="5F7368"/>
                </a:solidFill>
                <a:latin typeface="Instrument Sans" pitchFamily="34" charset="0"/>
                <a:ea typeface="Instrument Sans" pitchFamily="34" charset="-122"/>
                <a:cs typeface="Assistant" pitchFamily="34" charset="-120"/>
              </a:rPr>
              <a:t>הקוד שלנו</a:t>
            </a:r>
            <a:r>
              <a:rPr lang="he-IL" altLang="en-US" sz="1100" dirty="0">
                <a:solidFill>
                  <a:srgbClr val="D8D2C6"/>
                </a:solidFill>
                <a:latin typeface="Instrument Sans" pitchFamily="34" charset="0"/>
                <a:ea typeface="Instrument Sans" pitchFamily="34" charset="-122"/>
                <a:cs typeface="Assistant" pitchFamily="34" charset="-120"/>
              </a:rPr>
              <a:t>   ·   </a:t>
            </a:r>
            <a:r>
              <a:rPr lang="he-IL" altLang="en-US" sz="1100" dirty="0">
                <a:solidFill>
                  <a:srgbClr val="8B8F93"/>
                </a:solidFill>
                <a:latin typeface="Instrument Sans" pitchFamily="34" charset="0"/>
                <a:ea typeface="Instrument Sans" pitchFamily="34" charset="-122"/>
                <a:cs typeface="Assistant" pitchFamily="34" charset="-120"/>
              </a:rPr>
              <a:t>דפדפן</a:t>
            </a:r>
            <a:endParaRPr lang="he-IL"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14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600" dirty="0">
                <a:solidFill>
                  <a:srgbClr val="2B3138"/>
                </a:solidFill>
                <a:latin typeface="Fraunces" pitchFamily="34" charset="0"/>
                <a:ea typeface="Fraunces" pitchFamily="34" charset="-122"/>
                <a:cs typeface="Frank Ruhl Libre" pitchFamily="34" charset="-120"/>
              </a:rPr>
              <a:t>אותה תקלה. עכשיו רואים את ההחלטות.</a:t>
            </a:r>
            <a:endParaRPr lang="he-IL" sz="36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8278063" y="2103120"/>
            <a:ext cx="3154680" cy="502920"/>
          </a:xfrm>
          <a:prstGeom prst="rect">
            <a:avLst/>
          </a:prstGeom>
          <a:noFill/>
          <a:ln/>
        </p:spPr>
        <p:txBody>
          <a:bodyPr wrap="square" lIns="0" tIns="0" rIns="0" bIns="0" rtlCol="0" anchor="t"/>
          <a:lstStyle/>
          <a:p>
            <a:pPr algn="r" indent="0" marL="0">
              <a:buNone/>
            </a:pPr>
            <a:r>
              <a:rPr lang="en-US" sz="3000" i="1" dirty="0">
                <a:solidFill>
                  <a:srgbClr val="5F7368"/>
                </a:solidFill>
                <a:latin typeface="Fraunces" pitchFamily="34" charset="0"/>
                <a:ea typeface="Fraunces" pitchFamily="34" charset="-122"/>
                <a:cs typeface="Frank Ruhl Libre" pitchFamily="34" charset="-120"/>
              </a:rPr>
              <a:t>01</a:t>
            </a:r>
            <a:endParaRPr lang="en-US" sz="3000" dirty="0"/>
          </a:p>
        </p:txBody>
      </p:sp>
      <p:sp>
        <p:nvSpPr>
          <p:cNvPr id="9" name="Text 5"/>
          <p:cNvSpPr txBox="1"/>
          <p:nvPr/>
        </p:nvSpPr>
        <p:spPr>
          <a:xfrm>
            <a:off x="8278063" y="2670048"/>
            <a:ext cx="3154680" cy="292608"/>
          </a:xfrm>
          <a:prstGeom prst="rect">
            <a:avLst/>
          </a:prstGeom>
          <a:noFill/>
          <a:ln/>
        </p:spPr>
        <p:txBody>
          <a:bodyPr wrap="square" lIns="0" tIns="0" rIns="0" bIns="0" rtlCol="0" anchor="t"/>
          <a:lstStyle/>
          <a:p>
            <a:pPr rtl="1" algn="r" indent="0" marL="0">
              <a:buNone/>
            </a:pPr>
            <a:r>
              <a:rPr lang="he-IL" altLang="en-US" sz="1400" b="1" dirty="0">
                <a:solidFill>
                  <a:srgbClr val="5F7368"/>
                </a:solidFill>
                <a:latin typeface="Instrument Sans" pitchFamily="34" charset="0"/>
                <a:ea typeface="Instrument Sans" pitchFamily="34" charset="-122"/>
                <a:cs typeface="Assistant" pitchFamily="34" charset="-120"/>
              </a:rPr>
              <a:t>המצב</a:t>
            </a:r>
            <a:endParaRPr lang="he-IL" sz="1400" dirty="0"/>
          </a:p>
        </p:txBody>
      </p:sp>
      <p:sp>
        <p:nvSpPr>
          <p:cNvPr id="10" name="Text 6"/>
          <p:cNvSpPr txBox="1"/>
          <p:nvPr/>
        </p:nvSpPr>
        <p:spPr>
          <a:xfrm>
            <a:off x="8278063" y="2999232"/>
            <a:ext cx="3154680" cy="438912"/>
          </a:xfrm>
          <a:prstGeom prst="rect">
            <a:avLst/>
          </a:prstGeom>
          <a:noFill/>
          <a:ln/>
        </p:spPr>
        <p:txBody>
          <a:bodyPr wrap="square" lIns="0" tIns="0" rIns="0" bIns="0" rtlCol="0" anchor="t"/>
          <a:lstStyle/>
          <a:p>
            <a:pPr rtl="1" algn="r" indent="0" marL="0">
              <a:buNone/>
            </a:pPr>
            <a:r>
              <a:rPr lang="he-IL" altLang="en-US" sz="2100" b="1" dirty="0">
                <a:solidFill>
                  <a:srgbClr val="A6423F"/>
                </a:solidFill>
                <a:latin typeface="Instrument Sans" pitchFamily="34" charset="0"/>
                <a:ea typeface="Instrument Sans" pitchFamily="34" charset="-122"/>
                <a:cs typeface="Assistant" pitchFamily="34" charset="-120"/>
              </a:rPr>
              <a:t>מלון A מלא</a:t>
            </a:r>
            <a:endParaRPr lang="he-IL" sz="2100" dirty="0"/>
          </a:p>
        </p:txBody>
      </p:sp>
      <p:sp>
        <p:nvSpPr>
          <p:cNvPr id="11" name="Shape 7"/>
          <p:cNvSpPr/>
          <p:nvPr/>
        </p:nvSpPr>
        <p:spPr>
          <a:xfrm>
            <a:off x="8278063" y="3566160"/>
            <a:ext cx="3154680" cy="694944"/>
          </a:xfrm>
          <a:prstGeom prst="rect">
            <a:avLst/>
          </a:prstGeom>
          <a:solidFill>
            <a:srgbClr val="F3EDE2"/>
          </a:solidFill>
          <a:ln w="9525">
            <a:solidFill>
              <a:srgbClr val="D8D2C6"/>
            </a:solidFill>
            <a:prstDash val="solid"/>
          </a:ln>
        </p:spPr>
      </p:sp>
      <p:sp>
        <p:nvSpPr>
          <p:cNvPr id="12" name="Text 8"/>
          <p:cNvSpPr txBox="1"/>
          <p:nvPr/>
        </p:nvSpPr>
        <p:spPr>
          <a:xfrm>
            <a:off x="8506663" y="3767328"/>
            <a:ext cx="2697480" cy="292608"/>
          </a:xfrm>
          <a:prstGeom prst="rect">
            <a:avLst/>
          </a:prstGeom>
          <a:noFill/>
          <a:ln/>
        </p:spPr>
        <p:txBody>
          <a:bodyPr wrap="square" lIns="0" tIns="0" rIns="0" bIns="0" rtlCol="0" anchor="ctr"/>
          <a:lstStyle/>
          <a:p>
            <a:pPr algn="l" indent="0" marL="0">
              <a:buNone/>
            </a:pPr>
            <a:r>
              <a:rPr lang="en-US" sz="1250" dirty="0">
                <a:solidFill>
                  <a:srgbClr val="5F7368"/>
                </a:solidFill>
                <a:latin typeface="JetBrains Mono" pitchFamily="34" charset="0"/>
                <a:ea typeface="JetBrains Mono" pitchFamily="34" charset="-122"/>
                <a:cs typeface="JetBrains Mono" pitchFamily="34" charset="-120"/>
              </a:rPr>
              <a:t>hotel_A</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sold_out</a:t>
            </a:r>
            <a:endParaRPr lang="en-US" sz="1250" dirty="0"/>
          </a:p>
        </p:txBody>
      </p:sp>
      <p:sp>
        <p:nvSpPr>
          <p:cNvPr id="13" name="Text 9"/>
          <p:cNvSpPr txBox="1"/>
          <p:nvPr/>
        </p:nvSpPr>
        <p:spPr>
          <a:xfrm>
            <a:off x="7673188" y="2926080"/>
            <a:ext cx="604876" cy="54864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14" name="Text 10"/>
          <p:cNvSpPr txBox="1"/>
          <p:nvPr/>
        </p:nvSpPr>
        <p:spPr>
          <a:xfrm>
            <a:off x="4518508" y="2103120"/>
            <a:ext cx="3154680" cy="502920"/>
          </a:xfrm>
          <a:prstGeom prst="rect">
            <a:avLst/>
          </a:prstGeom>
          <a:noFill/>
          <a:ln/>
        </p:spPr>
        <p:txBody>
          <a:bodyPr wrap="square" lIns="0" tIns="0" rIns="0" bIns="0" rtlCol="0" anchor="t"/>
          <a:lstStyle/>
          <a:p>
            <a:pPr algn="r" indent="0" marL="0">
              <a:buNone/>
            </a:pPr>
            <a:r>
              <a:rPr lang="en-US" sz="3000" i="1" dirty="0">
                <a:solidFill>
                  <a:srgbClr val="5F7368"/>
                </a:solidFill>
                <a:latin typeface="Fraunces" pitchFamily="34" charset="0"/>
                <a:ea typeface="Fraunces" pitchFamily="34" charset="-122"/>
                <a:cs typeface="Frank Ruhl Libre" pitchFamily="34" charset="-120"/>
              </a:rPr>
              <a:t>02</a:t>
            </a:r>
            <a:endParaRPr lang="en-US" sz="3000" dirty="0"/>
          </a:p>
        </p:txBody>
      </p:sp>
      <p:sp>
        <p:nvSpPr>
          <p:cNvPr id="15" name="Text 11"/>
          <p:cNvSpPr txBox="1"/>
          <p:nvPr/>
        </p:nvSpPr>
        <p:spPr>
          <a:xfrm>
            <a:off x="4518508" y="2670048"/>
            <a:ext cx="3154680" cy="292608"/>
          </a:xfrm>
          <a:prstGeom prst="rect">
            <a:avLst/>
          </a:prstGeom>
          <a:noFill/>
          <a:ln/>
        </p:spPr>
        <p:txBody>
          <a:bodyPr wrap="square" lIns="0" tIns="0" rIns="0" bIns="0" rtlCol="0" anchor="t"/>
          <a:lstStyle/>
          <a:p>
            <a:pPr rtl="1" algn="r" indent="0" marL="0">
              <a:buNone/>
            </a:pPr>
            <a:r>
              <a:rPr lang="he-IL" altLang="en-US" sz="1400" b="1" dirty="0">
                <a:solidFill>
                  <a:srgbClr val="5F7368"/>
                </a:solidFill>
                <a:latin typeface="Instrument Sans" pitchFamily="34" charset="0"/>
                <a:ea typeface="Instrument Sans" pitchFamily="34" charset="-122"/>
                <a:cs typeface="Assistant" pitchFamily="34" charset="-120"/>
              </a:rPr>
              <a:t>הבחירה</a:t>
            </a:r>
            <a:endParaRPr lang="he-IL" sz="1400" dirty="0"/>
          </a:p>
        </p:txBody>
      </p:sp>
      <p:sp>
        <p:nvSpPr>
          <p:cNvPr id="16" name="Text 12"/>
          <p:cNvSpPr txBox="1"/>
          <p:nvPr/>
        </p:nvSpPr>
        <p:spPr>
          <a:xfrm>
            <a:off x="4518508" y="2999232"/>
            <a:ext cx="3154680" cy="438912"/>
          </a:xfrm>
          <a:prstGeom prst="rect">
            <a:avLst/>
          </a:prstGeom>
          <a:noFill/>
          <a:ln/>
        </p:spPr>
        <p:txBody>
          <a:bodyPr wrap="square" lIns="0" tIns="0" rIns="0" bIns="0" rtlCol="0" anchor="t"/>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חזרה לתוצאות</a:t>
            </a:r>
            <a:endParaRPr lang="he-IL" sz="2100" dirty="0"/>
          </a:p>
        </p:txBody>
      </p:sp>
      <p:sp>
        <p:nvSpPr>
          <p:cNvPr id="17" name="Shape 13"/>
          <p:cNvSpPr/>
          <p:nvPr/>
        </p:nvSpPr>
        <p:spPr>
          <a:xfrm>
            <a:off x="4518508" y="3566160"/>
            <a:ext cx="3154680" cy="694944"/>
          </a:xfrm>
          <a:prstGeom prst="rect">
            <a:avLst/>
          </a:prstGeom>
          <a:solidFill>
            <a:srgbClr val="F3EDE2"/>
          </a:solidFill>
          <a:ln w="9525">
            <a:solidFill>
              <a:srgbClr val="D8D2C6"/>
            </a:solidFill>
            <a:prstDash val="solid"/>
          </a:ln>
        </p:spPr>
      </p:sp>
      <p:sp>
        <p:nvSpPr>
          <p:cNvPr id="18" name="Text 14"/>
          <p:cNvSpPr txBox="1"/>
          <p:nvPr/>
        </p:nvSpPr>
        <p:spPr>
          <a:xfrm>
            <a:off x="4747108" y="3767328"/>
            <a:ext cx="2697480" cy="292608"/>
          </a:xfrm>
          <a:prstGeom prst="rect">
            <a:avLst/>
          </a:prstGeom>
          <a:noFill/>
          <a:ln/>
        </p:spPr>
        <p:txBody>
          <a:bodyPr wrap="square" lIns="0" tIns="0" rIns="0" bIns="0" rtlCol="0" anchor="ctr"/>
          <a:lstStyle/>
          <a:p>
            <a:pPr algn="l" indent="0" marL="0">
              <a:buNone/>
            </a:pPr>
            <a:r>
              <a:rPr lang="en-US" sz="1250" dirty="0">
                <a:solidFill>
                  <a:srgbClr val="5F7368"/>
                </a:solidFill>
                <a:latin typeface="JetBrains Mono" pitchFamily="34" charset="0"/>
                <a:ea typeface="JetBrains Mono" pitchFamily="34" charset="-122"/>
                <a:cs typeface="JetBrains Mono" pitchFamily="34" charset="-120"/>
              </a:rPr>
              <a:t>choice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back_to_results</a:t>
            </a:r>
            <a:endParaRPr lang="en-US" sz="1250" dirty="0"/>
          </a:p>
        </p:txBody>
      </p:sp>
      <p:sp>
        <p:nvSpPr>
          <p:cNvPr id="19" name="Text 15"/>
          <p:cNvSpPr txBox="1"/>
          <p:nvPr/>
        </p:nvSpPr>
        <p:spPr>
          <a:xfrm>
            <a:off x="3913632" y="2926080"/>
            <a:ext cx="604876" cy="54864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0" name="Text 16"/>
          <p:cNvSpPr txBox="1"/>
          <p:nvPr/>
        </p:nvSpPr>
        <p:spPr>
          <a:xfrm>
            <a:off x="758952" y="2103120"/>
            <a:ext cx="3154680" cy="502920"/>
          </a:xfrm>
          <a:prstGeom prst="rect">
            <a:avLst/>
          </a:prstGeom>
          <a:noFill/>
          <a:ln/>
        </p:spPr>
        <p:txBody>
          <a:bodyPr wrap="square" lIns="0" tIns="0" rIns="0" bIns="0" rtlCol="0" anchor="t"/>
          <a:lstStyle/>
          <a:p>
            <a:pPr algn="r" indent="0" marL="0">
              <a:buNone/>
            </a:pPr>
            <a:r>
              <a:rPr lang="en-US" sz="3000" i="1" dirty="0">
                <a:solidFill>
                  <a:srgbClr val="5F7368"/>
                </a:solidFill>
                <a:latin typeface="Fraunces" pitchFamily="34" charset="0"/>
                <a:ea typeface="Fraunces" pitchFamily="34" charset="-122"/>
                <a:cs typeface="Frank Ruhl Libre" pitchFamily="34" charset="-120"/>
              </a:rPr>
              <a:t>03</a:t>
            </a:r>
            <a:endParaRPr lang="en-US" sz="3000" dirty="0"/>
          </a:p>
        </p:txBody>
      </p:sp>
      <p:sp>
        <p:nvSpPr>
          <p:cNvPr id="21" name="Text 17"/>
          <p:cNvSpPr txBox="1"/>
          <p:nvPr/>
        </p:nvSpPr>
        <p:spPr>
          <a:xfrm>
            <a:off x="758952" y="2670048"/>
            <a:ext cx="3154680" cy="292608"/>
          </a:xfrm>
          <a:prstGeom prst="rect">
            <a:avLst/>
          </a:prstGeom>
          <a:noFill/>
          <a:ln/>
        </p:spPr>
        <p:txBody>
          <a:bodyPr wrap="square" lIns="0" tIns="0" rIns="0" bIns="0" rtlCol="0" anchor="t"/>
          <a:lstStyle/>
          <a:p>
            <a:pPr rtl="1" algn="r" indent="0" marL="0">
              <a:buNone/>
            </a:pPr>
            <a:r>
              <a:rPr lang="he-IL" altLang="en-US" sz="1400" b="1" dirty="0">
                <a:solidFill>
                  <a:srgbClr val="5F7368"/>
                </a:solidFill>
                <a:latin typeface="Instrument Sans" pitchFamily="34" charset="0"/>
                <a:ea typeface="Instrument Sans" pitchFamily="34" charset="-122"/>
                <a:cs typeface="Assistant" pitchFamily="34" charset="-120"/>
              </a:rPr>
              <a:t>סיבוב שני</a:t>
            </a:r>
            <a:endParaRPr lang="he-IL" sz="1400" dirty="0"/>
          </a:p>
        </p:txBody>
      </p:sp>
      <p:sp>
        <p:nvSpPr>
          <p:cNvPr id="22" name="Text 18"/>
          <p:cNvSpPr txBox="1"/>
          <p:nvPr/>
        </p:nvSpPr>
        <p:spPr>
          <a:xfrm>
            <a:off x="758952" y="2999232"/>
            <a:ext cx="3154680" cy="438912"/>
          </a:xfrm>
          <a:prstGeom prst="rect">
            <a:avLst/>
          </a:prstGeom>
          <a:noFill/>
          <a:ln/>
        </p:spPr>
        <p:txBody>
          <a:bodyPr wrap="square" lIns="0" tIns="0" rIns="0" bIns="0" rtlCol="0" anchor="t"/>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מלון C נגיש ובתקציב</a:t>
            </a:r>
            <a:endParaRPr lang="he-IL" sz="2100" dirty="0"/>
          </a:p>
        </p:txBody>
      </p:sp>
      <p:sp>
        <p:nvSpPr>
          <p:cNvPr id="23" name="Shape 19"/>
          <p:cNvSpPr/>
          <p:nvPr/>
        </p:nvSpPr>
        <p:spPr>
          <a:xfrm>
            <a:off x="758952" y="3566160"/>
            <a:ext cx="3154680" cy="1572768"/>
          </a:xfrm>
          <a:prstGeom prst="rect">
            <a:avLst/>
          </a:prstGeom>
          <a:solidFill>
            <a:srgbClr val="F3EDE2"/>
          </a:solidFill>
          <a:ln w="9525">
            <a:solidFill>
              <a:srgbClr val="D8D2C6"/>
            </a:solidFill>
            <a:prstDash val="solid"/>
          </a:ln>
        </p:spPr>
      </p:sp>
      <p:sp>
        <p:nvSpPr>
          <p:cNvPr id="24" name="Text 20"/>
          <p:cNvSpPr txBox="1"/>
          <p:nvPr/>
        </p:nvSpPr>
        <p:spPr>
          <a:xfrm>
            <a:off x="987552" y="3767328"/>
            <a:ext cx="2697480" cy="292608"/>
          </a:xfrm>
          <a:prstGeom prst="rect">
            <a:avLst/>
          </a:prstGeom>
          <a:noFill/>
          <a:ln/>
        </p:spPr>
        <p:txBody>
          <a:bodyPr wrap="square" lIns="0" tIns="0" rIns="0" bIns="0" rtlCol="0" anchor="ctr"/>
          <a:lstStyle/>
          <a:p>
            <a:pPr algn="l" indent="0" marL="0">
              <a:buNone/>
            </a:pPr>
            <a:r>
              <a:rPr lang="en-US" sz="1250" dirty="0">
                <a:solidFill>
                  <a:srgbClr val="5F7368"/>
                </a:solidFill>
                <a:latin typeface="JetBrains Mono" pitchFamily="34" charset="0"/>
                <a:ea typeface="JetBrains Mono" pitchFamily="34" charset="-122"/>
                <a:cs typeface="JetBrains Mono" pitchFamily="34" charset="-120"/>
              </a:rPr>
              <a:t>choice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open_hotel_C</a:t>
            </a:r>
            <a:endParaRPr lang="en-US" sz="1250" dirty="0"/>
          </a:p>
        </p:txBody>
      </p:sp>
      <p:sp>
        <p:nvSpPr>
          <p:cNvPr id="25" name="Text 21"/>
          <p:cNvSpPr txBox="1"/>
          <p:nvPr/>
        </p:nvSpPr>
        <p:spPr>
          <a:xfrm>
            <a:off x="987552" y="4059936"/>
            <a:ext cx="2697480" cy="292608"/>
          </a:xfrm>
          <a:prstGeom prst="rect">
            <a:avLst/>
          </a:prstGeom>
          <a:noFill/>
          <a:ln/>
        </p:spPr>
        <p:txBody>
          <a:bodyPr wrap="square" lIns="0" tIns="0" rIns="0" bIns="0" rtlCol="0" anchor="ctr"/>
          <a:lstStyle/>
          <a:p>
            <a:pPr algn="l" indent="0" marL="0">
              <a:buNone/>
            </a:pPr>
            <a:r>
              <a:rPr lang="en-US" sz="1250" dirty="0">
                <a:solidFill>
                  <a:srgbClr val="5F7368"/>
                </a:solidFill>
                <a:latin typeface="JetBrains Mono" pitchFamily="34" charset="0"/>
                <a:ea typeface="JetBrains Mono" pitchFamily="34" charset="-122"/>
                <a:cs typeface="JetBrains Mono" pitchFamily="34" charset="-120"/>
              </a:rPr>
              <a:t>hotel_C</a:t>
            </a:r>
            <a:r>
              <a:rPr lang="en-US" sz="1250" dirty="0">
                <a:solidFill>
                  <a:srgbClr val="8B8F93"/>
                </a:solidFill>
                <a:latin typeface="JetBrains Mono" pitchFamily="34" charset="0"/>
                <a:ea typeface="JetBrains Mono" pitchFamily="34" charset="-122"/>
                <a:cs typeface="JetBrains Mono" pitchFamily="34" charset="-120"/>
              </a:rPr>
              <a:t>:</a:t>
            </a:r>
            <a:endParaRPr lang="en-US" sz="1250" dirty="0"/>
          </a:p>
        </p:txBody>
      </p:sp>
      <p:sp>
        <p:nvSpPr>
          <p:cNvPr id="26" name="Text 22"/>
          <p:cNvSpPr txBox="1"/>
          <p:nvPr/>
        </p:nvSpPr>
        <p:spPr>
          <a:xfrm>
            <a:off x="987552" y="4352544"/>
            <a:ext cx="2697480" cy="292608"/>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accessible</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true</a:t>
            </a:r>
            <a:endParaRPr lang="en-US" sz="1250" dirty="0"/>
          </a:p>
        </p:txBody>
      </p:sp>
      <p:sp>
        <p:nvSpPr>
          <p:cNvPr id="27" name="Text 23"/>
          <p:cNvSpPr txBox="1"/>
          <p:nvPr/>
        </p:nvSpPr>
        <p:spPr>
          <a:xfrm>
            <a:off x="987552" y="4645152"/>
            <a:ext cx="2697480" cy="292608"/>
          </a:xfrm>
          <a:prstGeom prst="rect">
            <a:avLst/>
          </a:prstGeom>
          <a:noFill/>
          <a:ln/>
        </p:spPr>
        <p:txBody>
          <a:bodyPr wrap="square" lIns="0" tIns="0" rIns="0" bIns="0" rtlCol="0" anchor="ctr"/>
          <a:lstStyle/>
          <a:p>
            <a:pPr algn="l" indent="0" marL="0">
              <a:buNone/>
            </a:pPr>
            <a:r>
              <a:rPr lang="en-US" sz="1250" dirty="0">
                <a:solidFill>
                  <a:srgbClr val="8B8F93"/>
                </a:solidFill>
                <a:latin typeface="JetBrains Mono" pitchFamily="34" charset="0"/>
                <a:ea typeface="JetBrains Mono" pitchFamily="34" charset="-122"/>
                <a:cs typeface="JetBrains Mono" pitchFamily="34" charset="-120"/>
              </a:rPr>
              <a:t>  </a:t>
            </a:r>
            <a:r>
              <a:rPr lang="en-US" sz="1250" dirty="0">
                <a:solidFill>
                  <a:srgbClr val="5F7368"/>
                </a:solidFill>
                <a:latin typeface="JetBrains Mono" pitchFamily="34" charset="0"/>
                <a:ea typeface="JetBrains Mono" pitchFamily="34" charset="-122"/>
                <a:cs typeface="JetBrains Mono" pitchFamily="34" charset="-120"/>
              </a:rPr>
              <a:t>total_eur</a:t>
            </a:r>
            <a:r>
              <a:rPr lang="en-US" sz="1250" dirty="0">
                <a:solidFill>
                  <a:srgbClr val="8B8F93"/>
                </a:solidFill>
                <a:latin typeface="JetBrains Mono" pitchFamily="34" charset="0"/>
                <a:ea typeface="JetBrains Mono" pitchFamily="34" charset="-122"/>
                <a:cs typeface="JetBrains Mono" pitchFamily="34" charset="-120"/>
              </a:rPr>
              <a:t>:</a:t>
            </a:r>
            <a:r>
              <a:rPr lang="en-US" sz="1250" dirty="0">
                <a:solidFill>
                  <a:srgbClr val="2B3138"/>
                </a:solidFill>
                <a:latin typeface="JetBrains Mono" pitchFamily="34" charset="0"/>
                <a:ea typeface="JetBrains Mono" pitchFamily="34" charset="-122"/>
                <a:cs typeface="JetBrains Mono" pitchFamily="34" charset="-120"/>
              </a:rPr>
              <a:t> 590</a:t>
            </a:r>
            <a:endParaRPr lang="en-US" sz="1250" dirty="0"/>
          </a:p>
        </p:txBody>
      </p:sp>
      <p:sp>
        <p:nvSpPr>
          <p:cNvPr id="28" name="Shape 24"/>
          <p:cNvSpPr/>
          <p:nvPr/>
        </p:nvSpPr>
        <p:spPr>
          <a:xfrm>
            <a:off x="758952" y="5349240"/>
            <a:ext cx="10673791" cy="640080"/>
          </a:xfrm>
          <a:prstGeom prst="rect">
            <a:avLst/>
          </a:prstGeom>
          <a:solidFill>
            <a:srgbClr val="F3EDE2"/>
          </a:solidFill>
          <a:ln/>
        </p:spPr>
      </p:sp>
      <p:sp>
        <p:nvSpPr>
          <p:cNvPr id="29" name="Shape 25"/>
          <p:cNvSpPr/>
          <p:nvPr/>
        </p:nvSpPr>
        <p:spPr>
          <a:xfrm>
            <a:off x="11414455" y="5349240"/>
            <a:ext cx="0" cy="640080"/>
          </a:xfrm>
          <a:prstGeom prst="line">
            <a:avLst/>
          </a:prstGeom>
          <a:noFill/>
          <a:ln w="38100">
            <a:solidFill>
              <a:srgbClr val="8FA396"/>
            </a:solidFill>
            <a:prstDash val="solid"/>
          </a:ln>
        </p:spPr>
      </p:sp>
      <p:sp>
        <p:nvSpPr>
          <p:cNvPr id="30" name="Text 26"/>
          <p:cNvSpPr txBox="1"/>
          <p:nvPr/>
        </p:nvSpPr>
        <p:spPr>
          <a:xfrm>
            <a:off x="1078992" y="5349240"/>
            <a:ext cx="10033711" cy="640080"/>
          </a:xfrm>
          <a:prstGeom prst="rect">
            <a:avLst/>
          </a:prstGeom>
          <a:noFill/>
          <a:ln/>
        </p:spPr>
        <p:txBody>
          <a:bodyPr wrap="square" lIns="0" tIns="0" rIns="0" bIns="0" rtlCol="0" anchor="ctr"/>
          <a:lstStyle/>
          <a:p>
            <a:pPr rtl="1" algn="r" indent="0" marL="0">
              <a:buNone/>
            </a:pPr>
            <a:r>
              <a:rPr lang="he-IL" altLang="en-US" sz="1800" b="1" dirty="0">
                <a:solidFill>
                  <a:srgbClr val="5F7368"/>
                </a:solidFill>
                <a:latin typeface="Instrument Sans" pitchFamily="34" charset="0"/>
                <a:ea typeface="Instrument Sans" pitchFamily="34" charset="-122"/>
                <a:cs typeface="Assistant" pitchFamily="34" charset="-120"/>
              </a:rPr>
              <a:t>לפני שחושפים: </a:t>
            </a:r>
            <a:r>
              <a:rPr lang="he-IL" altLang="en-US" sz="1800" dirty="0">
                <a:solidFill>
                  <a:srgbClr val="2B3138"/>
                </a:solidFill>
                <a:latin typeface="Instrument Sans" pitchFamily="34" charset="0"/>
                <a:ea typeface="Instrument Sans" pitchFamily="34" charset="-122"/>
                <a:cs typeface="Assistant" pitchFamily="34" charset="-120"/>
              </a:rPr>
              <a:t>מי רוצה לנחש את הצעד הבא?</a:t>
            </a:r>
            <a:endParaRPr lang="he-IL"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pic>
        <p:nvPicPr>
          <p:cNvPr id="3" name="Image 0" descr="/home/claude/b2/image5.jpg">    </p:cNvPr>
          <p:cNvPicPr>
            <a:picLocks noChangeAspect="1"/>
          </p:cNvPicPr>
          <p:nvPr/>
        </p:nvPicPr>
        <p:blipFill>
          <a:blip r:embed="rId1"/>
          <a:stretch>
            <a:fillRect/>
          </a:stretch>
        </p:blipFill>
        <p:spPr>
          <a:xfrm>
            <a:off x="0" y="0"/>
            <a:ext cx="12191695" cy="6858000"/>
          </a:xfrm>
          <a:prstGeom prst="rect">
            <a:avLst/>
          </a:prstGeom>
        </p:spPr>
      </p:pic>
      <p:pic>
        <p:nvPicPr>
          <p:cNvPr id="4" name="Image 1" descr="/home/claude/b2/icon.png">    </p:cNvPr>
          <p:cNvPicPr>
            <a:picLocks noChangeAspect="1"/>
          </p:cNvPicPr>
          <p:nvPr/>
        </p:nvPicPr>
        <p:blipFill>
          <a:blip r:embed="rId2"/>
          <a:stretch>
            <a:fillRect/>
          </a:stretch>
        </p:blipFill>
        <p:spPr>
          <a:xfrm>
            <a:off x="11121847" y="329184"/>
            <a:ext cx="310896" cy="310896"/>
          </a:xfrm>
          <a:prstGeom prst="rect">
            <a:avLst/>
          </a:prstGeom>
        </p:spPr>
      </p:pic>
      <p:sp>
        <p:nvSpPr>
          <p:cNvPr id="5"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6" name="Text 1"/>
          <p:cNvSpPr txBox="1"/>
          <p:nvPr/>
        </p:nvSpPr>
        <p:spPr>
          <a:xfrm>
            <a:off x="10061143" y="6336792"/>
            <a:ext cx="1371600" cy="256032"/>
          </a:xfrm>
          <a:prstGeom prst="rect">
            <a:avLst/>
          </a:prstGeom>
          <a:noFill/>
          <a:ln/>
        </p:spPr>
        <p:txBody>
          <a:bodyPr wrap="square" lIns="0" tIns="0" rIns="0" bIns="0" rtlCol="0" anchor="ctr"/>
          <a:lstStyle/>
          <a:p>
            <a:pPr algn="r" indent="0" marL="0">
              <a:buNone/>
            </a:pPr>
            <a:r>
              <a:rPr lang="en-US" sz="1000" dirty="0">
                <a:solidFill>
                  <a:srgbClr val="8B8F93"/>
                </a:solidFill>
                <a:latin typeface="Instrument Sans" pitchFamily="34" charset="0"/>
                <a:ea typeface="Instrument Sans" pitchFamily="34" charset="-122"/>
                <a:cs typeface="Assistant" pitchFamily="34" charset="-120"/>
              </a:rPr>
              <a:t>15 / 21</a:t>
            </a:r>
            <a:endParaRPr lang="en-US" sz="1000" dirty="0"/>
          </a:p>
        </p:txBody>
      </p:sp>
      <p:sp>
        <p:nvSpPr>
          <p:cNvPr id="7" name="Text 2"/>
          <p:cNvSpPr txBox="1"/>
          <p:nvPr/>
        </p:nvSpPr>
        <p:spPr>
          <a:xfrm>
            <a:off x="6035040" y="1188720"/>
            <a:ext cx="5397703" cy="1417320"/>
          </a:xfrm>
          <a:prstGeom prst="rect">
            <a:avLst/>
          </a:prstGeom>
          <a:noFill/>
          <a:ln/>
        </p:spPr>
        <p:txBody>
          <a:bodyPr wrap="square" lIns="0" tIns="0" rIns="0" bIns="0" rtlCol="0" anchor="t"/>
          <a:lstStyle/>
          <a:p>
            <a:pPr rtl="1" algn="r" indent="0" marL="0">
              <a:lnSpc>
                <a:spcPct val="98000"/>
              </a:lnSpc>
              <a:buNone/>
            </a:pPr>
            <a:r>
              <a:rPr lang="he-IL" altLang="en-US" sz="4200" dirty="0">
                <a:solidFill>
                  <a:srgbClr val="2B3138"/>
                </a:solidFill>
                <a:latin typeface="Fraunces" pitchFamily="34" charset="0"/>
                <a:ea typeface="Fraunces" pitchFamily="34" charset="-122"/>
                <a:cs typeface="Frank Ruhl Libre" pitchFamily="34" charset="-120"/>
              </a:rPr>
              <a:t>אין מלון שעומד</a:t>
            </a:r>
            <a:endParaRPr lang="he-IL" sz="4200" dirty="0"/>
          </a:p>
          <a:p>
            <a:pPr rtl="1" algn="r" indent="0" marL="0">
              <a:lnSpc>
                <a:spcPct val="98000"/>
              </a:lnSpc>
              <a:buNone/>
            </a:pPr>
            <a:r>
              <a:rPr lang="he-IL" altLang="en-US" sz="4200" dirty="0">
                <a:solidFill>
                  <a:srgbClr val="2B3138"/>
                </a:solidFill>
                <a:latin typeface="Fraunces" pitchFamily="34" charset="0"/>
                <a:ea typeface="Fraunces" pitchFamily="34" charset="-122"/>
                <a:cs typeface="Frank Ruhl Libre" pitchFamily="34" charset="-120"/>
              </a:rPr>
              <a:t>בכל התנאים</a:t>
            </a:r>
            <a:endParaRPr lang="he-IL" sz="4200" dirty="0"/>
          </a:p>
        </p:txBody>
      </p:sp>
      <p:sp>
        <p:nvSpPr>
          <p:cNvPr id="8" name="Shape 3"/>
          <p:cNvSpPr/>
          <p:nvPr/>
        </p:nvSpPr>
        <p:spPr>
          <a:xfrm>
            <a:off x="6035040" y="2834640"/>
            <a:ext cx="5397703" cy="0"/>
          </a:xfrm>
          <a:prstGeom prst="line">
            <a:avLst/>
          </a:prstGeom>
          <a:noFill/>
          <a:ln w="9525">
            <a:solidFill>
              <a:srgbClr val="E4E0D6"/>
            </a:solidFill>
            <a:prstDash val="solid"/>
          </a:ln>
        </p:spPr>
      </p:sp>
      <p:sp>
        <p:nvSpPr>
          <p:cNvPr id="9" name="Text 4"/>
          <p:cNvSpPr txBox="1"/>
          <p:nvPr/>
        </p:nvSpPr>
        <p:spPr>
          <a:xfrm>
            <a:off x="8872423" y="2971800"/>
            <a:ext cx="2560320" cy="914400"/>
          </a:xfrm>
          <a:prstGeom prst="rect">
            <a:avLst/>
          </a:prstGeom>
          <a:noFill/>
          <a:ln/>
        </p:spPr>
        <p:txBody>
          <a:bodyPr wrap="square" lIns="0" tIns="0" rIns="0" bIns="0" rtlCol="0" anchor="ctr"/>
          <a:lstStyle/>
          <a:p>
            <a:pPr algn="r" indent="0" marL="0">
              <a:buNone/>
            </a:pPr>
            <a:r>
              <a:rPr lang="en-US" sz="6000" dirty="0">
                <a:solidFill>
                  <a:srgbClr val="2B3138"/>
                </a:solidFill>
                <a:latin typeface="Fraunces" pitchFamily="34" charset="0"/>
                <a:ea typeface="Fraunces" pitchFamily="34" charset="-122"/>
                <a:cs typeface="Frank Ruhl Libre" pitchFamily="34" charset="-120"/>
              </a:rPr>
              <a:t>€500</a:t>
            </a:r>
            <a:endParaRPr lang="en-US" sz="6000" dirty="0"/>
          </a:p>
        </p:txBody>
      </p:sp>
      <p:sp>
        <p:nvSpPr>
          <p:cNvPr id="10" name="Text 5"/>
          <p:cNvSpPr txBox="1"/>
          <p:nvPr/>
        </p:nvSpPr>
        <p:spPr>
          <a:xfrm>
            <a:off x="6035040" y="2971800"/>
            <a:ext cx="2654503" cy="914400"/>
          </a:xfrm>
          <a:prstGeom prst="rect">
            <a:avLst/>
          </a:prstGeom>
          <a:noFill/>
          <a:ln/>
        </p:spPr>
        <p:txBody>
          <a:bodyPr wrap="square" lIns="0" tIns="0" rIns="0" bIns="0" rtlCol="0" anchor="ctr"/>
          <a:lstStyle/>
          <a:p>
            <a:pPr rtl="1" algn="r" indent="0" marL="0">
              <a:buNone/>
            </a:pPr>
            <a:r>
              <a:rPr lang="he-IL" altLang="en-US" sz="1900" dirty="0">
                <a:solidFill>
                  <a:srgbClr val="5A6067"/>
                </a:solidFill>
                <a:latin typeface="Instrument Sans" pitchFamily="34" charset="0"/>
                <a:ea typeface="Instrument Sans" pitchFamily="34" charset="-122"/>
                <a:cs typeface="Assistant" pitchFamily="34" charset="-120"/>
              </a:rPr>
              <a:t>+ נגישות: חובה</a:t>
            </a:r>
            <a:endParaRPr lang="he-IL" sz="1900" dirty="0"/>
          </a:p>
        </p:txBody>
      </p:sp>
      <p:sp>
        <p:nvSpPr>
          <p:cNvPr id="11" name="Shape 6"/>
          <p:cNvSpPr/>
          <p:nvPr/>
        </p:nvSpPr>
        <p:spPr>
          <a:xfrm>
            <a:off x="6035040" y="4023360"/>
            <a:ext cx="5397703" cy="0"/>
          </a:xfrm>
          <a:prstGeom prst="line">
            <a:avLst/>
          </a:prstGeom>
          <a:noFill/>
          <a:ln w="9525">
            <a:solidFill>
              <a:srgbClr val="E4E0D6"/>
            </a:solidFill>
            <a:prstDash val="solid"/>
          </a:ln>
        </p:spPr>
      </p:sp>
      <p:sp>
        <p:nvSpPr>
          <p:cNvPr id="12" name="Text 7"/>
          <p:cNvSpPr txBox="1"/>
          <p:nvPr/>
        </p:nvSpPr>
        <p:spPr>
          <a:xfrm>
            <a:off x="6035040" y="4206240"/>
            <a:ext cx="5397703" cy="502920"/>
          </a:xfrm>
          <a:prstGeom prst="rect">
            <a:avLst/>
          </a:prstGeom>
          <a:noFill/>
          <a:ln/>
        </p:spPr>
        <p:txBody>
          <a:bodyPr wrap="square" lIns="0" tIns="0" rIns="0" bIns="0" rtlCol="0" anchor="t"/>
          <a:lstStyle/>
          <a:p>
            <a:pPr rtl="1" algn="r" indent="0" marL="0">
              <a:buNone/>
            </a:pPr>
            <a:r>
              <a:rPr lang="he-IL" altLang="en-US" sz="3000" dirty="0">
                <a:solidFill>
                  <a:srgbClr val="2B3138"/>
                </a:solidFill>
                <a:latin typeface="Fraunces" pitchFamily="34" charset="0"/>
                <a:ea typeface="Fraunces" pitchFamily="34" charset="-122"/>
                <a:cs typeface="Frank Ruhl Libre" pitchFamily="34" charset="-120"/>
              </a:rPr>
              <a:t>הסוכן שואל.</a:t>
            </a:r>
            <a:endParaRPr lang="he-IL" sz="3000" dirty="0"/>
          </a:p>
        </p:txBody>
      </p:sp>
      <p:sp>
        <p:nvSpPr>
          <p:cNvPr id="13" name="Text 8"/>
          <p:cNvSpPr txBox="1"/>
          <p:nvPr/>
        </p:nvSpPr>
        <p:spPr>
          <a:xfrm>
            <a:off x="6035040" y="4709160"/>
            <a:ext cx="5397703" cy="502920"/>
          </a:xfrm>
          <a:prstGeom prst="rect">
            <a:avLst/>
          </a:prstGeom>
          <a:noFill/>
          <a:ln/>
        </p:spPr>
        <p:txBody>
          <a:bodyPr wrap="square" lIns="0" tIns="0" rIns="0" bIns="0" rtlCol="0" anchor="t"/>
          <a:lstStyle/>
          <a:p>
            <a:pPr rtl="1" algn="r" indent="0" marL="0">
              <a:buNone/>
            </a:pPr>
            <a:r>
              <a:rPr lang="he-IL" altLang="en-US" sz="3000" dirty="0">
                <a:solidFill>
                  <a:srgbClr val="2B3138"/>
                </a:solidFill>
                <a:latin typeface="Fraunces" pitchFamily="34" charset="0"/>
                <a:ea typeface="Fraunces" pitchFamily="34" charset="-122"/>
                <a:cs typeface="Frank Ruhl Libre" pitchFamily="34" charset="-120"/>
              </a:rPr>
              <a:t>הוא לא משנה תנאים לבד.</a:t>
            </a:r>
            <a:endParaRPr lang="he-IL" sz="3000" dirty="0"/>
          </a:p>
        </p:txBody>
      </p:sp>
      <p:sp>
        <p:nvSpPr>
          <p:cNvPr id="14" name="Shape 9"/>
          <p:cNvSpPr/>
          <p:nvPr/>
        </p:nvSpPr>
        <p:spPr>
          <a:xfrm>
            <a:off x="6035040" y="5440680"/>
            <a:ext cx="5397703" cy="685800"/>
          </a:xfrm>
          <a:prstGeom prst="rect">
            <a:avLst/>
          </a:prstGeom>
          <a:solidFill>
            <a:srgbClr val="F3EDE2"/>
          </a:solidFill>
          <a:ln/>
        </p:spPr>
      </p:sp>
      <p:sp>
        <p:nvSpPr>
          <p:cNvPr id="15" name="Shape 10"/>
          <p:cNvSpPr/>
          <p:nvPr/>
        </p:nvSpPr>
        <p:spPr>
          <a:xfrm>
            <a:off x="11414455" y="5440680"/>
            <a:ext cx="0" cy="685800"/>
          </a:xfrm>
          <a:prstGeom prst="line">
            <a:avLst/>
          </a:prstGeom>
          <a:noFill/>
          <a:ln w="38100">
            <a:solidFill>
              <a:srgbClr val="8FA396"/>
            </a:solidFill>
            <a:prstDash val="solid"/>
          </a:ln>
        </p:spPr>
      </p:sp>
      <p:sp>
        <p:nvSpPr>
          <p:cNvPr id="16" name="Text 11"/>
          <p:cNvSpPr txBox="1"/>
          <p:nvPr/>
        </p:nvSpPr>
        <p:spPr>
          <a:xfrm>
            <a:off x="6355080" y="5440680"/>
            <a:ext cx="4757623" cy="685800"/>
          </a:xfrm>
          <a:prstGeom prst="rect">
            <a:avLst/>
          </a:prstGeom>
          <a:noFill/>
          <a:ln/>
        </p:spPr>
        <p:txBody>
          <a:bodyPr wrap="square" lIns="0" tIns="0" rIns="0" bIns="0" rtlCol="0" anchor="ctr"/>
          <a:lstStyle/>
          <a:p>
            <a:pPr rtl="1" algn="r" indent="0" marL="0">
              <a:buNone/>
            </a:pPr>
            <a:r>
              <a:rPr lang="he-IL" altLang="en-US" sz="1600" b="1" dirty="0">
                <a:solidFill>
                  <a:srgbClr val="5F7368"/>
                </a:solidFill>
                <a:latin typeface="Instrument Sans" pitchFamily="34" charset="0"/>
                <a:ea typeface="Instrument Sans" pitchFamily="34" charset="-122"/>
                <a:cs typeface="Assistant" pitchFamily="34" charset="-120"/>
              </a:rPr>
              <a:t>לכן: </a:t>
            </a:r>
            <a:r>
              <a:rPr lang="he-IL" altLang="en-US" sz="1600" dirty="0">
                <a:solidFill>
                  <a:srgbClr val="2B3138"/>
                </a:solidFill>
                <a:latin typeface="Instrument Sans" pitchFamily="34" charset="0"/>
                <a:ea typeface="Instrument Sans" pitchFamily="34" charset="-122"/>
                <a:cs typeface="Assistant" pitchFamily="34" charset="-120"/>
              </a:rPr>
              <a:t>ברשימה תמיד יש stop, ויש מגבלת צעדים.</a:t>
            </a:r>
            <a:endParaRPr lang="he-IL"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16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מה נשאר באחריותנו?</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10792663" y="2286000"/>
            <a:ext cx="64008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01</a:t>
            </a:r>
            <a:endParaRPr lang="en-US" sz="2200" dirty="0"/>
          </a:p>
        </p:txBody>
      </p:sp>
      <p:sp>
        <p:nvSpPr>
          <p:cNvPr id="9" name="Text 5"/>
          <p:cNvSpPr txBox="1"/>
          <p:nvPr/>
        </p:nvSpPr>
        <p:spPr>
          <a:xfrm>
            <a:off x="6370168" y="2286000"/>
            <a:ext cx="4239616" cy="41148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מצב אמין</a:t>
            </a:r>
            <a:endParaRPr lang="he-IL" sz="2100" dirty="0"/>
          </a:p>
        </p:txBody>
      </p:sp>
      <p:sp>
        <p:nvSpPr>
          <p:cNvPr id="10" name="Text 6"/>
          <p:cNvSpPr txBox="1"/>
          <p:nvPr/>
        </p:nvSpPr>
        <p:spPr>
          <a:xfrm>
            <a:off x="6370168" y="2724912"/>
            <a:ext cx="4239616"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מידע קצר ועדכני מתוך האתר</a:t>
            </a:r>
            <a:endParaRPr lang="he-IL" sz="1600" dirty="0"/>
          </a:p>
        </p:txBody>
      </p:sp>
      <p:sp>
        <p:nvSpPr>
          <p:cNvPr id="11" name="Text 7"/>
          <p:cNvSpPr txBox="1"/>
          <p:nvPr/>
        </p:nvSpPr>
        <p:spPr>
          <a:xfrm>
            <a:off x="5181448" y="2286000"/>
            <a:ext cx="64008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02</a:t>
            </a:r>
            <a:endParaRPr lang="en-US" sz="2200" dirty="0"/>
          </a:p>
        </p:txBody>
      </p:sp>
      <p:sp>
        <p:nvSpPr>
          <p:cNvPr id="12" name="Text 8"/>
          <p:cNvSpPr txBox="1"/>
          <p:nvPr/>
        </p:nvSpPr>
        <p:spPr>
          <a:xfrm>
            <a:off x="758952" y="2286000"/>
            <a:ext cx="4239616" cy="41148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פעולות מוגדרות</a:t>
            </a:r>
            <a:endParaRPr lang="he-IL" sz="2100" dirty="0"/>
          </a:p>
        </p:txBody>
      </p:sp>
      <p:sp>
        <p:nvSpPr>
          <p:cNvPr id="13" name="Text 9"/>
          <p:cNvSpPr txBox="1"/>
          <p:nvPr/>
        </p:nvSpPr>
        <p:spPr>
          <a:xfrm>
            <a:off x="758952" y="2724912"/>
            <a:ext cx="4239616"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רק מה שאפשר לבצע כרגע</a:t>
            </a:r>
            <a:endParaRPr lang="he-IL" sz="1600" dirty="0"/>
          </a:p>
        </p:txBody>
      </p:sp>
      <p:sp>
        <p:nvSpPr>
          <p:cNvPr id="14" name="Shape 10"/>
          <p:cNvSpPr/>
          <p:nvPr/>
        </p:nvSpPr>
        <p:spPr>
          <a:xfrm>
            <a:off x="6370168" y="3429000"/>
            <a:ext cx="5062576" cy="0"/>
          </a:xfrm>
          <a:prstGeom prst="line">
            <a:avLst/>
          </a:prstGeom>
          <a:noFill/>
          <a:ln w="9525">
            <a:solidFill>
              <a:srgbClr val="E4E0D6"/>
            </a:solidFill>
            <a:prstDash val="solid"/>
          </a:ln>
        </p:spPr>
      </p:sp>
      <p:sp>
        <p:nvSpPr>
          <p:cNvPr id="15" name="Text 11"/>
          <p:cNvSpPr txBox="1"/>
          <p:nvPr/>
        </p:nvSpPr>
        <p:spPr>
          <a:xfrm>
            <a:off x="10792663" y="3611880"/>
            <a:ext cx="64008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03</a:t>
            </a:r>
            <a:endParaRPr lang="en-US" sz="2200" dirty="0"/>
          </a:p>
        </p:txBody>
      </p:sp>
      <p:sp>
        <p:nvSpPr>
          <p:cNvPr id="16" name="Text 12"/>
          <p:cNvSpPr txBox="1"/>
          <p:nvPr/>
        </p:nvSpPr>
        <p:spPr>
          <a:xfrm>
            <a:off x="6370168" y="3611880"/>
            <a:ext cx="4239616" cy="41148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תנאים בקוד</a:t>
            </a:r>
            <a:endParaRPr lang="he-IL" sz="2100" dirty="0"/>
          </a:p>
        </p:txBody>
      </p:sp>
      <p:sp>
        <p:nvSpPr>
          <p:cNvPr id="17" name="Text 13"/>
          <p:cNvSpPr txBox="1"/>
          <p:nvPr/>
        </p:nvSpPr>
        <p:spPr>
          <a:xfrm>
            <a:off x="6370168" y="4050792"/>
            <a:ext cx="4239616"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תקציב, נגישות והרשאות</a:t>
            </a:r>
            <a:endParaRPr lang="he-IL" sz="1600" dirty="0"/>
          </a:p>
        </p:txBody>
      </p:sp>
      <p:sp>
        <p:nvSpPr>
          <p:cNvPr id="18" name="Shape 14"/>
          <p:cNvSpPr/>
          <p:nvPr/>
        </p:nvSpPr>
        <p:spPr>
          <a:xfrm>
            <a:off x="758952" y="3429000"/>
            <a:ext cx="5062576" cy="0"/>
          </a:xfrm>
          <a:prstGeom prst="line">
            <a:avLst/>
          </a:prstGeom>
          <a:noFill/>
          <a:ln w="9525">
            <a:solidFill>
              <a:srgbClr val="E4E0D6"/>
            </a:solidFill>
            <a:prstDash val="solid"/>
          </a:ln>
        </p:spPr>
      </p:sp>
      <p:sp>
        <p:nvSpPr>
          <p:cNvPr id="19" name="Text 15"/>
          <p:cNvSpPr txBox="1"/>
          <p:nvPr/>
        </p:nvSpPr>
        <p:spPr>
          <a:xfrm>
            <a:off x="5181448" y="3611880"/>
            <a:ext cx="640080" cy="41148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04</a:t>
            </a:r>
            <a:endParaRPr lang="en-US" sz="2200" dirty="0"/>
          </a:p>
        </p:txBody>
      </p:sp>
      <p:sp>
        <p:nvSpPr>
          <p:cNvPr id="20" name="Text 16"/>
          <p:cNvSpPr txBox="1"/>
          <p:nvPr/>
        </p:nvSpPr>
        <p:spPr>
          <a:xfrm>
            <a:off x="758952" y="3611880"/>
            <a:ext cx="4239616" cy="41148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דרך לעצור</a:t>
            </a:r>
            <a:endParaRPr lang="he-IL" sz="2100" dirty="0"/>
          </a:p>
        </p:txBody>
      </p:sp>
      <p:sp>
        <p:nvSpPr>
          <p:cNvPr id="21" name="Text 17"/>
          <p:cNvSpPr txBox="1"/>
          <p:nvPr/>
        </p:nvSpPr>
        <p:spPr>
          <a:xfrm>
            <a:off x="758952" y="4050792"/>
            <a:ext cx="4239616"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כשאין התאמה, התקדמות או הרשאה</a:t>
            </a:r>
            <a:endParaRPr lang="he-IL" sz="1600" dirty="0"/>
          </a:p>
        </p:txBody>
      </p:sp>
      <p:sp>
        <p:nvSpPr>
          <p:cNvPr id="22" name="Shape 18"/>
          <p:cNvSpPr/>
          <p:nvPr/>
        </p:nvSpPr>
        <p:spPr>
          <a:xfrm>
            <a:off x="758952" y="4983480"/>
            <a:ext cx="10673791" cy="685800"/>
          </a:xfrm>
          <a:prstGeom prst="rect">
            <a:avLst/>
          </a:prstGeom>
          <a:solidFill>
            <a:srgbClr val="F3EDE2"/>
          </a:solidFill>
          <a:ln/>
        </p:spPr>
      </p:sp>
      <p:sp>
        <p:nvSpPr>
          <p:cNvPr id="23" name="Shape 19"/>
          <p:cNvSpPr/>
          <p:nvPr/>
        </p:nvSpPr>
        <p:spPr>
          <a:xfrm>
            <a:off x="11414455" y="4983480"/>
            <a:ext cx="0" cy="685800"/>
          </a:xfrm>
          <a:prstGeom prst="line">
            <a:avLst/>
          </a:prstGeom>
          <a:noFill/>
          <a:ln w="38100">
            <a:solidFill>
              <a:srgbClr val="8FA396"/>
            </a:solidFill>
            <a:prstDash val="solid"/>
          </a:ln>
        </p:spPr>
      </p:sp>
      <p:sp>
        <p:nvSpPr>
          <p:cNvPr id="24" name="Text 20"/>
          <p:cNvSpPr txBox="1"/>
          <p:nvPr/>
        </p:nvSpPr>
        <p:spPr>
          <a:xfrm>
            <a:off x="1078992" y="4983480"/>
            <a:ext cx="10033711" cy="685800"/>
          </a:xfrm>
          <a:prstGeom prst="rect">
            <a:avLst/>
          </a:prstGeom>
          <a:noFill/>
          <a:ln/>
        </p:spPr>
        <p:txBody>
          <a:bodyPr wrap="square" lIns="0" tIns="0" rIns="0" bIns="0" rtlCol="0" anchor="ctr"/>
          <a:lstStyle/>
          <a:p>
            <a:pPr rtl="1" algn="r" indent="0" marL="0">
              <a:buNone/>
            </a:pPr>
            <a:r>
              <a:rPr lang="he-IL" altLang="en-US" sz="1700" dirty="0">
                <a:solidFill>
                  <a:srgbClr val="2B3138"/>
                </a:solidFill>
                <a:latin typeface="Instrument Sans" pitchFamily="34" charset="0"/>
                <a:ea typeface="Instrument Sans" pitchFamily="34" charset="-122"/>
                <a:cs typeface="Assistant" pitchFamily="34" charset="-120"/>
              </a:rPr>
              <a:t>טקסט באתר יכול לנסות להנחות את המודל (prompt injection). </a:t>
            </a:r>
            <a:r>
              <a:rPr lang="he-IL" altLang="en-US" sz="1700" b="1" dirty="0">
                <a:solidFill>
                  <a:srgbClr val="5F7368"/>
                </a:solidFill>
                <a:latin typeface="Instrument Sans" pitchFamily="34" charset="0"/>
                <a:ea typeface="Instrument Sans" pitchFamily="34" charset="-122"/>
                <a:cs typeface="Assistant" pitchFamily="34" charset="-120"/>
              </a:rPr>
              <a:t>הוא מידע, לא הרשאה.</a:t>
            </a:r>
            <a:endParaRPr lang="he-IL"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17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מה אפשר לנסות מחר?</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8240573" y="2103120"/>
            <a:ext cx="3192170" cy="457200"/>
          </a:xfrm>
          <a:prstGeom prst="rect">
            <a:avLst/>
          </a:prstGeom>
          <a:noFill/>
          <a:ln/>
        </p:spPr>
        <p:txBody>
          <a:bodyPr wrap="square" lIns="0" tIns="0" rIns="0" bIns="0" rtlCol="0" anchor="t"/>
          <a:lstStyle/>
          <a:p>
            <a:pPr algn="r" indent="0" marL="0">
              <a:buNone/>
            </a:pPr>
            <a:r>
              <a:rPr lang="en-US" sz="2600" i="1" dirty="0">
                <a:solidFill>
                  <a:srgbClr val="5F7368"/>
                </a:solidFill>
                <a:latin typeface="Fraunces" pitchFamily="34" charset="0"/>
                <a:ea typeface="Fraunces" pitchFamily="34" charset="-122"/>
                <a:cs typeface="Frank Ruhl Libre" pitchFamily="34" charset="-120"/>
              </a:rPr>
              <a:t>01</a:t>
            </a:r>
            <a:endParaRPr lang="en-US" sz="2600" dirty="0"/>
          </a:p>
        </p:txBody>
      </p:sp>
      <p:sp>
        <p:nvSpPr>
          <p:cNvPr id="9" name="Text 5"/>
          <p:cNvSpPr txBox="1"/>
          <p:nvPr/>
        </p:nvSpPr>
        <p:spPr>
          <a:xfrm>
            <a:off x="8240573" y="2606040"/>
            <a:ext cx="3192170" cy="411480"/>
          </a:xfrm>
          <a:prstGeom prst="rect">
            <a:avLst/>
          </a:prstGeom>
          <a:noFill/>
          <a:ln/>
        </p:spPr>
        <p:txBody>
          <a:bodyPr wrap="square" lIns="0" tIns="0" rIns="0" bIns="0" rtlCol="0" anchor="t"/>
          <a:lstStyle/>
          <a:p>
            <a:pPr rtl="1" algn="r" indent="0" marL="0">
              <a:buNone/>
            </a:pPr>
            <a:r>
              <a:rPr lang="he-IL" altLang="en-US" sz="2200" b="1" dirty="0">
                <a:solidFill>
                  <a:srgbClr val="2B3138"/>
                </a:solidFill>
                <a:latin typeface="Instrument Sans" pitchFamily="34" charset="0"/>
                <a:ea typeface="Instrument Sans" pitchFamily="34" charset="-122"/>
                <a:cs typeface="Assistant" pitchFamily="34" charset="-120"/>
              </a:rPr>
              <a:t>מסך אחד</a:t>
            </a:r>
            <a:endParaRPr lang="he-IL" sz="2200" dirty="0"/>
          </a:p>
        </p:txBody>
      </p:sp>
      <p:sp>
        <p:nvSpPr>
          <p:cNvPr id="10" name="Text 6"/>
          <p:cNvSpPr txBox="1"/>
          <p:nvPr/>
        </p:nvSpPr>
        <p:spPr>
          <a:xfrm>
            <a:off x="8240573" y="3063240"/>
            <a:ext cx="3192170"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משימה קטנה באתר שבשליטתכם</a:t>
            </a:r>
            <a:endParaRPr lang="he-IL" sz="1600" dirty="0"/>
          </a:p>
        </p:txBody>
      </p:sp>
      <p:sp>
        <p:nvSpPr>
          <p:cNvPr id="11" name="Shape 7"/>
          <p:cNvSpPr/>
          <p:nvPr/>
        </p:nvSpPr>
        <p:spPr>
          <a:xfrm>
            <a:off x="7874813" y="2103120"/>
            <a:ext cx="0" cy="1417320"/>
          </a:xfrm>
          <a:prstGeom prst="line">
            <a:avLst/>
          </a:prstGeom>
          <a:noFill/>
          <a:ln w="9525">
            <a:solidFill>
              <a:srgbClr val="E4E0D6"/>
            </a:solidFill>
            <a:prstDash val="solid"/>
          </a:ln>
        </p:spPr>
      </p:sp>
      <p:sp>
        <p:nvSpPr>
          <p:cNvPr id="12" name="Text 8"/>
          <p:cNvSpPr txBox="1"/>
          <p:nvPr/>
        </p:nvSpPr>
        <p:spPr>
          <a:xfrm>
            <a:off x="4682642" y="2103120"/>
            <a:ext cx="2826410" cy="457200"/>
          </a:xfrm>
          <a:prstGeom prst="rect">
            <a:avLst/>
          </a:prstGeom>
          <a:noFill/>
          <a:ln/>
        </p:spPr>
        <p:txBody>
          <a:bodyPr wrap="square" lIns="0" tIns="0" rIns="0" bIns="0" rtlCol="0" anchor="t"/>
          <a:lstStyle/>
          <a:p>
            <a:pPr algn="r" indent="0" marL="0">
              <a:buNone/>
            </a:pPr>
            <a:r>
              <a:rPr lang="en-US" sz="2600" i="1" dirty="0">
                <a:solidFill>
                  <a:srgbClr val="5F7368"/>
                </a:solidFill>
                <a:latin typeface="Fraunces" pitchFamily="34" charset="0"/>
                <a:ea typeface="Fraunces" pitchFamily="34" charset="-122"/>
                <a:cs typeface="Frank Ruhl Libre" pitchFamily="34" charset="-120"/>
              </a:rPr>
              <a:t>02</a:t>
            </a:r>
            <a:endParaRPr lang="en-US" sz="2600" dirty="0"/>
          </a:p>
        </p:txBody>
      </p:sp>
      <p:sp>
        <p:nvSpPr>
          <p:cNvPr id="13" name="Text 9"/>
          <p:cNvSpPr txBox="1"/>
          <p:nvPr/>
        </p:nvSpPr>
        <p:spPr>
          <a:xfrm>
            <a:off x="4682642" y="2606040"/>
            <a:ext cx="2826410" cy="411480"/>
          </a:xfrm>
          <a:prstGeom prst="rect">
            <a:avLst/>
          </a:prstGeom>
          <a:noFill/>
          <a:ln/>
        </p:spPr>
        <p:txBody>
          <a:bodyPr wrap="square" lIns="0" tIns="0" rIns="0" bIns="0" rtlCol="0" anchor="t"/>
          <a:lstStyle/>
          <a:p>
            <a:pPr rtl="1" algn="r" indent="0" marL="0">
              <a:buNone/>
            </a:pPr>
            <a:r>
              <a:rPr lang="he-IL" altLang="en-US" sz="2200" b="1" dirty="0">
                <a:solidFill>
                  <a:srgbClr val="2B3138"/>
                </a:solidFill>
                <a:latin typeface="Instrument Sans" pitchFamily="34" charset="0"/>
                <a:ea typeface="Instrument Sans" pitchFamily="34" charset="-122"/>
                <a:cs typeface="Assistant" pitchFamily="34" charset="-120"/>
              </a:rPr>
              <a:t>כמה פעולות</a:t>
            </a:r>
            <a:endParaRPr lang="he-IL" sz="2200" dirty="0"/>
          </a:p>
        </p:txBody>
      </p:sp>
      <p:sp>
        <p:nvSpPr>
          <p:cNvPr id="14" name="Text 10"/>
          <p:cNvSpPr txBox="1"/>
          <p:nvPr/>
        </p:nvSpPr>
        <p:spPr>
          <a:xfrm>
            <a:off x="4682642" y="3063240"/>
            <a:ext cx="2826410"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בחירה מתוך רשימה קצרה</a:t>
            </a:r>
            <a:endParaRPr lang="he-IL" sz="1600" dirty="0"/>
          </a:p>
        </p:txBody>
      </p:sp>
      <p:sp>
        <p:nvSpPr>
          <p:cNvPr id="15" name="Shape 11"/>
          <p:cNvSpPr/>
          <p:nvPr/>
        </p:nvSpPr>
        <p:spPr>
          <a:xfrm>
            <a:off x="4316882" y="2103120"/>
            <a:ext cx="0" cy="1417320"/>
          </a:xfrm>
          <a:prstGeom prst="line">
            <a:avLst/>
          </a:prstGeom>
          <a:noFill/>
          <a:ln w="9525">
            <a:solidFill>
              <a:srgbClr val="E4E0D6"/>
            </a:solidFill>
            <a:prstDash val="solid"/>
          </a:ln>
        </p:spPr>
      </p:sp>
      <p:sp>
        <p:nvSpPr>
          <p:cNvPr id="16" name="Text 12"/>
          <p:cNvSpPr txBox="1"/>
          <p:nvPr/>
        </p:nvSpPr>
        <p:spPr>
          <a:xfrm>
            <a:off x="1124712" y="2103120"/>
            <a:ext cx="2826410" cy="457200"/>
          </a:xfrm>
          <a:prstGeom prst="rect">
            <a:avLst/>
          </a:prstGeom>
          <a:noFill/>
          <a:ln/>
        </p:spPr>
        <p:txBody>
          <a:bodyPr wrap="square" lIns="0" tIns="0" rIns="0" bIns="0" rtlCol="0" anchor="t"/>
          <a:lstStyle/>
          <a:p>
            <a:pPr algn="r" indent="0" marL="0">
              <a:buNone/>
            </a:pPr>
            <a:r>
              <a:rPr lang="en-US" sz="2600" i="1" dirty="0">
                <a:solidFill>
                  <a:srgbClr val="5F7368"/>
                </a:solidFill>
                <a:latin typeface="Fraunces" pitchFamily="34" charset="0"/>
                <a:ea typeface="Fraunces" pitchFamily="34" charset="-122"/>
                <a:cs typeface="Frank Ruhl Libre" pitchFamily="34" charset="-120"/>
              </a:rPr>
              <a:t>03</a:t>
            </a:r>
            <a:endParaRPr lang="en-US" sz="2600" dirty="0"/>
          </a:p>
        </p:txBody>
      </p:sp>
      <p:sp>
        <p:nvSpPr>
          <p:cNvPr id="17" name="Text 13"/>
          <p:cNvSpPr txBox="1"/>
          <p:nvPr/>
        </p:nvSpPr>
        <p:spPr>
          <a:xfrm>
            <a:off x="1124712" y="2606040"/>
            <a:ext cx="2826410" cy="411480"/>
          </a:xfrm>
          <a:prstGeom prst="rect">
            <a:avLst/>
          </a:prstGeom>
          <a:noFill/>
          <a:ln/>
        </p:spPr>
        <p:txBody>
          <a:bodyPr wrap="square" lIns="0" tIns="0" rIns="0" bIns="0" rtlCol="0" anchor="t"/>
          <a:lstStyle/>
          <a:p>
            <a:pPr rtl="1" algn="r" indent="0" marL="0">
              <a:buNone/>
            </a:pPr>
            <a:r>
              <a:rPr lang="he-IL" altLang="en-US" sz="2200" b="1" dirty="0">
                <a:solidFill>
                  <a:srgbClr val="2B3138"/>
                </a:solidFill>
                <a:latin typeface="Instrument Sans" pitchFamily="34" charset="0"/>
                <a:ea typeface="Instrument Sans" pitchFamily="34" charset="-122"/>
                <a:cs typeface="Assistant" pitchFamily="34" charset="-120"/>
              </a:rPr>
              <a:t>לולאה אחת</a:t>
            </a:r>
            <a:endParaRPr lang="he-IL" sz="2200" dirty="0"/>
          </a:p>
        </p:txBody>
      </p:sp>
      <p:sp>
        <p:nvSpPr>
          <p:cNvPr id="18" name="Text 14"/>
          <p:cNvSpPr txBox="1"/>
          <p:nvPr/>
        </p:nvSpPr>
        <p:spPr>
          <a:xfrm>
            <a:off x="1124712" y="3063240"/>
            <a:ext cx="2826410" cy="347472"/>
          </a:xfrm>
          <a:prstGeom prst="rect">
            <a:avLst/>
          </a:prstGeom>
          <a:noFill/>
          <a:ln/>
        </p:spPr>
        <p:txBody>
          <a:bodyPr wrap="square" lIns="0" tIns="0" rIns="0" bIns="0" rtlCol="0" anchor="t"/>
          <a:lstStyle/>
          <a:p>
            <a:pPr rtl="1" algn="r" indent="0" marL="0">
              <a:buNone/>
            </a:pPr>
            <a:r>
              <a:rPr lang="he-IL" altLang="en-US" sz="1600" dirty="0">
                <a:solidFill>
                  <a:srgbClr val="5A6067"/>
                </a:solidFill>
                <a:latin typeface="Instrument Sans" pitchFamily="34" charset="0"/>
                <a:ea typeface="Instrument Sans" pitchFamily="34" charset="-122"/>
                <a:cs typeface="Assistant" pitchFamily="34" charset="-120"/>
              </a:rPr>
              <a:t>רואה, בוחר, פועל, בודק</a:t>
            </a:r>
            <a:endParaRPr lang="he-IL" sz="1600" dirty="0"/>
          </a:p>
        </p:txBody>
      </p:sp>
      <p:sp>
        <p:nvSpPr>
          <p:cNvPr id="19" name="Shape 15"/>
          <p:cNvSpPr/>
          <p:nvPr/>
        </p:nvSpPr>
        <p:spPr>
          <a:xfrm>
            <a:off x="758952" y="3840480"/>
            <a:ext cx="10673791" cy="0"/>
          </a:xfrm>
          <a:prstGeom prst="line">
            <a:avLst/>
          </a:prstGeom>
          <a:noFill/>
          <a:ln w="9525">
            <a:solidFill>
              <a:srgbClr val="E4E0D6"/>
            </a:solidFill>
            <a:prstDash val="solid"/>
          </a:ln>
        </p:spPr>
      </p:sp>
      <p:sp>
        <p:nvSpPr>
          <p:cNvPr id="20" name="Shape 16"/>
          <p:cNvSpPr/>
          <p:nvPr/>
        </p:nvSpPr>
        <p:spPr>
          <a:xfrm>
            <a:off x="9073591" y="4206240"/>
            <a:ext cx="2359152" cy="640080"/>
          </a:xfrm>
          <a:prstGeom prst="rect">
            <a:avLst/>
          </a:prstGeom>
          <a:solidFill>
            <a:srgbClr val="FAF6EF"/>
          </a:solidFill>
          <a:ln w="9525">
            <a:solidFill>
              <a:srgbClr val="D8D2C6"/>
            </a:solidFill>
            <a:prstDash val="solid"/>
          </a:ln>
        </p:spPr>
      </p:sp>
      <p:sp>
        <p:nvSpPr>
          <p:cNvPr id="21" name="Text 17"/>
          <p:cNvSpPr txBox="1"/>
          <p:nvPr/>
        </p:nvSpPr>
        <p:spPr>
          <a:xfrm>
            <a:off x="9073591" y="4206240"/>
            <a:ext cx="2359152" cy="640080"/>
          </a:xfrm>
          <a:prstGeom prst="rect">
            <a:avLst/>
          </a:prstGeom>
          <a:noFill/>
          <a:ln/>
        </p:spPr>
        <p:txBody>
          <a:bodyPr wrap="square" lIns="0" tIns="0" rIns="0" bIns="0" rtlCol="0" anchor="ctr"/>
          <a:lstStyle/>
          <a:p>
            <a:pPr algn="ctr" indent="0" marL="0">
              <a:buNone/>
            </a:pPr>
            <a:r>
              <a:rPr lang="en-US" sz="1500" dirty="0">
                <a:solidFill>
                  <a:srgbClr val="2B3138"/>
                </a:solidFill>
                <a:latin typeface="Instrument Sans" pitchFamily="34" charset="0"/>
                <a:ea typeface="Instrument Sans" pitchFamily="34" charset="-122"/>
                <a:cs typeface="Assistant" pitchFamily="34" charset="-120"/>
              </a:rPr>
              <a:t>Playwright</a:t>
            </a:r>
            <a:endParaRPr lang="en-US" sz="1500" dirty="0"/>
          </a:p>
        </p:txBody>
      </p:sp>
      <p:sp>
        <p:nvSpPr>
          <p:cNvPr id="22" name="Text 18"/>
          <p:cNvSpPr txBox="1"/>
          <p:nvPr/>
        </p:nvSpPr>
        <p:spPr>
          <a:xfrm>
            <a:off x="8662111" y="4206240"/>
            <a:ext cx="411480" cy="64008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3" name="Shape 19"/>
          <p:cNvSpPr/>
          <p:nvPr/>
        </p:nvSpPr>
        <p:spPr>
          <a:xfrm>
            <a:off x="6302959" y="4206240"/>
            <a:ext cx="2359152" cy="640080"/>
          </a:xfrm>
          <a:prstGeom prst="rect">
            <a:avLst/>
          </a:prstGeom>
          <a:solidFill>
            <a:srgbClr val="FAF6EF"/>
          </a:solidFill>
          <a:ln w="9525">
            <a:solidFill>
              <a:srgbClr val="D8D2C6"/>
            </a:solidFill>
            <a:prstDash val="solid"/>
          </a:ln>
        </p:spPr>
      </p:sp>
      <p:sp>
        <p:nvSpPr>
          <p:cNvPr id="24" name="Text 20"/>
          <p:cNvSpPr txBox="1"/>
          <p:nvPr/>
        </p:nvSpPr>
        <p:spPr>
          <a:xfrm>
            <a:off x="6302959" y="4206240"/>
            <a:ext cx="2359152" cy="640080"/>
          </a:xfrm>
          <a:prstGeom prst="rect">
            <a:avLst/>
          </a:prstGeom>
          <a:noFill/>
          <a:ln/>
        </p:spPr>
        <p:txBody>
          <a:bodyPr wrap="square" lIns="0" tIns="0" rIns="0" bIns="0" rtlCol="0" anchor="ctr"/>
          <a:lstStyle/>
          <a:p>
            <a:pPr rtl="1" algn="ctr" indent="0" marL="0">
              <a:buNone/>
            </a:pPr>
            <a:r>
              <a:rPr lang="he-IL" altLang="en-US" sz="1500" dirty="0">
                <a:solidFill>
                  <a:srgbClr val="2B3138"/>
                </a:solidFill>
                <a:latin typeface="Instrument Sans" pitchFamily="34" charset="0"/>
                <a:ea typeface="Instrument Sans" pitchFamily="34" charset="-122"/>
                <a:cs typeface="Assistant" pitchFamily="34" charset="-120"/>
              </a:rPr>
              <a:t>מסך אחד שלכם</a:t>
            </a:r>
            <a:endParaRPr lang="he-IL" sz="1500" dirty="0"/>
          </a:p>
        </p:txBody>
      </p:sp>
      <p:sp>
        <p:nvSpPr>
          <p:cNvPr id="25" name="Text 21"/>
          <p:cNvSpPr txBox="1"/>
          <p:nvPr/>
        </p:nvSpPr>
        <p:spPr>
          <a:xfrm>
            <a:off x="5891479" y="4206240"/>
            <a:ext cx="411480" cy="64008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6" name="Shape 22"/>
          <p:cNvSpPr/>
          <p:nvPr/>
        </p:nvSpPr>
        <p:spPr>
          <a:xfrm>
            <a:off x="3532327" y="4206240"/>
            <a:ext cx="2359152" cy="640080"/>
          </a:xfrm>
          <a:prstGeom prst="rect">
            <a:avLst/>
          </a:prstGeom>
          <a:solidFill>
            <a:srgbClr val="FAF6EF"/>
          </a:solidFill>
          <a:ln w="9525">
            <a:solidFill>
              <a:srgbClr val="D8D2C6"/>
            </a:solidFill>
            <a:prstDash val="solid"/>
          </a:ln>
        </p:spPr>
      </p:sp>
      <p:sp>
        <p:nvSpPr>
          <p:cNvPr id="27" name="Text 23"/>
          <p:cNvSpPr txBox="1"/>
          <p:nvPr/>
        </p:nvSpPr>
        <p:spPr>
          <a:xfrm>
            <a:off x="3532327" y="4206240"/>
            <a:ext cx="2359152" cy="640080"/>
          </a:xfrm>
          <a:prstGeom prst="rect">
            <a:avLst/>
          </a:prstGeom>
          <a:noFill/>
          <a:ln/>
        </p:spPr>
        <p:txBody>
          <a:bodyPr wrap="square" lIns="0" tIns="0" rIns="0" bIns="0" rtlCol="0" anchor="ctr"/>
          <a:lstStyle/>
          <a:p>
            <a:pPr rtl="1" algn="ctr" indent="0" marL="0">
              <a:buNone/>
            </a:pPr>
            <a:r>
              <a:rPr lang="he-IL" altLang="en-US" sz="1500" dirty="0">
                <a:solidFill>
                  <a:srgbClr val="2B3138"/>
                </a:solidFill>
                <a:latin typeface="Instrument Sans" pitchFamily="34" charset="0"/>
                <a:ea typeface="Instrument Sans" pitchFamily="34" charset="-122"/>
                <a:cs typeface="Assistant" pitchFamily="34" charset="-120"/>
              </a:rPr>
              <a:t>מודל שבוחר מתוך 3 פעולות</a:t>
            </a:r>
            <a:endParaRPr lang="he-IL" sz="1500" dirty="0"/>
          </a:p>
        </p:txBody>
      </p:sp>
      <p:sp>
        <p:nvSpPr>
          <p:cNvPr id="28" name="Text 24"/>
          <p:cNvSpPr txBox="1"/>
          <p:nvPr/>
        </p:nvSpPr>
        <p:spPr>
          <a:xfrm>
            <a:off x="3120847" y="4206240"/>
            <a:ext cx="411480" cy="640080"/>
          </a:xfrm>
          <a:prstGeom prst="rect">
            <a:avLst/>
          </a:prstGeom>
          <a:noFill/>
          <a:ln/>
        </p:spPr>
        <p:txBody>
          <a:bodyPr wrap="square" lIns="0" tIns="0" rIns="0" bIns="0" rtlCol="0" anchor="ctr"/>
          <a:lstStyle/>
          <a:p>
            <a:pPr algn="ctr" indent="0" marL="0">
              <a:buNone/>
            </a:pPr>
            <a:r>
              <a:rPr lang="en-US" sz="2000" dirty="0">
                <a:solidFill>
                  <a:srgbClr val="5F7368"/>
                </a:solidFill>
                <a:latin typeface="Instrument Sans" pitchFamily="34" charset="0"/>
                <a:ea typeface="Instrument Sans" pitchFamily="34" charset="-122"/>
                <a:cs typeface="Assistant" pitchFamily="34" charset="-120"/>
              </a:rPr>
              <a:t>+</a:t>
            </a:r>
            <a:endParaRPr lang="en-US" sz="2000" dirty="0"/>
          </a:p>
        </p:txBody>
      </p:sp>
      <p:sp>
        <p:nvSpPr>
          <p:cNvPr id="29" name="Shape 25"/>
          <p:cNvSpPr/>
          <p:nvPr/>
        </p:nvSpPr>
        <p:spPr>
          <a:xfrm>
            <a:off x="761695" y="4206240"/>
            <a:ext cx="2359152" cy="640080"/>
          </a:xfrm>
          <a:prstGeom prst="rect">
            <a:avLst/>
          </a:prstGeom>
          <a:solidFill>
            <a:srgbClr val="FAF6EF"/>
          </a:solidFill>
          <a:ln w="9525">
            <a:solidFill>
              <a:srgbClr val="D8D2C6"/>
            </a:solidFill>
            <a:prstDash val="solid"/>
          </a:ln>
        </p:spPr>
      </p:sp>
      <p:sp>
        <p:nvSpPr>
          <p:cNvPr id="30" name="Text 26"/>
          <p:cNvSpPr txBox="1"/>
          <p:nvPr/>
        </p:nvSpPr>
        <p:spPr>
          <a:xfrm>
            <a:off x="761695" y="4206240"/>
            <a:ext cx="2359152" cy="640080"/>
          </a:xfrm>
          <a:prstGeom prst="rect">
            <a:avLst/>
          </a:prstGeom>
          <a:noFill/>
          <a:ln/>
        </p:spPr>
        <p:txBody>
          <a:bodyPr wrap="square" lIns="0" tIns="0" rIns="0" bIns="0" rtlCol="0" anchor="ctr"/>
          <a:lstStyle/>
          <a:p>
            <a:pPr rtl="1" algn="ctr" indent="0" marL="0">
              <a:buNone/>
            </a:pPr>
            <a:r>
              <a:rPr lang="he-IL" altLang="en-US" sz="1500" dirty="0">
                <a:solidFill>
                  <a:srgbClr val="2B3138"/>
                </a:solidFill>
                <a:latin typeface="Instrument Sans" pitchFamily="34" charset="0"/>
                <a:ea typeface="Instrument Sans" pitchFamily="34" charset="-122"/>
                <a:cs typeface="Assistant" pitchFamily="34" charset="-120"/>
              </a:rPr>
              <a:t>בדיקה אחרי כל פעולה</a:t>
            </a:r>
            <a:endParaRPr lang="he-IL" sz="1500" dirty="0"/>
          </a:p>
        </p:txBody>
      </p:sp>
      <p:sp>
        <p:nvSpPr>
          <p:cNvPr id="31" name="Text 27"/>
          <p:cNvSpPr txBox="1"/>
          <p:nvPr/>
        </p:nvSpPr>
        <p:spPr>
          <a:xfrm>
            <a:off x="758952" y="5029200"/>
            <a:ext cx="10673791" cy="320040"/>
          </a:xfrm>
          <a:prstGeom prst="rect">
            <a:avLst/>
          </a:prstGeom>
          <a:noFill/>
          <a:ln/>
        </p:spPr>
        <p:txBody>
          <a:bodyPr wrap="square" lIns="0" tIns="0" rIns="0" bIns="0" rtlCol="0" anchor="t"/>
          <a:lstStyle/>
          <a:p>
            <a:pPr rtl="1" algn="r" indent="0" marL="0">
              <a:buNone/>
            </a:pPr>
            <a:r>
              <a:rPr lang="he-IL" altLang="en-US" sz="1400" dirty="0">
                <a:solidFill>
                  <a:srgbClr val="5A6067"/>
                </a:solidFill>
                <a:latin typeface="Instrument Sans" pitchFamily="34" charset="0"/>
                <a:ea typeface="Instrument Sans" pitchFamily="34" charset="-122"/>
                <a:cs typeface="Assistant" pitchFamily="34" charset="-120"/>
              </a:rPr>
              <a:t>לא צריך AWS ולא צריך Jev כדי להתחיל. כל מודל עם structured output מספיק.</a:t>
            </a:r>
            <a:endParaRPr lang="he-IL" sz="1400" dirty="0"/>
          </a:p>
        </p:txBody>
      </p:sp>
      <p:sp>
        <p:nvSpPr>
          <p:cNvPr id="32" name="Text 28"/>
          <p:cNvSpPr txBox="1"/>
          <p:nvPr/>
        </p:nvSpPr>
        <p:spPr>
          <a:xfrm>
            <a:off x="758952" y="5532120"/>
            <a:ext cx="10673791" cy="502920"/>
          </a:xfrm>
          <a:prstGeom prst="rect">
            <a:avLst/>
          </a:prstGeom>
          <a:noFill/>
          <a:ln/>
        </p:spPr>
        <p:txBody>
          <a:bodyPr wrap="square" lIns="0" tIns="0" rIns="0" bIns="0" rtlCol="0" anchor="ctr"/>
          <a:lstStyle/>
          <a:p>
            <a:pPr rtl="1" algn="r" indent="0" marL="0">
              <a:buNone/>
            </a:pPr>
            <a:r>
              <a:rPr lang="he-IL" altLang="en-US" sz="2500" dirty="0">
                <a:solidFill>
                  <a:srgbClr val="2B3138"/>
                </a:solidFill>
                <a:latin typeface="Fraunces" pitchFamily="34" charset="0"/>
                <a:ea typeface="Fraunces" pitchFamily="34" charset="-122"/>
                <a:cs typeface="Frank Ruhl Libre" pitchFamily="34" charset="-120"/>
              </a:rPr>
              <a:t>מתחילים בקטן ובודקים כל צעד.</a:t>
            </a:r>
            <a:endParaRPr lang="he-IL"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pic>
        <p:nvPicPr>
          <p:cNvPr id="3" name="Image 0" descr="/home/claude/b2/image6.jp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355080" y="868680"/>
            <a:ext cx="5077663" cy="777240"/>
          </a:xfrm>
          <a:prstGeom prst="rect">
            <a:avLst/>
          </a:prstGeom>
          <a:noFill/>
          <a:ln/>
        </p:spPr>
        <p:txBody>
          <a:bodyPr wrap="square" lIns="0" tIns="0" rIns="0" bIns="0" rtlCol="0" anchor="ctr"/>
          <a:lstStyle/>
          <a:p>
            <a:pPr rtl="1" algn="r" indent="0" marL="0">
              <a:buNone/>
            </a:pPr>
            <a:r>
              <a:rPr lang="he-IL" altLang="en-US" sz="4000" dirty="0">
                <a:solidFill>
                  <a:srgbClr val="2B3138"/>
                </a:solidFill>
                <a:latin typeface="Fraunces" pitchFamily="34" charset="0"/>
                <a:ea typeface="Fraunces" pitchFamily="34" charset="-122"/>
                <a:cs typeface="Frank Ruhl Libre" pitchFamily="34" charset="-120"/>
              </a:rPr>
              <a:t>הסוכן נשאר לעבוד</a:t>
            </a:r>
            <a:endParaRPr lang="he-IL" sz="4000" dirty="0"/>
          </a:p>
        </p:txBody>
      </p:sp>
      <p:sp>
        <p:nvSpPr>
          <p:cNvPr id="5" name="Text 1"/>
          <p:cNvSpPr txBox="1"/>
          <p:nvPr/>
        </p:nvSpPr>
        <p:spPr>
          <a:xfrm>
            <a:off x="6355080" y="1645920"/>
            <a:ext cx="5077663" cy="502920"/>
          </a:xfrm>
          <a:prstGeom prst="rect">
            <a:avLst/>
          </a:prstGeom>
          <a:noFill/>
          <a:ln/>
        </p:spPr>
        <p:txBody>
          <a:bodyPr wrap="square" lIns="0" tIns="0" rIns="0" bIns="0" rtlCol="0" anchor="t"/>
          <a:lstStyle/>
          <a:p>
            <a:pPr rtl="1" algn="r" indent="0" marL="0">
              <a:buNone/>
            </a:pPr>
            <a:r>
              <a:rPr lang="he-IL" altLang="en-US" sz="2800" dirty="0">
                <a:solidFill>
                  <a:srgbClr val="5F7368"/>
                </a:solidFill>
                <a:latin typeface="Fraunces" pitchFamily="34" charset="0"/>
                <a:ea typeface="Fraunces" pitchFamily="34" charset="-122"/>
                <a:cs typeface="Frank Ruhl Libre" pitchFamily="34" charset="-120"/>
              </a:rPr>
              <a:t>אפשר לצאת לחופשה?</a:t>
            </a:r>
            <a:endParaRPr lang="he-IL" sz="2800" dirty="0"/>
          </a:p>
        </p:txBody>
      </p:sp>
      <p:sp>
        <p:nvSpPr>
          <p:cNvPr id="6" name="Shape 2"/>
          <p:cNvSpPr/>
          <p:nvPr/>
        </p:nvSpPr>
        <p:spPr>
          <a:xfrm>
            <a:off x="6355080" y="2423160"/>
            <a:ext cx="5077663" cy="0"/>
          </a:xfrm>
          <a:prstGeom prst="line">
            <a:avLst/>
          </a:prstGeom>
          <a:noFill/>
          <a:ln w="9525">
            <a:solidFill>
              <a:srgbClr val="E4E0D6"/>
            </a:solidFill>
            <a:prstDash val="solid"/>
          </a:ln>
        </p:spPr>
      </p:sp>
      <p:sp>
        <p:nvSpPr>
          <p:cNvPr id="7" name="Text 3"/>
          <p:cNvSpPr txBox="1"/>
          <p:nvPr/>
        </p:nvSpPr>
        <p:spPr>
          <a:xfrm>
            <a:off x="6355080" y="2560320"/>
            <a:ext cx="5077663" cy="1188720"/>
          </a:xfrm>
          <a:prstGeom prst="rect">
            <a:avLst/>
          </a:prstGeom>
          <a:noFill/>
          <a:ln/>
        </p:spPr>
        <p:txBody>
          <a:bodyPr wrap="square" lIns="0" tIns="0" rIns="0" bIns="0" rtlCol="0" anchor="t"/>
          <a:lstStyle/>
          <a:p>
            <a:pPr rtl="1" algn="r" indent="0" marL="0">
              <a:lnSpc>
                <a:spcPct val="105000"/>
              </a:lnSpc>
              <a:buNone/>
            </a:pPr>
            <a:r>
              <a:rPr lang="he-IL" altLang="en-US" sz="2100" dirty="0">
                <a:solidFill>
                  <a:srgbClr val="2B3138"/>
                </a:solidFill>
                <a:latin typeface="Fraunces" pitchFamily="34" charset="0"/>
                <a:ea typeface="Fraunces" pitchFamily="34" charset="-122"/>
                <a:cs typeface="Frank Ruhl Libre" pitchFamily="34" charset="-120"/>
              </a:rPr>
              <a:t>המודל בוחר מתוך רשימה.</a:t>
            </a:r>
            <a:endParaRPr lang="he-IL" sz="2100" dirty="0"/>
          </a:p>
          <a:p>
            <a:pPr rtl="1" algn="r" indent="0" marL="0">
              <a:lnSpc>
                <a:spcPct val="105000"/>
              </a:lnSpc>
              <a:buNone/>
            </a:pPr>
            <a:r>
              <a:rPr lang="he-IL" altLang="en-US" sz="2100" dirty="0">
                <a:solidFill>
                  <a:srgbClr val="5F7368"/>
                </a:solidFill>
                <a:latin typeface="Fraunces" pitchFamily="34" charset="0"/>
                <a:ea typeface="Fraunces" pitchFamily="34" charset="-122"/>
                <a:cs typeface="Frank Ruhl Libre" pitchFamily="34" charset="-120"/>
              </a:rPr>
              <a:t>הקוד שלכם קובע מה ברשימה,</a:t>
            </a:r>
            <a:endParaRPr lang="he-IL" sz="2100" dirty="0"/>
          </a:p>
          <a:p>
            <a:pPr rtl="1" algn="r" indent="0" marL="0">
              <a:lnSpc>
                <a:spcPct val="105000"/>
              </a:lnSpc>
              <a:buNone/>
            </a:pPr>
            <a:r>
              <a:rPr lang="he-IL" altLang="en-US" sz="2100" dirty="0">
                <a:solidFill>
                  <a:srgbClr val="5F7368"/>
                </a:solidFill>
                <a:latin typeface="Fraunces" pitchFamily="34" charset="0"/>
                <a:ea typeface="Fraunces" pitchFamily="34" charset="-122"/>
                <a:cs typeface="Frank Ruhl Libre" pitchFamily="34" charset="-120"/>
              </a:rPr>
              <a:t>בודק ומבצע.</a:t>
            </a:r>
            <a:endParaRPr lang="he-IL" sz="2100" dirty="0"/>
          </a:p>
        </p:txBody>
      </p:sp>
      <p:sp>
        <p:nvSpPr>
          <p:cNvPr id="8" name="Shape 4"/>
          <p:cNvSpPr/>
          <p:nvPr/>
        </p:nvSpPr>
        <p:spPr>
          <a:xfrm>
            <a:off x="6355080" y="3886200"/>
            <a:ext cx="5077663" cy="0"/>
          </a:xfrm>
          <a:prstGeom prst="line">
            <a:avLst/>
          </a:prstGeom>
          <a:noFill/>
          <a:ln w="9525">
            <a:solidFill>
              <a:srgbClr val="E4E0D6"/>
            </a:solidFill>
            <a:prstDash val="solid"/>
          </a:ln>
        </p:spPr>
      </p:sp>
      <p:sp>
        <p:nvSpPr>
          <p:cNvPr id="9" name="Text 5"/>
          <p:cNvSpPr txBox="1"/>
          <p:nvPr/>
        </p:nvSpPr>
        <p:spPr>
          <a:xfrm>
            <a:off x="6355080" y="3977640"/>
            <a:ext cx="5077663" cy="868680"/>
          </a:xfrm>
          <a:prstGeom prst="rect">
            <a:avLst/>
          </a:prstGeom>
          <a:noFill/>
          <a:ln/>
        </p:spPr>
        <p:txBody>
          <a:bodyPr wrap="square" lIns="0" tIns="0" rIns="0" bIns="0" rtlCol="0" anchor="ctr"/>
          <a:lstStyle/>
          <a:p>
            <a:pPr rtl="1" algn="r" indent="0" marL="0">
              <a:buNone/>
            </a:pPr>
            <a:r>
              <a:rPr lang="he-IL" altLang="en-US" sz="5400" dirty="0">
                <a:solidFill>
                  <a:srgbClr val="2B3138"/>
                </a:solidFill>
                <a:latin typeface="Fraunces" pitchFamily="34" charset="0"/>
                <a:ea typeface="Fraunces" pitchFamily="34" charset="-122"/>
                <a:cs typeface="Frank Ruhl Libre" pitchFamily="34" charset="-120"/>
              </a:rPr>
              <a:t>שאלות?</a:t>
            </a:r>
            <a:endParaRPr lang="he-IL" sz="5400" dirty="0"/>
          </a:p>
        </p:txBody>
      </p:sp>
      <p:sp>
        <p:nvSpPr>
          <p:cNvPr id="10" name="Text 6"/>
          <p:cNvSpPr txBox="1"/>
          <p:nvPr/>
        </p:nvSpPr>
        <p:spPr>
          <a:xfrm>
            <a:off x="9786823" y="4983480"/>
            <a:ext cx="1645920" cy="320040"/>
          </a:xfrm>
          <a:prstGeom prst="rect">
            <a:avLst/>
          </a:prstGeom>
          <a:noFill/>
          <a:ln/>
        </p:spPr>
        <p:txBody>
          <a:bodyPr wrap="square" lIns="0" tIns="0" rIns="0" bIns="0" rtlCol="0" anchor="ctr"/>
          <a:lstStyle/>
          <a:p>
            <a:pPr rtl="1" algn="r" indent="0" marL="0">
              <a:buNone/>
            </a:pPr>
            <a:r>
              <a:rPr lang="he-IL" altLang="en-US" sz="1300" dirty="0">
                <a:solidFill>
                  <a:srgbClr val="8B8F93"/>
                </a:solidFill>
                <a:latin typeface="Instrument Sans" pitchFamily="34" charset="0"/>
                <a:ea typeface="Instrument Sans" pitchFamily="34" charset="-122"/>
                <a:cs typeface="Assistant" pitchFamily="34" charset="-120"/>
              </a:rPr>
              <a:t>ריפו הדוגמאות</a:t>
            </a:r>
            <a:endParaRPr lang="he-IL" sz="1300" dirty="0"/>
          </a:p>
        </p:txBody>
      </p:sp>
      <p:sp>
        <p:nvSpPr>
          <p:cNvPr id="11" name="Text 7"/>
          <p:cNvSpPr txBox="1"/>
          <p:nvPr/>
        </p:nvSpPr>
        <p:spPr>
          <a:xfrm>
            <a:off x="6355080" y="4983480"/>
            <a:ext cx="3294583" cy="320040"/>
          </a:xfrm>
          <a:prstGeom prst="rect">
            <a:avLst/>
          </a:prstGeom>
          <a:noFill/>
          <a:ln/>
        </p:spPr>
        <p:txBody>
          <a:bodyPr wrap="square" lIns="0" tIns="0" rIns="0" bIns="0" rtlCol="0" anchor="ctr"/>
          <a:lstStyle/>
          <a:p>
            <a:pPr algn="r" indent="0" marL="0">
              <a:buNone/>
            </a:pPr>
            <a:r>
              <a:rPr lang="en-US" sz="1500" u="sng" dirty="0">
                <a:solidFill>
                  <a:srgbClr val="2B3138"/>
                </a:solidFill>
                <a:latin typeface="Instrument Sans" pitchFamily="34" charset="0"/>
                <a:ea typeface="Instrument Sans" pitchFamily="34" charset="-122"/>
                <a:cs typeface="Assistant"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github.com/tomerwave/wave-lab</a:t>
            </a:r>
            <a:endParaRPr lang="en-US" sz="1500" dirty="0"/>
          </a:p>
        </p:txBody>
      </p:sp>
      <p:sp>
        <p:nvSpPr>
          <p:cNvPr id="12" name="Text 8"/>
          <p:cNvSpPr txBox="1"/>
          <p:nvPr/>
        </p:nvSpPr>
        <p:spPr>
          <a:xfrm>
            <a:off x="9786823" y="5394960"/>
            <a:ext cx="1645920" cy="320040"/>
          </a:xfrm>
          <a:prstGeom prst="rect">
            <a:avLst/>
          </a:prstGeom>
          <a:noFill/>
          <a:ln/>
        </p:spPr>
        <p:txBody>
          <a:bodyPr wrap="square" lIns="0" tIns="0" rIns="0" bIns="0" rtlCol="0" anchor="ctr"/>
          <a:lstStyle/>
          <a:p>
            <a:pPr rtl="1" algn="r" indent="0" marL="0">
              <a:buNone/>
            </a:pPr>
            <a:r>
              <a:rPr lang="he-IL" altLang="en-US" sz="1300" dirty="0">
                <a:solidFill>
                  <a:srgbClr val="8B8F93"/>
                </a:solidFill>
                <a:latin typeface="Instrument Sans" pitchFamily="34" charset="0"/>
                <a:ea typeface="Instrument Sans" pitchFamily="34" charset="-122"/>
                <a:cs typeface="Assistant" pitchFamily="34" charset="-120"/>
              </a:rPr>
              <a:t>אתר</a:t>
            </a:r>
            <a:endParaRPr lang="he-IL" sz="1300" dirty="0"/>
          </a:p>
        </p:txBody>
      </p:sp>
      <p:sp>
        <p:nvSpPr>
          <p:cNvPr id="13" name="Text 9"/>
          <p:cNvSpPr txBox="1"/>
          <p:nvPr/>
        </p:nvSpPr>
        <p:spPr>
          <a:xfrm>
            <a:off x="6355080" y="5394960"/>
            <a:ext cx="3294583" cy="320040"/>
          </a:xfrm>
          <a:prstGeom prst="rect">
            <a:avLst/>
          </a:prstGeom>
          <a:noFill/>
          <a:ln/>
        </p:spPr>
        <p:txBody>
          <a:bodyPr wrap="square" lIns="0" tIns="0" rIns="0" bIns="0" rtlCol="0" anchor="ctr"/>
          <a:lstStyle/>
          <a:p>
            <a:pPr algn="r" indent="0" marL="0">
              <a:buNone/>
            </a:pPr>
            <a:r>
              <a:rPr lang="en-US" sz="1500" u="sng" dirty="0">
                <a:solidFill>
                  <a:srgbClr val="2B3138"/>
                </a:solidFill>
                <a:latin typeface="Instrument Sans" pitchFamily="34" charset="0"/>
                <a:ea typeface="Instrument Sans" pitchFamily="34" charset="-122"/>
                <a:cs typeface="Assistant" pitchFamily="34" charset="-120"/>
                <a:hlinkClick r:id="rId3" invalidUrl="" action="" tgtFrame="" tooltip="" history="1" highlightClick="0" endSnd="0">
                  <a:extLst>
                    <a:ext uri="{A12FA001-AC4F-418D-AE19-62706E023703}">
                      <ahyp:hlinkClr xmlns:ahyp="http://schemas.microsoft.com/office/drawing/2018/hyperlinkcolor" val="tx"/>
                    </a:ext>
                  </a:extLst>
                </a:hlinkClick>
              </a:rPr>
              <a:t>tomerwave.com</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19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מתי חוזרים למתכנן?</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10792663" y="2286000"/>
            <a:ext cx="640080" cy="54864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01</a:t>
            </a:r>
            <a:endParaRPr lang="en-US" sz="2200" dirty="0"/>
          </a:p>
        </p:txBody>
      </p:sp>
      <p:sp>
        <p:nvSpPr>
          <p:cNvPr id="9" name="Text 5"/>
          <p:cNvSpPr txBox="1"/>
          <p:nvPr/>
        </p:nvSpPr>
        <p:spPr>
          <a:xfrm>
            <a:off x="6949440" y="2286000"/>
            <a:ext cx="3660343" cy="54864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תת־המשימה הושלמה</a:t>
            </a:r>
            <a:endParaRPr lang="he-IL" sz="2100" dirty="0"/>
          </a:p>
        </p:txBody>
      </p:sp>
      <p:sp>
        <p:nvSpPr>
          <p:cNvPr id="10" name="Text 6"/>
          <p:cNvSpPr txBox="1"/>
          <p:nvPr/>
        </p:nvSpPr>
        <p:spPr>
          <a:xfrm>
            <a:off x="2377440" y="2286000"/>
            <a:ext cx="4389120" cy="548640"/>
          </a:xfrm>
          <a:prstGeom prst="rect">
            <a:avLst/>
          </a:prstGeom>
          <a:noFill/>
          <a:ln/>
        </p:spPr>
        <p:txBody>
          <a:bodyPr wrap="square" lIns="0" tIns="0" rIns="0" bIns="0" rtlCol="0" anchor="ctr"/>
          <a:lstStyle/>
          <a:p>
            <a:pPr rtl="1" algn="r" indent="0" marL="0">
              <a:buNone/>
            </a:pPr>
            <a:r>
              <a:rPr lang="he-IL" altLang="en-US" sz="1700" dirty="0">
                <a:solidFill>
                  <a:srgbClr val="5A6067"/>
                </a:solidFill>
                <a:latin typeface="Instrument Sans" pitchFamily="34" charset="0"/>
                <a:ea typeface="Instrument Sans" pitchFamily="34" charset="-122"/>
                <a:cs typeface="Assistant" pitchFamily="34" charset="-120"/>
              </a:rPr>
              <a:t>צריך להחליט על הצעד הבא</a:t>
            </a:r>
            <a:endParaRPr lang="he-IL" sz="1700" dirty="0"/>
          </a:p>
        </p:txBody>
      </p:sp>
      <p:sp>
        <p:nvSpPr>
          <p:cNvPr id="11" name="Shape 7"/>
          <p:cNvSpPr/>
          <p:nvPr/>
        </p:nvSpPr>
        <p:spPr>
          <a:xfrm>
            <a:off x="758952" y="3063240"/>
            <a:ext cx="10673791" cy="0"/>
          </a:xfrm>
          <a:prstGeom prst="line">
            <a:avLst/>
          </a:prstGeom>
          <a:noFill/>
          <a:ln w="9525">
            <a:solidFill>
              <a:srgbClr val="E4E0D6"/>
            </a:solidFill>
            <a:prstDash val="solid"/>
          </a:ln>
        </p:spPr>
      </p:sp>
      <p:sp>
        <p:nvSpPr>
          <p:cNvPr id="12" name="Text 8"/>
          <p:cNvSpPr txBox="1"/>
          <p:nvPr/>
        </p:nvSpPr>
        <p:spPr>
          <a:xfrm>
            <a:off x="10792663" y="3291840"/>
            <a:ext cx="640080" cy="54864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02</a:t>
            </a:r>
            <a:endParaRPr lang="en-US" sz="2200" dirty="0"/>
          </a:p>
        </p:txBody>
      </p:sp>
      <p:sp>
        <p:nvSpPr>
          <p:cNvPr id="13" name="Text 9"/>
          <p:cNvSpPr txBox="1"/>
          <p:nvPr/>
        </p:nvSpPr>
        <p:spPr>
          <a:xfrm>
            <a:off x="6949440" y="3291840"/>
            <a:ext cx="3660343" cy="54864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הדרישות השתנו</a:t>
            </a:r>
            <a:endParaRPr lang="he-IL" sz="2100" dirty="0"/>
          </a:p>
        </p:txBody>
      </p:sp>
      <p:sp>
        <p:nvSpPr>
          <p:cNvPr id="14" name="Text 10"/>
          <p:cNvSpPr txBox="1"/>
          <p:nvPr/>
        </p:nvSpPr>
        <p:spPr>
          <a:xfrm>
            <a:off x="2377440" y="3291840"/>
            <a:ext cx="4389120" cy="548640"/>
          </a:xfrm>
          <a:prstGeom prst="rect">
            <a:avLst/>
          </a:prstGeom>
          <a:noFill/>
          <a:ln/>
        </p:spPr>
        <p:txBody>
          <a:bodyPr wrap="square" lIns="0" tIns="0" rIns="0" bIns="0" rtlCol="0" anchor="ctr"/>
          <a:lstStyle/>
          <a:p>
            <a:pPr rtl="1" algn="r" indent="0" marL="0">
              <a:buNone/>
            </a:pPr>
            <a:r>
              <a:rPr lang="he-IL" altLang="en-US" sz="1700" dirty="0">
                <a:solidFill>
                  <a:srgbClr val="5A6067"/>
                </a:solidFill>
                <a:latin typeface="Instrument Sans" pitchFamily="34" charset="0"/>
                <a:ea typeface="Instrument Sans" pitchFamily="34" charset="-122"/>
                <a:cs typeface="Assistant" pitchFamily="34" charset="-120"/>
              </a:rPr>
              <a:t>מעדכנים מטרה ואילוצים</a:t>
            </a:r>
            <a:endParaRPr lang="he-IL" sz="1700" dirty="0"/>
          </a:p>
        </p:txBody>
      </p:sp>
      <p:sp>
        <p:nvSpPr>
          <p:cNvPr id="15" name="Shape 11"/>
          <p:cNvSpPr/>
          <p:nvPr/>
        </p:nvSpPr>
        <p:spPr>
          <a:xfrm>
            <a:off x="758952" y="4069080"/>
            <a:ext cx="10673791" cy="0"/>
          </a:xfrm>
          <a:prstGeom prst="line">
            <a:avLst/>
          </a:prstGeom>
          <a:noFill/>
          <a:ln w="9525">
            <a:solidFill>
              <a:srgbClr val="E4E0D6"/>
            </a:solidFill>
            <a:prstDash val="solid"/>
          </a:ln>
        </p:spPr>
      </p:sp>
      <p:sp>
        <p:nvSpPr>
          <p:cNvPr id="16" name="Text 12"/>
          <p:cNvSpPr txBox="1"/>
          <p:nvPr/>
        </p:nvSpPr>
        <p:spPr>
          <a:xfrm>
            <a:off x="10792663" y="4297680"/>
            <a:ext cx="640080" cy="548640"/>
          </a:xfrm>
          <a:prstGeom prst="rect">
            <a:avLst/>
          </a:prstGeom>
          <a:noFill/>
          <a:ln/>
        </p:spPr>
        <p:txBody>
          <a:bodyPr wrap="square" lIns="0" tIns="0" rIns="0" bIns="0" rtlCol="0" anchor="ctr"/>
          <a:lstStyle/>
          <a:p>
            <a:pPr algn="r" indent="0" marL="0">
              <a:buNone/>
            </a:pPr>
            <a:r>
              <a:rPr lang="en-US" sz="2200" i="1" dirty="0">
                <a:solidFill>
                  <a:srgbClr val="5F7368"/>
                </a:solidFill>
                <a:latin typeface="Fraunces" pitchFamily="34" charset="0"/>
                <a:ea typeface="Fraunces" pitchFamily="34" charset="-122"/>
                <a:cs typeface="Frank Ruhl Libre" pitchFamily="34" charset="-120"/>
              </a:rPr>
              <a:t>03</a:t>
            </a:r>
            <a:endParaRPr lang="en-US" sz="2200" dirty="0"/>
          </a:p>
        </p:txBody>
      </p:sp>
      <p:sp>
        <p:nvSpPr>
          <p:cNvPr id="17" name="Text 13"/>
          <p:cNvSpPr txBox="1"/>
          <p:nvPr/>
        </p:nvSpPr>
        <p:spPr>
          <a:xfrm>
            <a:off x="6949440" y="4297680"/>
            <a:ext cx="3660343" cy="54864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אין התקדמות</a:t>
            </a:r>
            <a:endParaRPr lang="he-IL" sz="2100" dirty="0"/>
          </a:p>
        </p:txBody>
      </p:sp>
      <p:sp>
        <p:nvSpPr>
          <p:cNvPr id="18" name="Text 14"/>
          <p:cNvSpPr txBox="1"/>
          <p:nvPr/>
        </p:nvSpPr>
        <p:spPr>
          <a:xfrm>
            <a:off x="2377440" y="4297680"/>
            <a:ext cx="4389120" cy="548640"/>
          </a:xfrm>
          <a:prstGeom prst="rect">
            <a:avLst/>
          </a:prstGeom>
          <a:noFill/>
          <a:ln/>
        </p:spPr>
        <p:txBody>
          <a:bodyPr wrap="square" lIns="0" tIns="0" rIns="0" bIns="0" rtlCol="0" anchor="ctr"/>
          <a:lstStyle/>
          <a:p>
            <a:pPr rtl="1" algn="r" indent="0" marL="0">
              <a:buNone/>
            </a:pPr>
            <a:r>
              <a:rPr lang="he-IL" altLang="en-US" sz="1700" dirty="0">
                <a:solidFill>
                  <a:srgbClr val="5A6067"/>
                </a:solidFill>
                <a:latin typeface="Instrument Sans" pitchFamily="34" charset="0"/>
                <a:ea typeface="Instrument Sans" pitchFamily="34" charset="-122"/>
                <a:cs typeface="Assistant" pitchFamily="34" charset="-120"/>
              </a:rPr>
              <a:t>הגענו למגבלת הצעדים, או שפעולה נכשלה</a:t>
            </a:r>
            <a:endParaRPr lang="he-IL"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20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למה לא פשוט LLM עם enum?</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Shape 4"/>
          <p:cNvSpPr/>
          <p:nvPr/>
        </p:nvSpPr>
        <p:spPr>
          <a:xfrm>
            <a:off x="6095848" y="2194560"/>
            <a:ext cx="0" cy="1737360"/>
          </a:xfrm>
          <a:prstGeom prst="line">
            <a:avLst/>
          </a:prstGeom>
          <a:noFill/>
          <a:ln w="9525">
            <a:solidFill>
              <a:srgbClr val="E4E0D6"/>
            </a:solidFill>
            <a:prstDash val="solid"/>
          </a:ln>
        </p:spPr>
      </p:sp>
      <p:sp>
        <p:nvSpPr>
          <p:cNvPr id="9" name="Text 5"/>
          <p:cNvSpPr txBox="1"/>
          <p:nvPr/>
        </p:nvSpPr>
        <p:spPr>
          <a:xfrm>
            <a:off x="6507328" y="2194560"/>
            <a:ext cx="4925416" cy="54864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LLM עם structured output</a:t>
            </a:r>
            <a:endParaRPr lang="he-IL" sz="2100" dirty="0"/>
          </a:p>
        </p:txBody>
      </p:sp>
      <p:sp>
        <p:nvSpPr>
          <p:cNvPr id="10" name="Text 6"/>
          <p:cNvSpPr txBox="1"/>
          <p:nvPr/>
        </p:nvSpPr>
        <p:spPr>
          <a:xfrm>
            <a:off x="6507328" y="2926080"/>
            <a:ext cx="4925416" cy="1097280"/>
          </a:xfrm>
          <a:prstGeom prst="rect">
            <a:avLst/>
          </a:prstGeom>
          <a:noFill/>
          <a:ln/>
        </p:spPr>
        <p:txBody>
          <a:bodyPr wrap="square" lIns="0" tIns="0" rIns="0" bIns="0" rtlCol="0" anchor="t"/>
          <a:lstStyle/>
          <a:p>
            <a:pPr rtl="1" algn="r" indent="0" marL="0">
              <a:buNone/>
            </a:pPr>
            <a:r>
              <a:rPr lang="he-IL" altLang="en-US" sz="1800" dirty="0">
                <a:solidFill>
                  <a:srgbClr val="5A6067"/>
                </a:solidFill>
                <a:latin typeface="Instrument Sans" pitchFamily="34" charset="0"/>
                <a:ea typeface="Instrument Sans" pitchFamily="34" charset="-122"/>
                <a:cs typeface="Assistant" pitchFamily="34" charset="-120"/>
              </a:rPr>
              <a:t>זה בדיוק המקום להתחיל. כל ספק תומך בזה, וזה מספיק לרוב המסכים.</a:t>
            </a:r>
            <a:endParaRPr lang="he-IL" sz="1800" dirty="0"/>
          </a:p>
        </p:txBody>
      </p:sp>
      <p:sp>
        <p:nvSpPr>
          <p:cNvPr id="11" name="Text 7"/>
          <p:cNvSpPr txBox="1"/>
          <p:nvPr/>
        </p:nvSpPr>
        <p:spPr>
          <a:xfrm>
            <a:off x="758952" y="2194560"/>
            <a:ext cx="4925416" cy="548640"/>
          </a:xfrm>
          <a:prstGeom prst="rect">
            <a:avLst/>
          </a:prstGeom>
          <a:noFill/>
          <a:ln/>
        </p:spPr>
        <p:txBody>
          <a:bodyPr wrap="square" lIns="0" tIns="0" rIns="0" bIns="0" rtlCol="0" anchor="ctr"/>
          <a:lstStyle/>
          <a:p>
            <a:pPr rtl="1" algn="r" indent="0" marL="0">
              <a:buNone/>
            </a:pPr>
            <a:r>
              <a:rPr lang="he-IL" altLang="en-US" sz="2100" b="1" dirty="0">
                <a:solidFill>
                  <a:srgbClr val="2B3138"/>
                </a:solidFill>
                <a:latin typeface="Instrument Sans" pitchFamily="34" charset="0"/>
                <a:ea typeface="Instrument Sans" pitchFamily="34" charset="-122"/>
                <a:cs typeface="Assistant" pitchFamily="34" charset="-120"/>
              </a:rPr>
              <a:t>Jev</a:t>
            </a:r>
            <a:endParaRPr lang="he-IL" sz="2100" dirty="0"/>
          </a:p>
        </p:txBody>
      </p:sp>
      <p:sp>
        <p:nvSpPr>
          <p:cNvPr id="12" name="Text 8"/>
          <p:cNvSpPr txBox="1"/>
          <p:nvPr/>
        </p:nvSpPr>
        <p:spPr>
          <a:xfrm>
            <a:off x="758952" y="2926080"/>
            <a:ext cx="4925416" cy="1097280"/>
          </a:xfrm>
          <a:prstGeom prst="rect">
            <a:avLst/>
          </a:prstGeom>
          <a:noFill/>
          <a:ln/>
        </p:spPr>
        <p:txBody>
          <a:bodyPr wrap="square" lIns="0" tIns="0" rIns="0" bIns="0" rtlCol="0" anchor="t"/>
          <a:lstStyle/>
          <a:p>
            <a:pPr rtl="1" algn="r" indent="0" marL="0">
              <a:buNone/>
            </a:pPr>
            <a:r>
              <a:rPr lang="he-IL" altLang="en-US" sz="1800" dirty="0">
                <a:solidFill>
                  <a:srgbClr val="5A6067"/>
                </a:solidFill>
                <a:latin typeface="Instrument Sans" pitchFamily="34" charset="0"/>
                <a:ea typeface="Instrument Sans" pitchFamily="34" charset="-122"/>
                <a:cs typeface="Assistant" pitchFamily="34" charset="-120"/>
              </a:rPr>
              <a:t>מודל שנבנה סביב הבחירה ומחזיר גם הסתברויות. יכולת חדשה שכדאי לבחון.</a:t>
            </a:r>
            <a:endParaRPr lang="he-IL" sz="1800" dirty="0"/>
          </a:p>
        </p:txBody>
      </p:sp>
      <p:sp>
        <p:nvSpPr>
          <p:cNvPr id="13" name="Shape 9"/>
          <p:cNvSpPr/>
          <p:nvPr/>
        </p:nvSpPr>
        <p:spPr>
          <a:xfrm>
            <a:off x="758952" y="4572000"/>
            <a:ext cx="10673791" cy="685800"/>
          </a:xfrm>
          <a:prstGeom prst="rect">
            <a:avLst/>
          </a:prstGeom>
          <a:solidFill>
            <a:srgbClr val="F3EDE2"/>
          </a:solidFill>
          <a:ln/>
        </p:spPr>
      </p:sp>
      <p:sp>
        <p:nvSpPr>
          <p:cNvPr id="14" name="Shape 10"/>
          <p:cNvSpPr/>
          <p:nvPr/>
        </p:nvSpPr>
        <p:spPr>
          <a:xfrm>
            <a:off x="11414455" y="4572000"/>
            <a:ext cx="0" cy="685800"/>
          </a:xfrm>
          <a:prstGeom prst="line">
            <a:avLst/>
          </a:prstGeom>
          <a:noFill/>
          <a:ln w="38100">
            <a:solidFill>
              <a:srgbClr val="8FA396"/>
            </a:solidFill>
            <a:prstDash val="solid"/>
          </a:ln>
        </p:spPr>
      </p:sp>
      <p:sp>
        <p:nvSpPr>
          <p:cNvPr id="15" name="Text 11"/>
          <p:cNvSpPr txBox="1"/>
          <p:nvPr/>
        </p:nvSpPr>
        <p:spPr>
          <a:xfrm>
            <a:off x="1078992" y="4572000"/>
            <a:ext cx="10033711" cy="685800"/>
          </a:xfrm>
          <a:prstGeom prst="rect">
            <a:avLst/>
          </a:prstGeom>
          <a:noFill/>
          <a:ln/>
        </p:spPr>
        <p:txBody>
          <a:bodyPr wrap="square" lIns="0" tIns="0" rIns="0" bIns="0" rtlCol="0" anchor="ctr"/>
          <a:lstStyle/>
          <a:p>
            <a:pPr rtl="1" algn="r" indent="0" marL="0">
              <a:buNone/>
            </a:pPr>
            <a:r>
              <a:rPr lang="he-IL" altLang="en-US" sz="1700" b="1" dirty="0">
                <a:solidFill>
                  <a:srgbClr val="5F7368"/>
                </a:solidFill>
                <a:latin typeface="Instrument Sans" pitchFamily="34" charset="0"/>
                <a:ea typeface="Instrument Sans" pitchFamily="34" charset="-122"/>
                <a:cs typeface="Assistant" pitchFamily="34" charset="-120"/>
              </a:rPr>
              <a:t>ההמלצה: </a:t>
            </a:r>
            <a:r>
              <a:rPr lang="he-IL" altLang="en-US" sz="1700" dirty="0">
                <a:solidFill>
                  <a:srgbClr val="2B3138"/>
                </a:solidFill>
                <a:latin typeface="Instrument Sans" pitchFamily="34" charset="0"/>
                <a:ea typeface="Instrument Sans" pitchFamily="34" charset="-122"/>
                <a:cs typeface="Assistant" pitchFamily="34" charset="-120"/>
              </a:rPr>
              <a:t>למדוד את שניהם על אותה משימה. צעדים שהצליחו, משימה שהושלמה, זמן ועלות כוללים.</a:t>
            </a:r>
            <a:endParaRPr lang="he-IL"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pic>
        <p:nvPicPr>
          <p:cNvPr id="3" name="Image 0" descr="/home/claude/b2/icon.png">    </p:cNvPr>
          <p:cNvPicPr>
            <a:picLocks noChangeAspect="1"/>
          </p:cNvPicPr>
          <p:nvPr/>
        </p:nvPicPr>
        <p:blipFill>
          <a:blip r:embed="rId1"/>
          <a:stretch>
            <a:fillRect/>
          </a:stretch>
        </p:blipFill>
        <p:spPr>
          <a:xfrm>
            <a:off x="11121847" y="329184"/>
            <a:ext cx="310896" cy="310896"/>
          </a:xfrm>
          <a:prstGeom prst="rect">
            <a:avLst/>
          </a:prstGeom>
        </p:spPr>
      </p:pic>
      <p:sp>
        <p:nvSpPr>
          <p:cNvPr id="4" name="Text 0"/>
          <p:cNvSpPr txBox="1"/>
          <p:nvPr/>
        </p:nvSpPr>
        <p:spPr>
          <a:xfrm>
            <a:off x="9192463" y="329184"/>
            <a:ext cx="1828800" cy="310896"/>
          </a:xfrm>
          <a:prstGeom prst="rect">
            <a:avLst/>
          </a:prstGeom>
          <a:noFill/>
          <a:ln/>
        </p:spPr>
        <p:txBody>
          <a:bodyPr wrap="square" lIns="0" tIns="0" rIns="0" bIns="0" rtlCol="0" anchor="ctr"/>
          <a:lstStyle/>
          <a:p>
            <a:pPr algn="r" indent="0" marL="0">
              <a:buNone/>
            </a:pPr>
            <a:r>
              <a:rPr lang="en-US" sz="1100" dirty="0">
                <a:solidFill>
                  <a:srgbClr val="8B8F93"/>
                </a:solidFill>
                <a:latin typeface="Instrument Sans" pitchFamily="34" charset="0"/>
                <a:ea typeface="Instrument Sans" pitchFamily="34" charset="-122"/>
                <a:cs typeface="Assistant" pitchFamily="34" charset="-120"/>
              </a:rPr>
              <a:t>Tomer Gal</a:t>
            </a:r>
            <a:endParaRPr lang="en-US" sz="1100" dirty="0"/>
          </a:p>
        </p:txBody>
      </p:sp>
      <p:sp>
        <p:nvSpPr>
          <p:cNvPr id="5" name="Text 1"/>
          <p:cNvSpPr txBox="1"/>
          <p:nvPr/>
        </p:nvSpPr>
        <p:spPr>
          <a:xfrm>
            <a:off x="758952" y="6336792"/>
            <a:ext cx="1371600" cy="256032"/>
          </a:xfrm>
          <a:prstGeom prst="rect">
            <a:avLst/>
          </a:prstGeom>
          <a:noFill/>
          <a:ln/>
        </p:spPr>
        <p:txBody>
          <a:bodyPr wrap="square" lIns="0" tIns="0" rIns="0" bIns="0" rtlCol="0" anchor="ctr"/>
          <a:lstStyle/>
          <a:p>
            <a:pPr algn="l" indent="0" marL="0">
              <a:buNone/>
            </a:pPr>
            <a:r>
              <a:rPr lang="en-US" sz="1000" dirty="0">
                <a:solidFill>
                  <a:srgbClr val="8B8F93"/>
                </a:solidFill>
                <a:latin typeface="Instrument Sans" pitchFamily="34" charset="0"/>
                <a:ea typeface="Instrument Sans" pitchFamily="34" charset="-122"/>
                <a:cs typeface="Assistant" pitchFamily="34" charset="-120"/>
              </a:rPr>
              <a:t>21 / 21</a:t>
            </a:r>
            <a:endParaRPr lang="en-US" sz="1000" dirty="0"/>
          </a:p>
        </p:txBody>
      </p:sp>
      <p:sp>
        <p:nvSpPr>
          <p:cNvPr id="6" name="Text 2"/>
          <p:cNvSpPr txBox="1"/>
          <p:nvPr/>
        </p:nvSpPr>
        <p:spPr>
          <a:xfrm>
            <a:off x="758952" y="822960"/>
            <a:ext cx="10673791" cy="777240"/>
          </a:xfrm>
          <a:prstGeom prst="rect">
            <a:avLst/>
          </a:prstGeom>
          <a:noFill/>
          <a:ln/>
        </p:spPr>
        <p:txBody>
          <a:bodyPr wrap="square" lIns="0" tIns="0" rIns="0" bIns="0" rtlCol="0" anchor="ctr"/>
          <a:lstStyle/>
          <a:p>
            <a:pPr rtl="1" algn="r" indent="0" marL="0">
              <a:buNone/>
            </a:pPr>
            <a:r>
              <a:rPr lang="he-IL" altLang="en-US" sz="3800" dirty="0">
                <a:solidFill>
                  <a:srgbClr val="2B3138"/>
                </a:solidFill>
                <a:latin typeface="Fraunces" pitchFamily="34" charset="0"/>
                <a:ea typeface="Fraunces" pitchFamily="34" charset="-122"/>
                <a:cs typeface="Frank Ruhl Libre" pitchFamily="34" charset="-120"/>
              </a:rPr>
              <a:t>מקורות וקוד</a:t>
            </a:r>
            <a:endParaRPr lang="he-IL" sz="3800" dirty="0"/>
          </a:p>
        </p:txBody>
      </p:sp>
      <p:sp>
        <p:nvSpPr>
          <p:cNvPr id="7" name="Shape 3"/>
          <p:cNvSpPr/>
          <p:nvPr/>
        </p:nvSpPr>
        <p:spPr>
          <a:xfrm>
            <a:off x="758952" y="1709928"/>
            <a:ext cx="10673791" cy="0"/>
          </a:xfrm>
          <a:prstGeom prst="line">
            <a:avLst/>
          </a:prstGeom>
          <a:noFill/>
          <a:ln w="9525">
            <a:solidFill>
              <a:srgbClr val="E4E0D6"/>
            </a:solidFill>
            <a:prstDash val="solid"/>
          </a:ln>
        </p:spPr>
      </p:sp>
      <p:sp>
        <p:nvSpPr>
          <p:cNvPr id="8" name="Text 4"/>
          <p:cNvSpPr txBox="1"/>
          <p:nvPr/>
        </p:nvSpPr>
        <p:spPr>
          <a:xfrm>
            <a:off x="6400800" y="2194560"/>
            <a:ext cx="5031943" cy="548640"/>
          </a:xfrm>
          <a:prstGeom prst="rect">
            <a:avLst/>
          </a:prstGeom>
          <a:noFill/>
          <a:ln/>
        </p:spPr>
        <p:txBody>
          <a:bodyPr wrap="square" lIns="0" tIns="0" rIns="0" bIns="0" rtlCol="0" anchor="ctr"/>
          <a:lstStyle/>
          <a:p>
            <a:pPr rtl="1" algn="r" indent="0" marL="0">
              <a:buNone/>
            </a:pPr>
            <a:r>
              <a:rPr lang="he-IL" altLang="en-US" sz="1800" dirty="0">
                <a:solidFill>
                  <a:srgbClr val="2B3138"/>
                </a:solidFill>
                <a:latin typeface="Instrument Sans" pitchFamily="34" charset="0"/>
                <a:ea typeface="Instrument Sans" pitchFamily="34" charset="-122"/>
                <a:cs typeface="Assistant" pitchFamily="34" charset="-120"/>
              </a:rPr>
              <a:t>Jev / TypeSafe AI</a:t>
            </a:r>
            <a:endParaRPr lang="he-IL" sz="1800" dirty="0"/>
          </a:p>
        </p:txBody>
      </p:sp>
      <p:sp>
        <p:nvSpPr>
          <p:cNvPr id="9" name="Text 5"/>
          <p:cNvSpPr txBox="1"/>
          <p:nvPr/>
        </p:nvSpPr>
        <p:spPr>
          <a:xfrm>
            <a:off x="758952" y="2194560"/>
            <a:ext cx="5486400" cy="548640"/>
          </a:xfrm>
          <a:prstGeom prst="rect">
            <a:avLst/>
          </a:prstGeom>
          <a:noFill/>
          <a:ln/>
        </p:spPr>
        <p:txBody>
          <a:bodyPr wrap="square" lIns="0" tIns="0" rIns="0" bIns="0" rtlCol="0" anchor="ctr"/>
          <a:lstStyle/>
          <a:p>
            <a:pPr algn="l" indent="0" marL="0">
              <a:buNone/>
            </a:pPr>
            <a:r>
              <a:rPr lang="en-US" sz="1500" u="sng" dirty="0">
                <a:solidFill>
                  <a:srgbClr val="2B3138"/>
                </a:solidFill>
                <a:latin typeface="Instrument Sans" pitchFamily="34" charset="0"/>
                <a:ea typeface="Instrument Sans" pitchFamily="34" charset="-122"/>
                <a:cs typeface="Assistant"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docs.typesafe.ai/sdk/javascript</a:t>
            </a:r>
            <a:endParaRPr lang="en-US" sz="1500" dirty="0"/>
          </a:p>
        </p:txBody>
      </p:sp>
      <p:sp>
        <p:nvSpPr>
          <p:cNvPr id="10" name="Shape 6"/>
          <p:cNvSpPr/>
          <p:nvPr/>
        </p:nvSpPr>
        <p:spPr>
          <a:xfrm>
            <a:off x="758952" y="3026664"/>
            <a:ext cx="10673791" cy="0"/>
          </a:xfrm>
          <a:prstGeom prst="line">
            <a:avLst/>
          </a:prstGeom>
          <a:noFill/>
          <a:ln w="9525">
            <a:solidFill>
              <a:srgbClr val="E4E0D6"/>
            </a:solidFill>
            <a:prstDash val="solid"/>
          </a:ln>
        </p:spPr>
      </p:sp>
      <p:sp>
        <p:nvSpPr>
          <p:cNvPr id="11" name="Text 7"/>
          <p:cNvSpPr txBox="1"/>
          <p:nvPr/>
        </p:nvSpPr>
        <p:spPr>
          <a:xfrm>
            <a:off x="6400800" y="3154680"/>
            <a:ext cx="5031943" cy="548640"/>
          </a:xfrm>
          <a:prstGeom prst="rect">
            <a:avLst/>
          </a:prstGeom>
          <a:noFill/>
          <a:ln/>
        </p:spPr>
        <p:txBody>
          <a:bodyPr wrap="square" lIns="0" tIns="0" rIns="0" bIns="0" rtlCol="0" anchor="ctr"/>
          <a:lstStyle/>
          <a:p>
            <a:pPr rtl="1" algn="r" indent="0" marL="0">
              <a:buNone/>
            </a:pPr>
            <a:r>
              <a:rPr lang="he-IL" altLang="en-US" sz="1800" dirty="0">
                <a:solidFill>
                  <a:srgbClr val="2B3138"/>
                </a:solidFill>
                <a:latin typeface="Instrument Sans" pitchFamily="34" charset="0"/>
                <a:ea typeface="Instrument Sans" pitchFamily="34" charset="-122"/>
                <a:cs typeface="Assistant" pitchFamily="34" charset="-120"/>
              </a:rPr>
              <a:t>Strands Agents</a:t>
            </a:r>
            <a:endParaRPr lang="he-IL" sz="1800" dirty="0"/>
          </a:p>
        </p:txBody>
      </p:sp>
      <p:sp>
        <p:nvSpPr>
          <p:cNvPr id="12" name="Text 8"/>
          <p:cNvSpPr txBox="1"/>
          <p:nvPr/>
        </p:nvSpPr>
        <p:spPr>
          <a:xfrm>
            <a:off x="758952" y="3154680"/>
            <a:ext cx="5486400" cy="548640"/>
          </a:xfrm>
          <a:prstGeom prst="rect">
            <a:avLst/>
          </a:prstGeom>
          <a:noFill/>
          <a:ln/>
        </p:spPr>
        <p:txBody>
          <a:bodyPr wrap="square" lIns="0" tIns="0" rIns="0" bIns="0" rtlCol="0" anchor="ctr"/>
          <a:lstStyle/>
          <a:p>
            <a:pPr algn="l" indent="0" marL="0">
              <a:buNone/>
            </a:pPr>
            <a:r>
              <a:rPr lang="en-US" sz="1500" u="sng" dirty="0">
                <a:solidFill>
                  <a:srgbClr val="2B3138"/>
                </a:solidFill>
                <a:latin typeface="Instrument Sans" pitchFamily="34" charset="0"/>
                <a:ea typeface="Instrument Sans" pitchFamily="34" charset="-122"/>
                <a:cs typeface="Assistant" pitchFamily="34" charset="-120"/>
                <a:hlinkClick r:id="rId3" invalidUrl="" action="" tgtFrame="" tooltip="" history="1" highlightClick="0" endSnd="0">
                  <a:extLst>
                    <a:ext uri="{A12FA001-AC4F-418D-AE19-62706E023703}">
                      <ahyp:hlinkClr xmlns:ahyp="http://schemas.microsoft.com/office/drawing/2018/hyperlinkcolor" val="tx"/>
                    </a:ext>
                  </a:extLst>
                </a:hlinkClick>
              </a:rPr>
              <a:t>strandsagents.com/docs/user-guide/sdk</a:t>
            </a:r>
            <a:endParaRPr lang="en-US" sz="1500" dirty="0"/>
          </a:p>
        </p:txBody>
      </p:sp>
      <p:sp>
        <p:nvSpPr>
          <p:cNvPr id="13" name="Shape 9"/>
          <p:cNvSpPr/>
          <p:nvPr/>
        </p:nvSpPr>
        <p:spPr>
          <a:xfrm>
            <a:off x="758952" y="3986784"/>
            <a:ext cx="10673791" cy="0"/>
          </a:xfrm>
          <a:prstGeom prst="line">
            <a:avLst/>
          </a:prstGeom>
          <a:noFill/>
          <a:ln w="9525">
            <a:solidFill>
              <a:srgbClr val="E4E0D6"/>
            </a:solidFill>
            <a:prstDash val="solid"/>
          </a:ln>
        </p:spPr>
      </p:sp>
      <p:sp>
        <p:nvSpPr>
          <p:cNvPr id="14" name="Text 10"/>
          <p:cNvSpPr txBox="1"/>
          <p:nvPr/>
        </p:nvSpPr>
        <p:spPr>
          <a:xfrm>
            <a:off x="6400800" y="4114800"/>
            <a:ext cx="5031943" cy="548640"/>
          </a:xfrm>
          <a:prstGeom prst="rect">
            <a:avLst/>
          </a:prstGeom>
          <a:noFill/>
          <a:ln/>
        </p:spPr>
        <p:txBody>
          <a:bodyPr wrap="square" lIns="0" tIns="0" rIns="0" bIns="0" rtlCol="0" anchor="ctr"/>
          <a:lstStyle/>
          <a:p>
            <a:pPr rtl="1" algn="r" indent="0" marL="0">
              <a:buNone/>
            </a:pPr>
            <a:r>
              <a:rPr lang="he-IL" altLang="en-US" sz="1800" dirty="0">
                <a:solidFill>
                  <a:srgbClr val="2B3138"/>
                </a:solidFill>
                <a:latin typeface="Instrument Sans" pitchFamily="34" charset="0"/>
                <a:ea typeface="Instrument Sans" pitchFamily="34" charset="-122"/>
                <a:cs typeface="Assistant" pitchFamily="34" charset="-120"/>
              </a:rPr>
              <a:t>AgentCore Browser</a:t>
            </a:r>
            <a:endParaRPr lang="he-IL" sz="1800" dirty="0"/>
          </a:p>
        </p:txBody>
      </p:sp>
      <p:sp>
        <p:nvSpPr>
          <p:cNvPr id="15" name="Text 11"/>
          <p:cNvSpPr txBox="1"/>
          <p:nvPr/>
        </p:nvSpPr>
        <p:spPr>
          <a:xfrm>
            <a:off x="758952" y="4114800"/>
            <a:ext cx="5486400" cy="548640"/>
          </a:xfrm>
          <a:prstGeom prst="rect">
            <a:avLst/>
          </a:prstGeom>
          <a:noFill/>
          <a:ln/>
        </p:spPr>
        <p:txBody>
          <a:bodyPr wrap="square" lIns="0" tIns="0" rIns="0" bIns="0" rtlCol="0" anchor="ctr"/>
          <a:lstStyle/>
          <a:p>
            <a:pPr algn="l" indent="0" marL="0">
              <a:buNone/>
            </a:pPr>
            <a:r>
              <a:rPr lang="en-US" sz="1500" u="sng" dirty="0">
                <a:solidFill>
                  <a:srgbClr val="2B3138"/>
                </a:solidFill>
                <a:latin typeface="Instrument Sans" pitchFamily="34" charset="0"/>
                <a:ea typeface="Instrument Sans" pitchFamily="34" charset="-122"/>
                <a:cs typeface="Assistant"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docs.aws.amazon.com/bedrock-agentcore</a:t>
            </a:r>
            <a:endParaRPr lang="en-US" sz="1500" dirty="0"/>
          </a:p>
        </p:txBody>
      </p:sp>
      <p:sp>
        <p:nvSpPr>
          <p:cNvPr id="16" name="Shape 12"/>
          <p:cNvSpPr/>
          <p:nvPr/>
        </p:nvSpPr>
        <p:spPr>
          <a:xfrm>
            <a:off x="758952" y="4946904"/>
            <a:ext cx="10673791" cy="0"/>
          </a:xfrm>
          <a:prstGeom prst="line">
            <a:avLst/>
          </a:prstGeom>
          <a:noFill/>
          <a:ln w="9525">
            <a:solidFill>
              <a:srgbClr val="E4E0D6"/>
            </a:solidFill>
            <a:prstDash val="solid"/>
          </a:ln>
        </p:spPr>
      </p:sp>
      <p:sp>
        <p:nvSpPr>
          <p:cNvPr id="17" name="Text 13"/>
          <p:cNvSpPr txBox="1"/>
          <p:nvPr/>
        </p:nvSpPr>
        <p:spPr>
          <a:xfrm>
            <a:off x="6400800" y="5074920"/>
            <a:ext cx="5031943" cy="548640"/>
          </a:xfrm>
          <a:prstGeom prst="rect">
            <a:avLst/>
          </a:prstGeom>
          <a:noFill/>
          <a:ln/>
        </p:spPr>
        <p:txBody>
          <a:bodyPr wrap="square" lIns="0" tIns="0" rIns="0" bIns="0" rtlCol="0" anchor="ctr"/>
          <a:lstStyle/>
          <a:p>
            <a:pPr rtl="1" algn="r" indent="0" marL="0">
              <a:buNone/>
            </a:pPr>
            <a:r>
              <a:rPr lang="he-IL" altLang="en-US" sz="1800" dirty="0">
                <a:solidFill>
                  <a:srgbClr val="2B3138"/>
                </a:solidFill>
                <a:latin typeface="Instrument Sans" pitchFamily="34" charset="0"/>
                <a:ea typeface="Instrument Sans" pitchFamily="34" charset="-122"/>
                <a:cs typeface="Assistant" pitchFamily="34" charset="-120"/>
              </a:rPr>
              <a:t>הדוגמאות של TomerWave</a:t>
            </a:r>
            <a:endParaRPr lang="he-IL" sz="1800" dirty="0"/>
          </a:p>
        </p:txBody>
      </p:sp>
      <p:sp>
        <p:nvSpPr>
          <p:cNvPr id="18" name="Text 14"/>
          <p:cNvSpPr txBox="1"/>
          <p:nvPr/>
        </p:nvSpPr>
        <p:spPr>
          <a:xfrm>
            <a:off x="758952" y="5074920"/>
            <a:ext cx="5486400" cy="548640"/>
          </a:xfrm>
          <a:prstGeom prst="rect">
            <a:avLst/>
          </a:prstGeom>
          <a:noFill/>
          <a:ln/>
        </p:spPr>
        <p:txBody>
          <a:bodyPr wrap="square" lIns="0" tIns="0" rIns="0" bIns="0" rtlCol="0" anchor="ctr"/>
          <a:lstStyle/>
          <a:p>
            <a:pPr algn="l" indent="0" marL="0">
              <a:buNone/>
            </a:pPr>
            <a:r>
              <a:rPr lang="en-US" sz="1500" u="sng" dirty="0">
                <a:solidFill>
                  <a:srgbClr val="2B3138"/>
                </a:solidFill>
                <a:latin typeface="Instrument Sans" pitchFamily="34" charset="0"/>
                <a:ea typeface="Instrument Sans" pitchFamily="34" charset="-122"/>
                <a:cs typeface="Assistant"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github.com/tomerwave/wave-lab</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שלחנו סוכן להזמין חופשה</dc:title>
  <dc:subject>PptxGenJS Presentation</dc:subject>
  <dc:creator>Tomer Gal</dc:creator>
  <cp:lastModifiedBy>Tomer Gal</cp:lastModifiedBy>
  <cp:revision>1</cp:revision>
  <dcterms:created xsi:type="dcterms:W3CDTF">2026-09-23T04:32:20Z</dcterms:created>
  <dcterms:modified xsi:type="dcterms:W3CDTF">2026-09-23T04:32:20Z</dcterms:modified>
</cp:coreProperties>
</file>