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00:00–00:40
פתיחה: היום נשלח סוכן לחפש חופשה. יש לו תקציב, תנאים ואתכם. החופשה הזאת עוד לא עברה QA. המטרה שלנו היא להבין איך מחברים מודל שבוחר פעולה לדפדפן שבאמת יכול לבצע אותה. נתחיל באתר, ואז נפתח את מכסה המנוע.
חשוב, ולהגיד פעם אחת בבירור: האתר והמלונות בדויים, ואין רכישה אמיתית. בגרסת התרגול המקומית הבחירות מתוסרטות ומסומנות כך. ריצה חיה של Jev ו-AWS מציגים רק אחרי שהשירותים חוברו ונבדקו.
מעבר: חצי דקה עליי, ואז יוצאים לחופשה.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ns2:creationId val="1024086991"/>
      </p:ext>
    </p:extLst>
  </p:cSld>
  <p:clrMapOvr>
    <a:masterClrMapping/>
  </p:clrMapOvr>
</p:notes>
</file>

<file path=ppt/notesSlides/notesSlide2.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00:40–01:30
אני תומר, Fractional CTO ויועץ טכנולוגי. בניתי תשתיות דפדפן וניהול סשנים מאומתים בחברה שמאפשרת לסוכנים לעבוד באתרי אינטרנט. הובלתי גם פיתוח בסטארטאפ שעוסק באמינות סוכנים, כולל תיקון תקלות בזמן ריצה. כך שמה שקורה בין ההחלטה ללחיצה מוכר לי מקרוב. מחוץ למחשב אני מטפס ורוקד. גם שם כדאי לדעת מה הצעד הבא.
ה-YAML הוא עיבוד מקוצר של ה-README האמיתי, עם הניסיון הרלוונטי. אין לציין שמות חברות.
מקורות: https://tomerwave.com/ ; https://tomerwave.com/about ; https://github.com/tomerwave/tomerwave/blob/main/ReadMe.md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ns2:creationId val="1024086991"/>
      </p:ext>
    </p:extLst>
  </p:cSld>
  <p:clrMapOvr>
    <a:masterClrMapping/>
  </p:clrMapOvr>
</p:notes>
</file>

<file path=ppt/notesSlides/notesSlide3.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01:30–02:30
המשימה: שלושה לילות, עד 600 אירו לכל השהייה, ומלון נגיש. הנגישות היא תנאי חובה, לא העדפה שאפשר לוותר עליה כי הנוף יפה. התאריכים קבועים, כדי שנתמקד בבחירת הפעולה.
אפשר לבקש הרמת ידיים: מי כבר בנה סוכן או השתמש בכלי לאוטומציה של דפדפן? אין צורך בהיכרות מוקדמת.
במה: לפתוח את אתר הדמו בלשונית מוכנה. הסכומים בדויים. החישוב נעשה בקוד, לא במודל.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ns2:creationId val="1024086991"/>
      </p:ext>
    </p:extLst>
  </p:cSld>
  <p:clrMapOvr>
    <a:masterClrMapping/>
  </p:clrMapOvr>
</p:notes>
</file>

<file path=ppt/notesSlides/notesSlide4.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02:30–04:00
הפעילו מראש מהטרמינל: HEADED=1 npm run demo:vacation -- happy --interactive --site-url https://vacation-agent-rehearsal.vercel.app. האתר נראה כמו אתר חופשות רגיל. כל הפקודות וה-trace בטרמינל, בלי כפתורי מגיש באתר. אמרו בקול: הבחירות מתוסרטות בחזרה הזאת, בלי קריאות Jev או AWS. next ראשון בוחר open_hotel_A; next שני לוחץ ונשאר באותו דפדפן.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ns2:creationId val="1024086991"/>
      </p:ext>
    </p:extLst>
  </p:cSld>
  <p:clrMapOvr>
    <a:masterClrMapping/>
  </p:clrMapOvr>
</p:notes>
</file>

<file path=ppt/notesSlides/notesSlide5.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04:00–06:00
next שלישי משאיר את אותה ריצה בהשהיה ב-before_click עם select_hotel. עוד אין לחיצה. הקהל בוחר שינוי, ואתם מקלידים בטרמינל sold-out A או budget 500. השינוי נכנס לתור ומיושם בנקודת העצירה. next או run יראו world_changed וגרסת החלטה ישנה מול גרסת עולם חדשה. אין הפעלה מחדש כדי לשנות את התנאים. אפשר להשאיר את הריצה מושהית בזמן ההסבר ולחזור אליה בשקף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ns2:creationId val="1024086991"/>
      </p:ext>
    </p:extLst>
  </p:cSld>
  <p:clrMapOvr>
    <a:masterClrMapping/>
  </p:clrMapOvr>
</p:notes>
</file>

<file path=ppt/notesSlides/notesSlide6.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06:00–07:30
לולאה שמקבלת החלטות ממודל היא מסלול הסוכן. במצב החזרה הבוחר מתוסרט ומסומן כך. מנגנון התצפית, ההשהיה, הבדיקה והלחיצה זהה בשני המסלולים. אל תציגו בחירה מתוסרטת כאילו Jev החליט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ns2:creationId val="1024086991"/>
      </p:ext>
    </p:extLst>
  </p:cSld>
  <p:clrMapOvr>
    <a:masterClrMapping/>
  </p:clrMapOvr>
</p:notes>
</file>

<file path=ppt/notesSlides/notesSlide7.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07:30–09:00
כלי הוא פשוט פונקציה שהסוכן יכול לבקש להפעיל. למשל, פתיחת דף מלון. יש לה שם, קלט מוגדר ותוצאה. בדפדפן, הפונקציה יכולה להשתמש ב-Playwright, ספרייה שמאפשרת לקוד ללחוץ, להקליד ולקרוא את הדף. המודל מחזיר החלטה, והקוד מתרגם אותה לביצוע. להגיד במפורש: המודל לא מריץ את הפונקציה ולא כותב selectors.
השקף מראה את מה שהדמו ב-wave-lab מדפיס: Jev מחזיר את המזהה open_hotel_C, הקוד מוצא אותו ב-registry, לוחץ עם Playwright וקורא את המצב החדש. התוצאה בדויה.
מקורות: https://strandsagents.com/docs/user-guide/sdk/ ; https://docs.aws.amazon.com/bedrock-agentcore/latest/devguide/browser-tool.html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ns2:creationId val="1024086991"/>
      </p:ext>
    </p:extLst>
  </p:cSld>
  <p:clrMapOvr>
    <a:masterClrMapping/>
  </p:clrMapOvr>
</p:notes>
</file>

<file path=ppt/notesSlides/notesSlide8.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09:00–10:00
המטרה והתנאים נקבעים בקוד ובידי המגיש. Jev בוחר מזהה פעולה מתוך האפשרויות. Strands הוא מסלול מתכנן אופציונלי, לא תנאי להפעלת הדמו. אין ל-Jev או למתכנן כלי לממשק המגיש, לשינוי תקציב או לתשלום.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ns2:creationId val="1024086991"/>
      </p:ext>
    </p:extLst>
  </p:cSld>
  <p:clrMapOvr>
    <a:masterClrMapping/>
  </p:clrMapOvr>
</p:notes>
</file>

<file path=ppt/notesSlides/notesSlide9.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10:00–11:30
רגע חי (כ-20 שניות): לעבור לדפדפן ולהראות את דף מלון A לצד המצב המתומצת שהקוד בנה ממנו. אם אין חיבור, השקף עצמו מראה את שני הצדדים.
DOM הוא המבנה של דף האינטרנט: כותרות, כפתורים, שדות ותוכן. לא צריך לשלוח את כל האתר. הקוד שלנו קורא את המידע הרלוונטי ומכין תיאור קצר. לצדו יש רשימת פעולות שבאמת אפשר לבצע כרגע. שימו לב: כפתור ההזמנה לא מופיע ברשימה, כי המלון מלא. Jev מקבל כאן טקסט מובנה, לא צילום מסך.
החלק ההנדסי החשוב נמצא לפני הקריאה למודל: איך משאירים רק את המידע השימושי, איך ממפים פעולה לאלמנט, ואיך לא מציעים כפתור שכבר נעלם. באתר הדמו יש לנו מזהים יציבים (בסגנון data-testid). באתר חיצוני זה קשה יותר ודורש טיפול נפרד.
ה-YAML בשקף הוא בדיוק מה שהדמו מדפיס בצעד 2 של התרחיש sold-out (npm run demo:vacation -- sold-out).
מקורות: https://docs.typesafe.ai/sdk/javascript ; https://docs.typesafe.ai/model-jaggedness/jev-1.13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ns2:creationId val="1024086991"/>
      </p:ext>
    </p:extLst>
  </p:cSld>
  <p:clrMapOvr>
    <a:masterClrMapping/>
  </p:clrMapOvr>
</p:notes>
</file>

<file path=ppt/notesSlides/notesSlide10.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11:30–13:00
להצביע על שלושת הסימונים בקוד, בלי להקריא את כולו: 1 המצב, 2 האפשרויות, 3 המזהה שחוזר. client נוצר עם TypeSafeClient, ו-choice מגיע מאותו SDK. compactState נבנה אצלנו (src/compact.ts), והאפשרויות נגזרות מהדף (src/actions.ts). המזהה שחוזר הוא back_to_results או stop, אותם מזהים כמו בשקף הקודם. לפי המזהה הזה הקוד מוצא את הפעולה ב-registry (נראה את זה בשקף 13).
הקוד בשקף לקוח מ-src/jev.ts. הוא נבדק מול ה-SDK האמיתי עם fetch מדומה, אבל לא הורץ מול השירות עצמו. צריך להתקין @typesafe-ai/sdk ולהגדיר TYPESAFE_API_KEY בצד השרת. המפתח לא נכנס לדף הדמו בדפדפן.
להבהיר: הרשימה בשקף קצרה לצורך המחשה. במימוש, הרשימה נגזרת מהמצב העדכני. אנחנו לא מבקשים מהמודל להמציא selector.
מקור: https://docs.typesafe.ai/sdk/javascript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ns2:creationId val="1024086991"/>
      </p:ext>
    </p:extLst>
  </p:cSld>
  <p:clrMapOvr>
    <a:masterClrMapping/>
  </p:clrMapOvr>
</p:notes>
</file>

<file path=ppt/notesSlides/notesSlide1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13:00–14:30
אפשר לקבל תשובה מושלמת מבחינת פורמט ולהיכנס למלון הלא נכון. בדוגמה: בדף של מלון B הפעולות הן select_hotel, back_to_results ו-stop. select_hotel הוא מזהה קיים ותקין, אבל מלון B לא נגיש, והקוד דוחה אותו. אפשר להראות את זה חי: npm run demo:vacation -- sold-out --chooser careless. זה ההבדל בין חוזה תקין להחלטה טובה.
ה-Choice API מחזיר גם הסתברויות ו-confidence. ה-confidence מתאר כמה ההתפלגות מרוכזת. הוא לא ההסתברות שההזמנה נכונה.
לכן לא נשים סף קסם של 90 אחוז ונלך לים. נבדוק תנאים, נעקוב אחרי התוצאה ונעצור כשצריך. חישובי תקציב ותאריכים נשארים בקוד.
מקורות: https://docs.typesafe.ai/confidence ; https://docs.typesafe.ai/primitives/choice ; https://docs.typesafe.ai/model-jaggedness/jev-1.13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ns2:creationId val="1024086991"/>
      </p:ext>
    </p:extLst>
  </p:cSld>
  <p:clrMapOvr>
    <a:masterClrMapping/>
  </p:clrMapOvr>
</p:notes>
</file>

<file path=ppt/notesSlides/notesSlide12.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14:30–16:00
כל חיבור חי אופציונלי: --chooser jev, --browser agentcore, --planner strands. SDK tests אינם בדיקות מול השירותים. לא הרצנו בשינוי הזה Jev, AgentCore או Bedrock בתשלום. רק אחרי חזרה בחשבון מאושר אפשר להציג מסלול חי כבדוק. האתר הציבורי בדוי, ולמתכנן find_hotel אחד ללא קלט. עם --site-url הדפדפן פותח את הכתובת הציבורית. בלי הדגל, local טוען HTML ו-AgentCore משתמש ב-data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ns2:creationId val="1024086991"/>
      </p:ext>
    </p:extLst>
  </p:cSld>
  <p:clrMapOvr>
    <a:masterClrMapping/>
  </p:clrMapOvr>
</p:notes>
</file>

<file path=ppt/notesSlides/notesSlide13.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16:00–18:00
זה קיצור רעיוני של loop.ts ו-executor.ts, לא בלוק להעתקה. לפני לחיצה ממתינים ל-checkpoint, מיישמים את השינויים שבאו בזמן החלטת המודל ודוחים החלטה אם גרסת העולם השתנתה. אחר כך קוראים DOM עדכני ומוודאים דרך ה-registry. createRegistry מקבל getter לתנאים הנוכחיים ולא עותק של התקציב הראשון. תקציב ונגישות נשארים בקוד. Stop נבדק גם אחרי קריאות אסינכרוניות. אין פעולת pay ב-registry.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ns2:creationId val="1024086991"/>
      </p:ext>
    </p:extLst>
  </p:cSld>
  <p:clrMapOvr>
    <a:masterClrMapping/>
  </p:clrMapOvr>
</p:notes>
</file>

<file path=ppt/notesSlides/notesSlide14.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18:00–20:30
חזרו לאותו דפדפן ואותו run ID. לאחר sold-out A ו-next, select_hotel הישן נדחה world_changed. המשיכו ב-next, נקודת עצירה בכל פעם: בחירת back_to_results, לחיצה, בחירת open_hotel_C, לחיצה. next נוסף משאיר select_hotel של C ממתין לפני לחיצה. עוד לא מסיימים ריצה. בשקף 15 מורידים את התקציב ל-500 באותו סשן. כך שתי ההתערבויות וההתאוששות קורות באותה ריצה בלי restart.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ns2:creationId val="1024086991"/>
      </p:ext>
    </p:extLst>
  </p:cSld>
  <p:clrMapOvr>
    <a:masterClrMapping/>
  </p:clrMapOvr>
</p:notes>
</file>

<file path=ppt/notesSlides/notesSlide15.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20:30–22:30
בריצה פעילה: budget 500 ואז run. אין מלון נגיש בתקציב, והטרמינל מציג no_match וממתין. הקלידו budget 600 ואז run; אם A נמכר, אפשר גם restore-hotel A. אותו run ID, אותה היסטוריה, אותו דפדפן. החרגות ישנות נמחקות כשגרסת העולם משתנה, ולכן אפשר להתאושש כשהתנאים מוקלים. stop מסיים. reset מבטל ריצה פעילה ומתחיל חדשה עם מזהה חדש באותו דפדפן.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ns2:creationId val="1024086991"/>
      </p:ext>
    </p:extLst>
  </p:cSld>
  <p:clrMapOvr>
    <a:masterClrMapping/>
  </p:clrMapOvr>
</p:notes>
</file>

<file path=ppt/notesSlides/notesSlide16.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22:30–23:30
שינויי זמינות מאושרים ממצב המגיש ומסונכרנים לדף בנקודת עצירה. החלטת מודל שנשארה תלויה לא יכולה לבצע לחיצה אחרי Stop או Reset. זמן ההמתנה להחלטה מוגבל ל-30 שניות, ויש מגבלת צעדים. Stop מפסיק המתנה מקומית; אין כאן הבטחה לביטול חיוב אצל ספק מודל שכבר קיבל בקשה.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ns2:creationId val="1024086991"/>
      </p:ext>
    </p:extLst>
  </p:cSld>
  <p:clrMapOvr>
    <a:masterClrMapping/>
  </p:clrMapOvr>
</p:notes>
</file>

<file path=ppt/notesSlides/notesSlide17.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23:30–24:30
הייתי מתחיל ממסך אחד באתר שבשליטתכם. בוחרים משימה, מגדירים פעולות ומחברים בחירה לתוצאה שאפשר לבדוק. למשל, מיון בקשה במערכת פנימית או מעבר לטופס המתאים. אחרי שזה עובד, מרחיבים.
ערכת ההתחלה בשקף לא דורשת AWS ולא דורשת Jev: כל מודל שמחזיר structured output מספיק כדי להתחיל.
Jev מעניין כי הוא נותן לנו צורת ממשק אחרת בין מודל לקוד. בפועל צריך למדוד: כמה צעדים הצליחו, האם המשימה הושלמה, ומה הזמן והעלות הכוללים, כולל הכנת הקלט וקריאות נוספות. אין כאן תוצאה שמוכיחה יתרון ביצועים. המטרה היא לצאת עם משהו שאפשר לנסות בצורה מסודרת.
מעבר לסיום: החופשה שלנו הייתה בדויה. ההחלטות ההנדסיות בדרך, לא.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ns2:creationId val="1024086991"/>
      </p:ext>
    </p:extLst>
  </p:cSld>
  <p:clrMapOvr>
    <a:masterClrMapping/>
  </p:clrMapOvr>
</p:notes>
</file>

<file path=ppt/notesSlides/notesSlide18.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24:30–25:00
סיימו את הסיפור עד דקה 25. שאלות בדקות 25–30. שקפים 19–21 נספח בלבד, לפי השאלה. לפני מעבר לשאלות אמרו: בחזרה הזאת הבחירות מתוסרטות; מסלולי Jev/AWS קיימים בקוד ולא נבדקו כאן בתשלום.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ns2:creationId val="1024086991"/>
      </p:ext>
    </p:extLst>
  </p:cSld>
  <p:clrMapOvr>
    <a:masterClrMapping/>
  </p:clrMapOvr>
</p:notes>
</file>

<file path=ppt/notesSlides/notesSlide19.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נספח לשאלות, 25:00–30:00
זה שיקול למוצר עתידי. בדמו המתכנן האופציונלי מפעיל כלי find_hotel פעם אחת בלבד. שינויי קהל מעדכנים את אותו סשן של הלולאה; אין כאן framework שמזמן שוב מתכנן אוטומטית.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ns2:creationId val="1024086991"/>
      </p:ext>
    </p:extLst>
  </p:cSld>
  <p:clrMapOvr>
    <a:masterClrMapping/>
  </p:clrMapOvr>
</p:notes>
</file>

<file path=ppt/notesSlides/notesSlide20.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נספח (לשאלות)
לשלוף רק אם עולה השאלה "למה לא פשוט LLM עם enum ב-structured output?". התשובה הקצרה: זה בדיוק המקום להתחיל. כל ספק תומך בזה, וזה מספיק לרוב המסכים. Jev הוא מודל שנבנה סביב הבחירה ומחזיר גם הסתברויות. אין לנו כאן מדידה שמוכיחה שאחד עדיף, ולכן ההמלצה היא למדוד את שניהם על אותה משימה: כמה צעדים הצליחו, האם המשימה הושלמה, זמן ועלות כוללים.
מקורות: https://docs.typesafe.ai/primitives/choice ; https://docs.typesafe.ai/model-jaggedness/jev-1.13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ns2:creationId val="1024086991"/>
      </p:ext>
    </p:extLst>
  </p:cSld>
  <p:clrMapOvr>
    <a:masterClrMapping/>
  </p:clrMapOvr>
</p:notes>
</file>

<file path=ppt/notesSlides/notesSlide2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זמן: נספח לשאלות, 25:00–30:00
אתר הדמו הבדוי: https://vacation-agent-rehearsal.vercel.app. קוד: github.com/tomerwave/wave-lab, branch feat/vacation-agent-demo. פקודות החזרה ב-talk/rehearsal-guide.md. מקורות המקור נשמרו. אין טענה שכל אינטגרציה חיה אומתה.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ns2:creationId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tomerwave/wave-lab" TargetMode="External"/><Relationship Id="rId3" Type="http://schemas.openxmlformats.org/officeDocument/2006/relationships/hyperlink" Target="https://tomerwave.com" TargetMode="External"/><Relationship Id="rId1" Type="http://schemas.openxmlformats.org/officeDocument/2006/relationships/image" Target="../media/image-18-1.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ocs.typesafe.ai/sdk/javascript" TargetMode="External"/><Relationship Id="rId3" Type="http://schemas.openxmlformats.org/officeDocument/2006/relationships/hyperlink" Target="https://strandsagents.com/docs/user-guide/sdk/" TargetMode="External"/><Relationship Id="rId4" Type="http://schemas.openxmlformats.org/officeDocument/2006/relationships/hyperlink" Target="https://docs.aws.amazon.com/bedrock-agentcore/latest/devguide/browser-tool.html" TargetMode="External"/><Relationship Id="rId5" Type="http://schemas.openxmlformats.org/officeDocument/2006/relationships/hyperlink" Target="https://github.com/tomerwave/wave-lab"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F"/>
        </a:solidFill>
      </p:bgPr>
    </p:bg>
    <p:spTree>
      <p:nvGrpSpPr>
        <p:cNvPr id="1" name=""/>
        <p:cNvGrpSpPr/>
        <p:nvPr/>
      </p:nvGrpSpPr>
      <p:grpSpPr>
        <a:xfrm>
          <a:off x="0" y="0"/>
          <a:ext cx="0" cy="0"/>
          <a:chOff x="0" y="0"/>
          <a:chExt cx="0" cy="0"/>
        </a:xfrm>
      </p:grpSpPr>
      <p:pic>
        <p:nvPicPr>
          <p:cNvPr id="3" name="Image 0" descr="/home/claude/b2/image.jpg">    </p:cNvPr>
          <p:cNvPicPr>
            <a:picLocks noChangeAspect="1"/>
          </p:cNvPicPr>
          <p:nvPr/>
        </p:nvPicPr>
        <p:blipFill>
          <a:blip r:embed="rId1"/>
          <a:stretch>
            <a:fillRect/>
          </a:stretch>
        </p:blipFill>
        <p:spPr>
          <a:xfrm>
            <a:off x="0" y="0"/>
            <a:ext cx="12191695" cy="6858000"/>
          </a:xfrm>
          <a:prstGeom prst="rect">
            <a:avLst/>
          </a:prstGeom>
        </p:spPr>
      </p:pic>
      <p:pic>
        <p:nvPicPr>
          <p:cNvPr id="4" name="Image 1" descr="/home/claude/b2/icon.png">    </p:cNvPr>
          <p:cNvPicPr>
            <a:picLocks noChangeAspect="1"/>
          </p:cNvPicPr>
          <p:nvPr/>
        </p:nvPicPr>
        <p:blipFill>
          <a:blip r:embed="rId2"/>
          <a:stretch>
            <a:fillRect/>
          </a:stretch>
        </p:blipFill>
        <p:spPr>
          <a:xfrm>
            <a:off x="11121847" y="329184"/>
            <a:ext cx="310896" cy="310896"/>
          </a:xfrm>
          <a:prstGeom prst="rect">
            <a:avLst/>
          </a:prstGeom>
        </p:spPr>
      </p:pic>
      <p:sp>
        <p:nvSpPr>
          <p:cNvPr id="5"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6" name="Text 1"/>
          <p:cNvSpPr txBox="1"/>
          <p:nvPr/>
        </p:nvSpPr>
        <p:spPr>
          <a:xfrm>
            <a:off x="6400800" y="1417320"/>
            <a:ext cx="5031943" cy="1920240"/>
          </a:xfrm>
          <a:prstGeom prst="rect">
            <a:avLst/>
          </a:prstGeom>
          <a:noFill/>
          <a:ln/>
        </p:spPr>
        <p:txBody>
          <a:bodyPr wrap="square" lIns="0" tIns="0" rIns="0" bIns="0" rtlCol="0" anchor="t"/>
          <a:lstStyle/>
          <a:p>
            <a:pPr rtl="1" algn="r" indent="0" marL="0">
              <a:lnSpc>
                <a:spcPct val="98000"/>
              </a:lnSpc>
              <a:buNone/>
            </a:pPr>
            <a:r>
              <a:rPr lang="he-IL" altLang="en-US" sz="5400" dirty="0">
                <a:solidFill>
                  <a:srgbClr val="2B3138"/>
                </a:solidFill>
                <a:latin typeface="Fraunces" pitchFamily="34" charset="0"/>
                <a:ea typeface="Fraunces" pitchFamily="34" charset="-122"/>
                <a:cs typeface="Frank Ruhl Libre" pitchFamily="34" charset="-120"/>
              </a:rPr>
              <a:t>שלחנו סוכן</a:t>
            </a:r>
            <a:endParaRPr lang="he-IL" sz="5400" dirty="0"/>
          </a:p>
          <a:p>
            <a:pPr rtl="1" algn="r" indent="0" marL="0">
              <a:lnSpc>
                <a:spcPct val="98000"/>
              </a:lnSpc>
              <a:buNone/>
            </a:pPr>
            <a:r>
              <a:rPr lang="he-IL" altLang="en-US" sz="5400" dirty="0">
                <a:solidFill>
                  <a:srgbClr val="2B3138"/>
                </a:solidFill>
                <a:latin typeface="Fraunces" pitchFamily="34" charset="0"/>
                <a:ea typeface="Fraunces" pitchFamily="34" charset="-122"/>
                <a:cs typeface="Frank Ruhl Libre" pitchFamily="34" charset="-120"/>
              </a:rPr>
              <a:t>להזמין חופשה</a:t>
            </a:r>
            <a:endParaRPr lang="he-IL" sz="5400" dirty="0"/>
          </a:p>
        </p:txBody>
      </p:sp>
      <p:sp>
        <p:nvSpPr>
          <p:cNvPr id="7" name="Text 2"/>
          <p:cNvSpPr txBox="1"/>
          <p:nvPr/>
        </p:nvSpPr>
        <p:spPr>
          <a:xfrm>
            <a:off x="6400800" y="3291840"/>
            <a:ext cx="5031943" cy="868680"/>
          </a:xfrm>
          <a:prstGeom prst="rect">
            <a:avLst/>
          </a:prstGeom>
          <a:noFill/>
          <a:ln/>
        </p:spPr>
        <p:txBody>
          <a:bodyPr wrap="square" lIns="0" tIns="0" rIns="0" bIns="0" rtlCol="0" anchor="t"/>
          <a:lstStyle/>
          <a:p>
            <a:pPr rtl="1" algn="r" indent="0" marL="0">
              <a:buNone/>
            </a:pPr>
            <a:r>
              <a:rPr lang="he-IL" altLang="en-US" sz="5400" dirty="0">
                <a:solidFill>
                  <a:srgbClr val="5F7368"/>
                </a:solidFill>
                <a:latin typeface="Fraunces" pitchFamily="34" charset="0"/>
                <a:ea typeface="Fraunces" pitchFamily="34" charset="-122"/>
                <a:cs typeface="Frank Ruhl Libre" pitchFamily="34" charset="-120"/>
              </a:rPr>
              <a:t>ואז התערבתם</a:t>
            </a:r>
            <a:endParaRPr lang="he-IL" sz="5400" dirty="0"/>
          </a:p>
        </p:txBody>
      </p:sp>
      <p:sp>
        <p:nvSpPr>
          <p:cNvPr id="8" name="Text 3"/>
          <p:cNvSpPr txBox="1"/>
          <p:nvPr/>
        </p:nvSpPr>
        <p:spPr>
          <a:xfrm>
            <a:off x="6400800" y="4343400"/>
            <a:ext cx="5031943" cy="411480"/>
          </a:xfrm>
          <a:prstGeom prst="rect">
            <a:avLst/>
          </a:prstGeom>
          <a:noFill/>
          <a:ln/>
        </p:spPr>
        <p:txBody>
          <a:bodyPr wrap="square" lIns="0" tIns="0" rIns="0" bIns="0" rtlCol="0" anchor="t"/>
          <a:lstStyle/>
          <a:p>
            <a:pPr rtl="1" algn="r" indent="0" marL="0">
              <a:buNone/>
            </a:pPr>
            <a:r>
              <a:rPr lang="he-IL" altLang="en-US" sz="2100" dirty="0">
                <a:solidFill>
                  <a:srgbClr val="5A6067"/>
                </a:solidFill>
                <a:latin typeface="Instrument Sans" pitchFamily="34" charset="0"/>
                <a:ea typeface="Instrument Sans" pitchFamily="34" charset="-122"/>
                <a:cs typeface="Assistant" pitchFamily="34" charset="-120"/>
              </a:rPr>
              <a:t>סוכנים, דפדפנים, Jev ו-AWS</a:t>
            </a:r>
            <a:endParaRPr lang="he-IL" sz="2100" dirty="0"/>
          </a:p>
        </p:txBody>
      </p:sp>
      <p:sp>
        <p:nvSpPr>
          <p:cNvPr id="9" name="Text 4"/>
          <p:cNvSpPr txBox="1"/>
          <p:nvPr/>
        </p:nvSpPr>
        <p:spPr>
          <a:xfrm>
            <a:off x="6400800" y="5806440"/>
            <a:ext cx="5031943" cy="320040"/>
          </a:xfrm>
          <a:prstGeom prst="rect">
            <a:avLst/>
          </a:prstGeom>
          <a:noFill/>
          <a:ln/>
        </p:spPr>
        <p:txBody>
          <a:bodyPr wrap="square" lIns="0" tIns="0" rIns="0" bIns="0" rtlCol="0" anchor="t"/>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תומר גל  ·  tomerwave.com</a:t>
            </a:r>
            <a:endParaRPr lang="he-IL" sz="1500" dirty="0"/>
          </a:p>
        </p:txBody>
      </p:sp>
      <p:sp>
        <p:nvSpPr>
          <p:cNvPr id="10" name="Text 5"/>
          <p:cNvSpPr txBox="1"/>
          <p:nvPr/>
        </p:nvSpPr>
        <p:spPr>
          <a:xfrm>
            <a:off x="6400800" y="6172200"/>
            <a:ext cx="5031943" cy="274320"/>
          </a:xfrm>
          <a:prstGeom prst="rect">
            <a:avLst/>
          </a:prstGeom>
          <a:noFill/>
          <a:ln/>
        </p:spPr>
        <p:txBody>
          <a:bodyPr wrap="square" lIns="0" tIns="0" rIns="0" bIns="0" rtlCol="0" anchor="t"/>
          <a:lstStyle/>
          <a:p>
            <a:pPr rtl="1" algn="r" indent="0" marL="0">
              <a:buNone/>
            </a:pPr>
            <a:r>
              <a:rPr lang="he-IL" altLang="en-US" sz="1300" dirty="0">
                <a:solidFill>
                  <a:srgbClr val="5A6067"/>
                </a:solidFill>
                <a:latin typeface="Instrument Sans" pitchFamily="34" charset="0"/>
                <a:ea typeface="Instrument Sans" pitchFamily="34" charset="-122"/>
                <a:cs typeface="Assistant" pitchFamily="34" charset="-120"/>
              </a:rPr>
              <a:t>האתר והמלונות בדויים. אין רכישה אמיתית.</a:t>
            </a:r>
            <a:endParaRPr lang="he-IL"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2 / 21</a:t>
            </a:r>
            <a:endParaRPr lang="en-US" sz="1000" dirty="0"/>
          </a:p>
        </p:txBody>
      </p:sp>
      <p:sp>
        <p:nvSpPr>
          <p:cNvPr id="6" name="Text 2"/>
          <p:cNvSpPr txBox="1"/>
          <p:nvPr/>
        </p:nvSpPr>
        <p:spPr>
          <a:xfrm>
            <a:off x="7406640" y="868680"/>
            <a:ext cx="4026103" cy="822960"/>
          </a:xfrm>
          <a:prstGeom prst="rect">
            <a:avLst/>
          </a:prstGeom>
          <a:noFill/>
          <a:ln/>
        </p:spPr>
        <p:txBody>
          <a:bodyPr wrap="square" lIns="0" tIns="0" rIns="0" bIns="0" rtlCol="0" anchor="ctr"/>
          <a:lstStyle/>
          <a:p>
            <a:pPr rtl="1" algn="r" indent="0" marL="0">
              <a:buNone/>
            </a:pPr>
            <a:r>
              <a:rPr lang="he-IL" altLang="en-US" sz="4400" dirty="0">
                <a:solidFill>
                  <a:srgbClr val="2B3138"/>
                </a:solidFill>
                <a:latin typeface="Fraunces" pitchFamily="34" charset="0"/>
                <a:ea typeface="Fraunces" pitchFamily="34" charset="-122"/>
                <a:cs typeface="Frank Ruhl Libre" pitchFamily="34" charset="-120"/>
              </a:rPr>
              <a:t>תומר גל</a:t>
            </a:r>
            <a:endParaRPr lang="he-IL" sz="4400" dirty="0"/>
          </a:p>
        </p:txBody>
      </p:sp>
      <p:sp>
        <p:nvSpPr>
          <p:cNvPr id="7" name="Text 3"/>
          <p:cNvSpPr txBox="1"/>
          <p:nvPr/>
        </p:nvSpPr>
        <p:spPr>
          <a:xfrm>
            <a:off x="7406640" y="1737360"/>
            <a:ext cx="4026103" cy="365760"/>
          </a:xfrm>
          <a:prstGeom prst="rect">
            <a:avLst/>
          </a:prstGeom>
          <a:noFill/>
          <a:ln/>
        </p:spPr>
        <p:txBody>
          <a:bodyPr wrap="square" lIns="0" tIns="0" rIns="0" bIns="0" rtlCol="0" anchor="t"/>
          <a:lstStyle/>
          <a:p>
            <a:pPr rtl="1" algn="r" indent="0" marL="0">
              <a:buNone/>
            </a:pPr>
            <a:r>
              <a:rPr lang="he-IL" altLang="en-US" sz="1800" dirty="0">
                <a:solidFill>
                  <a:srgbClr val="5A6067"/>
                </a:solidFill>
                <a:latin typeface="Instrument Sans" pitchFamily="34" charset="0"/>
                <a:ea typeface="Instrument Sans" pitchFamily="34" charset="-122"/>
                <a:cs typeface="Assistant" pitchFamily="34" charset="-120"/>
              </a:rPr>
              <a:t>קצת על מי שנתן לסוכן דפדפן</a:t>
            </a:r>
            <a:endParaRPr lang="he-IL" sz="1800" dirty="0"/>
          </a:p>
        </p:txBody>
      </p:sp>
      <p:sp>
        <p:nvSpPr>
          <p:cNvPr id="8" name="Shape 4"/>
          <p:cNvSpPr/>
          <p:nvPr/>
        </p:nvSpPr>
        <p:spPr>
          <a:xfrm>
            <a:off x="7406640" y="2514600"/>
            <a:ext cx="4026103" cy="0"/>
          </a:xfrm>
          <a:prstGeom prst="line">
            <a:avLst/>
          </a:prstGeom>
          <a:noFill/>
          <a:ln w="9525">
            <a:solidFill>
              <a:srgbClr val="E4E0D6"/>
            </a:solidFill>
            <a:prstDash val="solid"/>
          </a:ln>
        </p:spPr>
      </p:sp>
      <p:sp>
        <p:nvSpPr>
          <p:cNvPr id="9" name="Text 5"/>
          <p:cNvSpPr txBox="1"/>
          <p:nvPr/>
        </p:nvSpPr>
        <p:spPr>
          <a:xfrm>
            <a:off x="7406640" y="2697480"/>
            <a:ext cx="4026103" cy="347472"/>
          </a:xfrm>
          <a:prstGeom prst="rect">
            <a:avLst/>
          </a:prstGeom>
          <a:noFill/>
          <a:ln/>
        </p:spPr>
        <p:txBody>
          <a:bodyPr wrap="square" lIns="0" tIns="0" rIns="0" bIns="0" rtlCol="0" anchor="t"/>
          <a:lstStyle/>
          <a:p>
            <a:pPr rtl="1" algn="r" indent="0" marL="0">
              <a:buNone/>
            </a:pPr>
            <a:r>
              <a:rPr lang="he-IL" altLang="en-US" sz="1800" b="1" dirty="0">
                <a:solidFill>
                  <a:srgbClr val="2B3138"/>
                </a:solidFill>
                <a:latin typeface="Instrument Sans" pitchFamily="34" charset="0"/>
                <a:ea typeface="Instrument Sans" pitchFamily="34" charset="-122"/>
                <a:cs typeface="Assistant" pitchFamily="34" charset="-120"/>
              </a:rPr>
              <a:t>תשתיות דפדפן לסוכני AI</a:t>
            </a:r>
            <a:endParaRPr lang="he-IL" sz="1800" dirty="0"/>
          </a:p>
        </p:txBody>
      </p:sp>
      <p:sp>
        <p:nvSpPr>
          <p:cNvPr id="10" name="Text 6"/>
          <p:cNvSpPr txBox="1"/>
          <p:nvPr/>
        </p:nvSpPr>
        <p:spPr>
          <a:xfrm>
            <a:off x="7406640" y="3063240"/>
            <a:ext cx="4026103" cy="36576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בניתי תשתיות דפדפן וניהול סשנים מאומתים</a:t>
            </a:r>
            <a:endParaRPr lang="he-IL" sz="1500" dirty="0"/>
          </a:p>
        </p:txBody>
      </p:sp>
      <p:sp>
        <p:nvSpPr>
          <p:cNvPr id="11" name="Shape 7"/>
          <p:cNvSpPr/>
          <p:nvPr/>
        </p:nvSpPr>
        <p:spPr>
          <a:xfrm>
            <a:off x="7406640" y="3611880"/>
            <a:ext cx="4026103" cy="0"/>
          </a:xfrm>
          <a:prstGeom prst="line">
            <a:avLst/>
          </a:prstGeom>
          <a:noFill/>
          <a:ln w="9525">
            <a:solidFill>
              <a:srgbClr val="E4E0D6"/>
            </a:solidFill>
            <a:prstDash val="solid"/>
          </a:ln>
        </p:spPr>
      </p:sp>
      <p:sp>
        <p:nvSpPr>
          <p:cNvPr id="12" name="Text 8"/>
          <p:cNvSpPr txBox="1"/>
          <p:nvPr/>
        </p:nvSpPr>
        <p:spPr>
          <a:xfrm>
            <a:off x="7406640" y="3794760"/>
            <a:ext cx="4026103" cy="347472"/>
          </a:xfrm>
          <a:prstGeom prst="rect">
            <a:avLst/>
          </a:prstGeom>
          <a:noFill/>
          <a:ln/>
        </p:spPr>
        <p:txBody>
          <a:bodyPr wrap="square" lIns="0" tIns="0" rIns="0" bIns="0" rtlCol="0" anchor="t"/>
          <a:lstStyle/>
          <a:p>
            <a:pPr rtl="1" algn="r" indent="0" marL="0">
              <a:buNone/>
            </a:pPr>
            <a:r>
              <a:rPr lang="he-IL" altLang="en-US" sz="1800" b="1" dirty="0">
                <a:solidFill>
                  <a:srgbClr val="2B3138"/>
                </a:solidFill>
                <a:latin typeface="Instrument Sans" pitchFamily="34" charset="0"/>
                <a:ea typeface="Instrument Sans" pitchFamily="34" charset="-122"/>
                <a:cs typeface="Assistant" pitchFamily="34" charset="-120"/>
              </a:rPr>
              <a:t>אמינות סוכני AI</a:t>
            </a:r>
            <a:endParaRPr lang="he-IL" sz="1800" dirty="0"/>
          </a:p>
        </p:txBody>
      </p:sp>
      <p:sp>
        <p:nvSpPr>
          <p:cNvPr id="13" name="Text 9"/>
          <p:cNvSpPr txBox="1"/>
          <p:nvPr/>
        </p:nvSpPr>
        <p:spPr>
          <a:xfrm>
            <a:off x="7406640" y="4160520"/>
            <a:ext cx="4026103" cy="36576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הובלתי פיתוח, כולל תיקון תקלות בזמן ריצה</a:t>
            </a:r>
            <a:endParaRPr lang="he-IL" sz="1500" dirty="0"/>
          </a:p>
        </p:txBody>
      </p:sp>
      <p:sp>
        <p:nvSpPr>
          <p:cNvPr id="14" name="Shape 10"/>
          <p:cNvSpPr/>
          <p:nvPr/>
        </p:nvSpPr>
        <p:spPr>
          <a:xfrm>
            <a:off x="7406640" y="4709160"/>
            <a:ext cx="4026103" cy="0"/>
          </a:xfrm>
          <a:prstGeom prst="line">
            <a:avLst/>
          </a:prstGeom>
          <a:noFill/>
          <a:ln w="9525">
            <a:solidFill>
              <a:srgbClr val="E4E0D6"/>
            </a:solidFill>
            <a:prstDash val="solid"/>
          </a:ln>
        </p:spPr>
      </p:sp>
      <p:sp>
        <p:nvSpPr>
          <p:cNvPr id="15" name="Text 11"/>
          <p:cNvSpPr txBox="1"/>
          <p:nvPr/>
        </p:nvSpPr>
        <p:spPr>
          <a:xfrm>
            <a:off x="7406640" y="4892040"/>
            <a:ext cx="4026103" cy="347472"/>
          </a:xfrm>
          <a:prstGeom prst="rect">
            <a:avLst/>
          </a:prstGeom>
          <a:noFill/>
          <a:ln/>
        </p:spPr>
        <p:txBody>
          <a:bodyPr wrap="square" lIns="0" tIns="0" rIns="0" bIns="0" rtlCol="0" anchor="t"/>
          <a:lstStyle/>
          <a:p>
            <a:pPr rtl="1" algn="r" indent="0" marL="0">
              <a:buNone/>
            </a:pPr>
            <a:r>
              <a:rPr lang="he-IL" altLang="en-US" sz="1800" b="1" dirty="0">
                <a:solidFill>
                  <a:srgbClr val="2B3138"/>
                </a:solidFill>
                <a:latin typeface="Instrument Sans" pitchFamily="34" charset="0"/>
                <a:ea typeface="Instrument Sans" pitchFamily="34" charset="-122"/>
                <a:cs typeface="Assistant" pitchFamily="34" charset="-120"/>
              </a:rPr>
              <a:t>מחוץ למחשב</a:t>
            </a:r>
            <a:endParaRPr lang="he-IL" sz="1800" dirty="0"/>
          </a:p>
        </p:txBody>
      </p:sp>
      <p:sp>
        <p:nvSpPr>
          <p:cNvPr id="16" name="Text 12"/>
          <p:cNvSpPr txBox="1"/>
          <p:nvPr/>
        </p:nvSpPr>
        <p:spPr>
          <a:xfrm>
            <a:off x="7406640" y="5257800"/>
            <a:ext cx="4026103" cy="36576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טיפוס וריקוד. גם שם כדאי לדעת מה הצעד הבא</a:t>
            </a:r>
            <a:endParaRPr lang="he-IL" sz="1500" dirty="0"/>
          </a:p>
        </p:txBody>
      </p:sp>
      <p:sp>
        <p:nvSpPr>
          <p:cNvPr id="17" name="Shape 13"/>
          <p:cNvSpPr/>
          <p:nvPr/>
        </p:nvSpPr>
        <p:spPr>
          <a:xfrm>
            <a:off x="758952" y="960120"/>
            <a:ext cx="6217920" cy="4654296"/>
          </a:xfrm>
          <a:prstGeom prst="rect">
            <a:avLst/>
          </a:prstGeom>
          <a:solidFill>
            <a:srgbClr val="F3EDE2"/>
          </a:solidFill>
          <a:ln w="9525">
            <a:solidFill>
              <a:srgbClr val="D8D2C6"/>
            </a:solidFill>
            <a:prstDash val="solid"/>
          </a:ln>
        </p:spPr>
      </p:sp>
      <p:sp>
        <p:nvSpPr>
          <p:cNvPr id="18" name="Text 14"/>
          <p:cNvSpPr txBox="1"/>
          <p:nvPr/>
        </p:nvSpPr>
        <p:spPr>
          <a:xfrm>
            <a:off x="987552" y="106984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tomer_gal.yaml</a:t>
            </a:r>
            <a:endParaRPr lang="en-US" sz="1000" dirty="0"/>
          </a:p>
        </p:txBody>
      </p:sp>
      <p:sp>
        <p:nvSpPr>
          <p:cNvPr id="19" name="Shape 15"/>
          <p:cNvSpPr/>
          <p:nvPr/>
        </p:nvSpPr>
        <p:spPr>
          <a:xfrm>
            <a:off x="758952" y="1344168"/>
            <a:ext cx="6217920" cy="0"/>
          </a:xfrm>
          <a:prstGeom prst="line">
            <a:avLst/>
          </a:prstGeom>
          <a:noFill/>
          <a:ln w="9525">
            <a:solidFill>
              <a:srgbClr val="D8D2C6"/>
            </a:solidFill>
            <a:prstDash val="solid"/>
          </a:ln>
        </p:spPr>
      </p:sp>
      <p:sp>
        <p:nvSpPr>
          <p:cNvPr id="20" name="Text 16"/>
          <p:cNvSpPr txBox="1"/>
          <p:nvPr/>
        </p:nvSpPr>
        <p:spPr>
          <a:xfrm>
            <a:off x="868680" y="1371600"/>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1</a:t>
            </a:r>
            <a:endParaRPr lang="en-US" sz="875" dirty="0"/>
          </a:p>
        </p:txBody>
      </p:sp>
      <p:sp>
        <p:nvSpPr>
          <p:cNvPr id="21" name="Text 17"/>
          <p:cNvSpPr txBox="1"/>
          <p:nvPr/>
        </p:nvSpPr>
        <p:spPr>
          <a:xfrm>
            <a:off x="1335024" y="1371600"/>
            <a:ext cx="5413248" cy="310896"/>
          </a:xfrm>
          <a:prstGeom prst="rect">
            <a:avLst/>
          </a:prstGeom>
          <a:noFill/>
          <a:ln/>
        </p:spPr>
        <p:txBody>
          <a:bodyPr wrap="square" lIns="0" tIns="0" rIns="0" bIns="0" rtlCol="0" anchor="ctr"/>
          <a:lstStyle/>
          <a:p>
            <a:pPr algn="l" indent="0" marL="0">
              <a:buNone/>
            </a:pPr>
            <a:r>
              <a:rPr lang="en-US" sz="1250" dirty="0">
                <a:solidFill>
                  <a:srgbClr val="5F7368"/>
                </a:solidFill>
                <a:latin typeface="JetBrains Mono" pitchFamily="34" charset="0"/>
                <a:ea typeface="JetBrains Mono" pitchFamily="34" charset="-122"/>
                <a:cs typeface="JetBrains Mono" pitchFamily="34" charset="-120"/>
              </a:rPr>
              <a:t>tomer_gal</a:t>
            </a:r>
            <a:r>
              <a:rPr lang="en-US" sz="1250" dirty="0">
                <a:solidFill>
                  <a:srgbClr val="8B8F93"/>
                </a:solidFill>
                <a:latin typeface="JetBrains Mono" pitchFamily="34" charset="0"/>
                <a:ea typeface="JetBrains Mono" pitchFamily="34" charset="-122"/>
                <a:cs typeface="JetBrains Mono" pitchFamily="34" charset="-120"/>
              </a:rPr>
              <a:t>:</a:t>
            </a:r>
            <a:endParaRPr lang="en-US" sz="1250" dirty="0"/>
          </a:p>
        </p:txBody>
      </p:sp>
      <p:sp>
        <p:nvSpPr>
          <p:cNvPr id="22" name="Text 18"/>
          <p:cNvSpPr txBox="1"/>
          <p:nvPr/>
        </p:nvSpPr>
        <p:spPr>
          <a:xfrm>
            <a:off x="868680" y="1682496"/>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2</a:t>
            </a:r>
            <a:endParaRPr lang="en-US" sz="875" dirty="0"/>
          </a:p>
        </p:txBody>
      </p:sp>
      <p:sp>
        <p:nvSpPr>
          <p:cNvPr id="23" name="Text 19"/>
          <p:cNvSpPr txBox="1"/>
          <p:nvPr/>
        </p:nvSpPr>
        <p:spPr>
          <a:xfrm>
            <a:off x="1335024" y="1682496"/>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role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Fractional CTO &amp; Tech Advisor</a:t>
            </a:r>
            <a:endParaRPr lang="en-US" sz="1250" dirty="0"/>
          </a:p>
        </p:txBody>
      </p:sp>
      <p:sp>
        <p:nvSpPr>
          <p:cNvPr id="24" name="Text 20"/>
          <p:cNvSpPr txBox="1"/>
          <p:nvPr/>
        </p:nvSpPr>
        <p:spPr>
          <a:xfrm>
            <a:off x="868680" y="1993392"/>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3</a:t>
            </a:r>
            <a:endParaRPr lang="en-US" sz="875" dirty="0"/>
          </a:p>
        </p:txBody>
      </p:sp>
      <p:sp>
        <p:nvSpPr>
          <p:cNvPr id="25" name="Text 21"/>
          <p:cNvSpPr txBox="1"/>
          <p:nvPr/>
        </p:nvSpPr>
        <p:spPr>
          <a:xfrm>
            <a:off x="1335024" y="1993392"/>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based</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Tel Aviv</a:t>
            </a:r>
            <a:endParaRPr lang="en-US" sz="1250" dirty="0"/>
          </a:p>
        </p:txBody>
      </p:sp>
      <p:sp>
        <p:nvSpPr>
          <p:cNvPr id="26" name="Text 22"/>
          <p:cNvSpPr txBox="1"/>
          <p:nvPr/>
        </p:nvSpPr>
        <p:spPr>
          <a:xfrm>
            <a:off x="868680" y="2304288"/>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4</a:t>
            </a:r>
            <a:endParaRPr lang="en-US" sz="875" dirty="0"/>
          </a:p>
        </p:txBody>
      </p:sp>
      <p:sp>
        <p:nvSpPr>
          <p:cNvPr id="27" name="Text 23"/>
          <p:cNvSpPr txBox="1"/>
          <p:nvPr/>
        </p:nvSpPr>
        <p:spPr>
          <a:xfrm>
            <a:off x="1335024" y="2304288"/>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focus</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[Architecture, AI agents, Automation]</a:t>
            </a:r>
            <a:endParaRPr lang="en-US" sz="1250" dirty="0"/>
          </a:p>
        </p:txBody>
      </p:sp>
      <p:sp>
        <p:nvSpPr>
          <p:cNvPr id="28" name="Text 24"/>
          <p:cNvSpPr txBox="1"/>
          <p:nvPr/>
        </p:nvSpPr>
        <p:spPr>
          <a:xfrm>
            <a:off x="868680" y="2615184"/>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5</a:t>
            </a:r>
            <a:endParaRPr lang="en-US" sz="875" dirty="0"/>
          </a:p>
        </p:txBody>
      </p:sp>
      <p:sp>
        <p:nvSpPr>
          <p:cNvPr id="29" name="Text 25"/>
          <p:cNvSpPr txBox="1"/>
          <p:nvPr/>
        </p:nvSpPr>
        <p:spPr>
          <a:xfrm>
            <a:off x="1335024" y="2615184"/>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before</a:t>
            </a:r>
            <a:r>
              <a:rPr lang="en-US" sz="1250" dirty="0">
                <a:solidFill>
                  <a:srgbClr val="8B8F93"/>
                </a:solidFill>
                <a:latin typeface="JetBrains Mono" pitchFamily="34" charset="0"/>
                <a:ea typeface="JetBrains Mono" pitchFamily="34" charset="-122"/>
                <a:cs typeface="JetBrains Mono" pitchFamily="34" charset="-120"/>
              </a:rPr>
              <a:t>:</a:t>
            </a:r>
            <a:endParaRPr lang="en-US" sz="1250" dirty="0"/>
          </a:p>
        </p:txBody>
      </p:sp>
      <p:sp>
        <p:nvSpPr>
          <p:cNvPr id="30" name="Text 26"/>
          <p:cNvSpPr txBox="1"/>
          <p:nvPr/>
        </p:nvSpPr>
        <p:spPr>
          <a:xfrm>
            <a:off x="868680" y="2926080"/>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6</a:t>
            </a:r>
            <a:endParaRPr lang="en-US" sz="875" dirty="0"/>
          </a:p>
        </p:txBody>
      </p:sp>
      <p:sp>
        <p:nvSpPr>
          <p:cNvPr id="31" name="Text 27"/>
          <p:cNvSpPr txBox="1"/>
          <p:nvPr/>
        </p:nvSpPr>
        <p:spPr>
          <a:xfrm>
            <a:off x="1335024" y="2926080"/>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 </a:t>
            </a:r>
            <a:r>
              <a:rPr lang="en-US" sz="1250" dirty="0">
                <a:solidFill>
                  <a:srgbClr val="5F7368"/>
                </a:solidFill>
                <a:latin typeface="JetBrains Mono" pitchFamily="34" charset="0"/>
                <a:ea typeface="JetBrains Mono" pitchFamily="34" charset="-122"/>
                <a:cs typeface="JetBrains Mono" pitchFamily="34" charset="-120"/>
              </a:rPr>
              <a:t>browser_infrastructure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authenticated sessions</a:t>
            </a:r>
            <a:endParaRPr lang="en-US" sz="1250" dirty="0"/>
          </a:p>
        </p:txBody>
      </p:sp>
      <p:sp>
        <p:nvSpPr>
          <p:cNvPr id="32" name="Text 28"/>
          <p:cNvSpPr txBox="1"/>
          <p:nvPr/>
        </p:nvSpPr>
        <p:spPr>
          <a:xfrm>
            <a:off x="868680" y="3236976"/>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7</a:t>
            </a:r>
            <a:endParaRPr lang="en-US" sz="875" dirty="0"/>
          </a:p>
        </p:txBody>
      </p:sp>
      <p:sp>
        <p:nvSpPr>
          <p:cNvPr id="33" name="Text 29"/>
          <p:cNvSpPr txBox="1"/>
          <p:nvPr/>
        </p:nvSpPr>
        <p:spPr>
          <a:xfrm>
            <a:off x="1335024" y="3236976"/>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 </a:t>
            </a:r>
            <a:r>
              <a:rPr lang="en-US" sz="1250" dirty="0">
                <a:solidFill>
                  <a:srgbClr val="5F7368"/>
                </a:solidFill>
                <a:latin typeface="JetBrains Mono" pitchFamily="34" charset="0"/>
                <a:ea typeface="JetBrains Mono" pitchFamily="34" charset="-122"/>
                <a:cs typeface="JetBrains Mono" pitchFamily="34" charset="-120"/>
              </a:rPr>
              <a:t>agent_reliability</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runtime remediation</a:t>
            </a:r>
            <a:endParaRPr lang="en-US" sz="1250" dirty="0"/>
          </a:p>
        </p:txBody>
      </p:sp>
      <p:sp>
        <p:nvSpPr>
          <p:cNvPr id="34" name="Text 30"/>
          <p:cNvSpPr txBox="1"/>
          <p:nvPr/>
        </p:nvSpPr>
        <p:spPr>
          <a:xfrm>
            <a:off x="868680" y="3547872"/>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8</a:t>
            </a:r>
            <a:endParaRPr lang="en-US" sz="875" dirty="0"/>
          </a:p>
        </p:txBody>
      </p:sp>
      <p:sp>
        <p:nvSpPr>
          <p:cNvPr id="35" name="Text 31"/>
          <p:cNvSpPr txBox="1"/>
          <p:nvPr/>
        </p:nvSpPr>
        <p:spPr>
          <a:xfrm>
            <a:off x="1335024" y="3547872"/>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stack</a:t>
            </a:r>
            <a:r>
              <a:rPr lang="en-US" sz="1250" dirty="0">
                <a:solidFill>
                  <a:srgbClr val="8B8F93"/>
                </a:solidFill>
                <a:latin typeface="JetBrains Mono" pitchFamily="34" charset="0"/>
                <a:ea typeface="JetBrains Mono" pitchFamily="34" charset="-122"/>
                <a:cs typeface="JetBrains Mono" pitchFamily="34" charset="-120"/>
              </a:rPr>
              <a:t>:</a:t>
            </a:r>
            <a:endParaRPr lang="en-US" sz="1250" dirty="0"/>
          </a:p>
        </p:txBody>
      </p:sp>
      <p:sp>
        <p:nvSpPr>
          <p:cNvPr id="36" name="Text 32"/>
          <p:cNvSpPr txBox="1"/>
          <p:nvPr/>
        </p:nvSpPr>
        <p:spPr>
          <a:xfrm>
            <a:off x="868680" y="3858768"/>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9</a:t>
            </a:r>
            <a:endParaRPr lang="en-US" sz="875" dirty="0"/>
          </a:p>
        </p:txBody>
      </p:sp>
      <p:sp>
        <p:nvSpPr>
          <p:cNvPr id="37" name="Text 33"/>
          <p:cNvSpPr txBox="1"/>
          <p:nvPr/>
        </p:nvSpPr>
        <p:spPr>
          <a:xfrm>
            <a:off x="1335024" y="3858768"/>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languages</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[TypeScript, Python, Java, Kotlin]</a:t>
            </a:r>
            <a:endParaRPr lang="en-US" sz="1250" dirty="0"/>
          </a:p>
        </p:txBody>
      </p:sp>
      <p:sp>
        <p:nvSpPr>
          <p:cNvPr id="38" name="Text 34"/>
          <p:cNvSpPr txBox="1"/>
          <p:nvPr/>
        </p:nvSpPr>
        <p:spPr>
          <a:xfrm>
            <a:off x="868680" y="4169664"/>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10</a:t>
            </a:r>
            <a:endParaRPr lang="en-US" sz="875" dirty="0"/>
          </a:p>
        </p:txBody>
      </p:sp>
      <p:sp>
        <p:nvSpPr>
          <p:cNvPr id="39" name="Text 35"/>
          <p:cNvSpPr txBox="1"/>
          <p:nvPr/>
        </p:nvSpPr>
        <p:spPr>
          <a:xfrm>
            <a:off x="1335024" y="4169664"/>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infra</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[AWS, Terraform, Kubernetes]</a:t>
            </a:r>
            <a:endParaRPr lang="en-US" sz="1250" dirty="0"/>
          </a:p>
        </p:txBody>
      </p:sp>
      <p:sp>
        <p:nvSpPr>
          <p:cNvPr id="40" name="Text 36"/>
          <p:cNvSpPr txBox="1"/>
          <p:nvPr/>
        </p:nvSpPr>
        <p:spPr>
          <a:xfrm>
            <a:off x="868680" y="4480560"/>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11</a:t>
            </a:r>
            <a:endParaRPr lang="en-US" sz="875" dirty="0"/>
          </a:p>
        </p:txBody>
      </p:sp>
      <p:sp>
        <p:nvSpPr>
          <p:cNvPr id="41" name="Text 37"/>
          <p:cNvSpPr txBox="1"/>
          <p:nvPr/>
        </p:nvSpPr>
        <p:spPr>
          <a:xfrm>
            <a:off x="1335024" y="4480560"/>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started_coding</a:t>
            </a:r>
            <a:r>
              <a:rPr lang="en-US" sz="1250" dirty="0">
                <a:solidFill>
                  <a:srgbClr val="8B8F93"/>
                </a:solidFill>
                <a:latin typeface="JetBrains Mono" pitchFamily="34" charset="0"/>
                <a:ea typeface="JetBrains Mono" pitchFamily="34" charset="-122"/>
                <a:cs typeface="JetBrains Mono" pitchFamily="34" charset="-120"/>
              </a:rPr>
              <a:t>:</a:t>
            </a:r>
            <a:endParaRPr lang="en-US" sz="1250" dirty="0"/>
          </a:p>
        </p:txBody>
      </p:sp>
      <p:sp>
        <p:nvSpPr>
          <p:cNvPr id="42" name="Text 38"/>
          <p:cNvSpPr txBox="1"/>
          <p:nvPr/>
        </p:nvSpPr>
        <p:spPr>
          <a:xfrm>
            <a:off x="868680" y="4791456"/>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12</a:t>
            </a:r>
            <a:endParaRPr lang="en-US" sz="875" dirty="0"/>
          </a:p>
        </p:txBody>
      </p:sp>
      <p:sp>
        <p:nvSpPr>
          <p:cNvPr id="43" name="Text 39"/>
          <p:cNvSpPr txBox="1"/>
          <p:nvPr/>
        </p:nvSpPr>
        <p:spPr>
          <a:xfrm>
            <a:off x="1335024" y="4791456"/>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age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12</a:t>
            </a:r>
            <a:endParaRPr lang="en-US" sz="1250" dirty="0"/>
          </a:p>
        </p:txBody>
      </p:sp>
      <p:sp>
        <p:nvSpPr>
          <p:cNvPr id="44" name="Text 40"/>
          <p:cNvSpPr txBox="1"/>
          <p:nvPr/>
        </p:nvSpPr>
        <p:spPr>
          <a:xfrm>
            <a:off x="868680" y="5102352"/>
            <a:ext cx="256032" cy="310896"/>
          </a:xfrm>
          <a:prstGeom prst="rect">
            <a:avLst/>
          </a:prstGeom>
          <a:noFill/>
          <a:ln/>
        </p:spPr>
        <p:txBody>
          <a:bodyPr wrap="square" lIns="0" tIns="0" rIns="0" bIns="0" rtlCol="0" anchor="ctr"/>
          <a:lstStyle/>
          <a:p>
            <a:pPr algn="r" indent="0" marL="0">
              <a:buNone/>
            </a:pPr>
            <a:r>
              <a:rPr lang="en-US" sz="875" dirty="0">
                <a:solidFill>
                  <a:srgbClr val="8B8F93"/>
                </a:solidFill>
                <a:latin typeface="JetBrains Mono" pitchFamily="34" charset="0"/>
                <a:ea typeface="JetBrains Mono" pitchFamily="34" charset="-122"/>
                <a:cs typeface="JetBrains Mono" pitchFamily="34" charset="-120"/>
              </a:rPr>
              <a:t>13</a:t>
            </a:r>
            <a:endParaRPr lang="en-US" sz="875" dirty="0"/>
          </a:p>
        </p:txBody>
      </p:sp>
      <p:sp>
        <p:nvSpPr>
          <p:cNvPr id="45" name="Text 41"/>
          <p:cNvSpPr txBox="1"/>
          <p:nvPr/>
        </p:nvSpPr>
        <p:spPr>
          <a:xfrm>
            <a:off x="1335024" y="5102352"/>
            <a:ext cx="5413248" cy="310896"/>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website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tomerwave.com</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3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החופשה שלנו</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8240573" y="2148840"/>
            <a:ext cx="3192170" cy="320040"/>
          </a:xfrm>
          <a:prstGeom prst="rect">
            <a:avLst/>
          </a:prstGeom>
          <a:noFill/>
          <a:ln/>
        </p:spPr>
        <p:txBody>
          <a:bodyPr wrap="square" lIns="0" tIns="0" rIns="0" bIns="0" rtlCol="0" anchor="t"/>
          <a:lstStyle/>
          <a:p>
            <a:pPr rtl="1" algn="r" indent="0" marL="0">
              <a:buNone/>
            </a:pPr>
            <a:r>
              <a:rPr lang="he-IL" altLang="en-US" sz="1500" dirty="0">
                <a:solidFill>
                  <a:srgbClr val="5F7368"/>
                </a:solidFill>
                <a:latin typeface="Instrument Sans" pitchFamily="34" charset="0"/>
                <a:ea typeface="Instrument Sans" pitchFamily="34" charset="-122"/>
                <a:cs typeface="Assistant" pitchFamily="34" charset="-120"/>
              </a:rPr>
              <a:t>משך</a:t>
            </a:r>
            <a:endParaRPr lang="he-IL" sz="1500" dirty="0"/>
          </a:p>
        </p:txBody>
      </p:sp>
      <p:sp>
        <p:nvSpPr>
          <p:cNvPr id="9" name="Text 5"/>
          <p:cNvSpPr txBox="1"/>
          <p:nvPr/>
        </p:nvSpPr>
        <p:spPr>
          <a:xfrm>
            <a:off x="8240573" y="2606040"/>
            <a:ext cx="3192170" cy="1005840"/>
          </a:xfrm>
          <a:prstGeom prst="rect">
            <a:avLst/>
          </a:prstGeom>
          <a:noFill/>
          <a:ln/>
        </p:spPr>
        <p:txBody>
          <a:bodyPr wrap="square" lIns="0" tIns="0" rIns="0" bIns="0" rtlCol="0" anchor="ctr"/>
          <a:lstStyle/>
          <a:p>
            <a:pPr rtl="1" algn="r" indent="0" marL="0">
              <a:buNone/>
            </a:pPr>
            <a:r>
              <a:rPr lang="he-IL" altLang="en-US" sz="6000" dirty="0">
                <a:solidFill>
                  <a:srgbClr val="2B3138"/>
                </a:solidFill>
                <a:latin typeface="Fraunces" pitchFamily="34" charset="0"/>
                <a:ea typeface="Fraunces" pitchFamily="34" charset="-122"/>
                <a:cs typeface="Frank Ruhl Libre" pitchFamily="34" charset="-120"/>
              </a:rPr>
              <a:t>3 לילות</a:t>
            </a:r>
            <a:endParaRPr lang="he-IL" sz="6000" dirty="0"/>
          </a:p>
        </p:txBody>
      </p:sp>
      <p:sp>
        <p:nvSpPr>
          <p:cNvPr id="10" name="Text 6"/>
          <p:cNvSpPr txBox="1"/>
          <p:nvPr/>
        </p:nvSpPr>
        <p:spPr>
          <a:xfrm>
            <a:off x="8240573" y="3749040"/>
            <a:ext cx="3192170" cy="365760"/>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אותם תאריכים בכל המלונות</a:t>
            </a:r>
            <a:endParaRPr lang="he-IL" sz="1600" dirty="0"/>
          </a:p>
        </p:txBody>
      </p:sp>
      <p:sp>
        <p:nvSpPr>
          <p:cNvPr id="11" name="Shape 7"/>
          <p:cNvSpPr/>
          <p:nvPr/>
        </p:nvSpPr>
        <p:spPr>
          <a:xfrm>
            <a:off x="7874813" y="2148840"/>
            <a:ext cx="0" cy="2103120"/>
          </a:xfrm>
          <a:prstGeom prst="line">
            <a:avLst/>
          </a:prstGeom>
          <a:noFill/>
          <a:ln w="9525">
            <a:solidFill>
              <a:srgbClr val="E4E0D6"/>
            </a:solidFill>
            <a:prstDash val="solid"/>
          </a:ln>
        </p:spPr>
      </p:sp>
      <p:sp>
        <p:nvSpPr>
          <p:cNvPr id="12" name="Text 8"/>
          <p:cNvSpPr txBox="1"/>
          <p:nvPr/>
        </p:nvSpPr>
        <p:spPr>
          <a:xfrm>
            <a:off x="4682642" y="2148840"/>
            <a:ext cx="2826410" cy="320040"/>
          </a:xfrm>
          <a:prstGeom prst="rect">
            <a:avLst/>
          </a:prstGeom>
          <a:noFill/>
          <a:ln/>
        </p:spPr>
        <p:txBody>
          <a:bodyPr wrap="square" lIns="0" tIns="0" rIns="0" bIns="0" rtlCol="0" anchor="t"/>
          <a:lstStyle/>
          <a:p>
            <a:pPr rtl="1" algn="r" indent="0" marL="0">
              <a:buNone/>
            </a:pPr>
            <a:r>
              <a:rPr lang="he-IL" altLang="en-US" sz="1500" dirty="0">
                <a:solidFill>
                  <a:srgbClr val="5F7368"/>
                </a:solidFill>
                <a:latin typeface="Instrument Sans" pitchFamily="34" charset="0"/>
                <a:ea typeface="Instrument Sans" pitchFamily="34" charset="-122"/>
                <a:cs typeface="Assistant" pitchFamily="34" charset="-120"/>
              </a:rPr>
              <a:t>תקציב</a:t>
            </a:r>
            <a:endParaRPr lang="he-IL" sz="1500" dirty="0"/>
          </a:p>
        </p:txBody>
      </p:sp>
      <p:sp>
        <p:nvSpPr>
          <p:cNvPr id="13" name="Text 9"/>
          <p:cNvSpPr txBox="1"/>
          <p:nvPr/>
        </p:nvSpPr>
        <p:spPr>
          <a:xfrm>
            <a:off x="4682642" y="2606040"/>
            <a:ext cx="2826410" cy="1005840"/>
          </a:xfrm>
          <a:prstGeom prst="rect">
            <a:avLst/>
          </a:prstGeom>
          <a:noFill/>
          <a:ln/>
        </p:spPr>
        <p:txBody>
          <a:bodyPr wrap="square" lIns="0" tIns="0" rIns="0" bIns="0" rtlCol="0" anchor="ctr"/>
          <a:lstStyle/>
          <a:p>
            <a:pPr rtl="1" algn="r" indent="0" marL="0">
              <a:buNone/>
            </a:pPr>
            <a:r>
              <a:rPr lang="he-IL" altLang="en-US" sz="6000" dirty="0">
                <a:solidFill>
                  <a:srgbClr val="2B3138"/>
                </a:solidFill>
                <a:latin typeface="Fraunces" pitchFamily="34" charset="0"/>
                <a:ea typeface="Fraunces" pitchFamily="34" charset="-122"/>
                <a:cs typeface="Frank Ruhl Libre" pitchFamily="34" charset="-120"/>
              </a:rPr>
              <a:t>€600</a:t>
            </a:r>
            <a:endParaRPr lang="he-IL" sz="6000" dirty="0"/>
          </a:p>
        </p:txBody>
      </p:sp>
      <p:sp>
        <p:nvSpPr>
          <p:cNvPr id="14" name="Text 10"/>
          <p:cNvSpPr txBox="1"/>
          <p:nvPr/>
        </p:nvSpPr>
        <p:spPr>
          <a:xfrm>
            <a:off x="4682642" y="3749040"/>
            <a:ext cx="2826410" cy="365760"/>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לכל השהייה</a:t>
            </a:r>
            <a:endParaRPr lang="he-IL" sz="1600" dirty="0"/>
          </a:p>
        </p:txBody>
      </p:sp>
      <p:sp>
        <p:nvSpPr>
          <p:cNvPr id="15" name="Shape 11"/>
          <p:cNvSpPr/>
          <p:nvPr/>
        </p:nvSpPr>
        <p:spPr>
          <a:xfrm>
            <a:off x="4316882" y="2148840"/>
            <a:ext cx="0" cy="2103120"/>
          </a:xfrm>
          <a:prstGeom prst="line">
            <a:avLst/>
          </a:prstGeom>
          <a:noFill/>
          <a:ln w="9525">
            <a:solidFill>
              <a:srgbClr val="E4E0D6"/>
            </a:solidFill>
            <a:prstDash val="solid"/>
          </a:ln>
        </p:spPr>
      </p:sp>
      <p:sp>
        <p:nvSpPr>
          <p:cNvPr id="16" name="Text 12"/>
          <p:cNvSpPr txBox="1"/>
          <p:nvPr/>
        </p:nvSpPr>
        <p:spPr>
          <a:xfrm>
            <a:off x="1124712" y="2148840"/>
            <a:ext cx="2826410" cy="320040"/>
          </a:xfrm>
          <a:prstGeom prst="rect">
            <a:avLst/>
          </a:prstGeom>
          <a:noFill/>
          <a:ln/>
        </p:spPr>
        <p:txBody>
          <a:bodyPr wrap="square" lIns="0" tIns="0" rIns="0" bIns="0" rtlCol="0" anchor="t"/>
          <a:lstStyle/>
          <a:p>
            <a:pPr rtl="1" algn="r" indent="0" marL="0">
              <a:buNone/>
            </a:pPr>
            <a:r>
              <a:rPr lang="he-IL" altLang="en-US" sz="1500" dirty="0">
                <a:solidFill>
                  <a:srgbClr val="5F7368"/>
                </a:solidFill>
                <a:latin typeface="Instrument Sans" pitchFamily="34" charset="0"/>
                <a:ea typeface="Instrument Sans" pitchFamily="34" charset="-122"/>
                <a:cs typeface="Assistant" pitchFamily="34" charset="-120"/>
              </a:rPr>
              <a:t>תנאי חובה</a:t>
            </a:r>
            <a:endParaRPr lang="he-IL" sz="1500" dirty="0"/>
          </a:p>
        </p:txBody>
      </p:sp>
      <p:sp>
        <p:nvSpPr>
          <p:cNvPr id="17" name="Text 13"/>
          <p:cNvSpPr txBox="1"/>
          <p:nvPr/>
        </p:nvSpPr>
        <p:spPr>
          <a:xfrm>
            <a:off x="1124712" y="2606040"/>
            <a:ext cx="2826410" cy="1005840"/>
          </a:xfrm>
          <a:prstGeom prst="rect">
            <a:avLst/>
          </a:prstGeom>
          <a:noFill/>
          <a:ln/>
        </p:spPr>
        <p:txBody>
          <a:bodyPr wrap="square" lIns="0" tIns="0" rIns="0" bIns="0" rtlCol="0" anchor="ctr"/>
          <a:lstStyle/>
          <a:p>
            <a:pPr rtl="1" algn="r" indent="0" marL="0">
              <a:buNone/>
            </a:pPr>
            <a:r>
              <a:rPr lang="he-IL" altLang="en-US" sz="6000" dirty="0">
                <a:solidFill>
                  <a:srgbClr val="2B3138"/>
                </a:solidFill>
                <a:latin typeface="Fraunces" pitchFamily="34" charset="0"/>
                <a:ea typeface="Fraunces" pitchFamily="34" charset="-122"/>
                <a:cs typeface="Frank Ruhl Libre" pitchFamily="34" charset="-120"/>
              </a:rPr>
              <a:t>נגישות</a:t>
            </a:r>
            <a:endParaRPr lang="he-IL" sz="6000" dirty="0"/>
          </a:p>
        </p:txBody>
      </p:sp>
      <p:sp>
        <p:nvSpPr>
          <p:cNvPr id="18" name="Text 14"/>
          <p:cNvSpPr txBox="1"/>
          <p:nvPr/>
        </p:nvSpPr>
        <p:spPr>
          <a:xfrm>
            <a:off x="1124712" y="3749040"/>
            <a:ext cx="2826410" cy="365760"/>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לא העדפה. בלי פשרות.</a:t>
            </a:r>
            <a:endParaRPr lang="he-IL" sz="1600" dirty="0"/>
          </a:p>
        </p:txBody>
      </p:sp>
      <p:sp>
        <p:nvSpPr>
          <p:cNvPr id="19" name="Shape 15"/>
          <p:cNvSpPr/>
          <p:nvPr/>
        </p:nvSpPr>
        <p:spPr>
          <a:xfrm>
            <a:off x="758952" y="4892040"/>
            <a:ext cx="10673791" cy="868680"/>
          </a:xfrm>
          <a:prstGeom prst="rect">
            <a:avLst/>
          </a:prstGeom>
          <a:solidFill>
            <a:srgbClr val="F3EDE2"/>
          </a:solidFill>
          <a:ln/>
        </p:spPr>
      </p:sp>
      <p:sp>
        <p:nvSpPr>
          <p:cNvPr id="20" name="Shape 16"/>
          <p:cNvSpPr/>
          <p:nvPr/>
        </p:nvSpPr>
        <p:spPr>
          <a:xfrm>
            <a:off x="11414455" y="4892040"/>
            <a:ext cx="0" cy="868680"/>
          </a:xfrm>
          <a:prstGeom prst="line">
            <a:avLst/>
          </a:prstGeom>
          <a:noFill/>
          <a:ln w="38100">
            <a:solidFill>
              <a:srgbClr val="8FA396"/>
            </a:solidFill>
            <a:prstDash val="solid"/>
          </a:ln>
        </p:spPr>
      </p:sp>
      <p:sp>
        <p:nvSpPr>
          <p:cNvPr id="21" name="Text 17"/>
          <p:cNvSpPr txBox="1"/>
          <p:nvPr/>
        </p:nvSpPr>
        <p:spPr>
          <a:xfrm>
            <a:off x="1078992" y="4892040"/>
            <a:ext cx="10033711" cy="868680"/>
          </a:xfrm>
          <a:prstGeom prst="rect">
            <a:avLst/>
          </a:prstGeom>
          <a:noFill/>
          <a:ln/>
        </p:spPr>
        <p:txBody>
          <a:bodyPr wrap="square" lIns="0" tIns="0" rIns="0" bIns="0" rtlCol="0" anchor="ctr"/>
          <a:lstStyle/>
          <a:p>
            <a:pPr rtl="1" algn="r" indent="0" marL="0">
              <a:buNone/>
            </a:pPr>
            <a:r>
              <a:rPr lang="he-IL" altLang="en-US" sz="2100" b="1" dirty="0">
                <a:solidFill>
                  <a:srgbClr val="5F7368"/>
                </a:solidFill>
                <a:latin typeface="Instrument Sans" pitchFamily="34" charset="0"/>
                <a:ea typeface="Instrument Sans" pitchFamily="34" charset="-122"/>
                <a:cs typeface="Assistant" pitchFamily="34" charset="-120"/>
              </a:rPr>
              <a:t>המטרה: </a:t>
            </a:r>
            <a:r>
              <a:rPr lang="he-IL" altLang="en-US" sz="2100" dirty="0">
                <a:solidFill>
                  <a:srgbClr val="2B3138"/>
                </a:solidFill>
                <a:latin typeface="Instrument Sans" pitchFamily="34" charset="0"/>
                <a:ea typeface="Instrument Sans" pitchFamily="34" charset="-122"/>
                <a:cs typeface="Assistant" pitchFamily="34" charset="-120"/>
              </a:rPr>
              <a:t>למצוא מלון מתאים ולעצור לפני התשלום.</a:t>
            </a:r>
            <a:endParaRPr lang="he-IL" sz="21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AF6EF"/>
        </a:solidFill>
      </p:bgPr>
    </p:bg>
    <p:spTree>
      <p:nvGrpSpPr>
        <p:cNvPr id="1" name=""/>
        <p:cNvGrpSpPr/>
        <p:nvPr/>
      </p:nvGrpSpPr>
      <p:grpSpPr>
        <a:xfrm>
          <a:off x="0" y="0"/>
          <a:ext cx="0" cy="0"/>
          <a:chOff x="0" y="0"/>
          <a:chExt cx="0" cy="0"/>
        </a:xfrm>
      </p:grpSpPr>
      <p:pic>
        <p:nvPicPr>
          <p:cNvPr id="3" name="Image 0" descr="/home/claude/b2/image2.jpg">    </p:cNvPr>
          <p:cNvPicPr>
            <a:picLocks noChangeAspect="1"/>
          </p:cNvPicPr>
          <p:nvPr/>
        </p:nvPicPr>
        <p:blipFill>
          <a:blip r:embed="rId1"/>
          <a:stretch>
            <a:fillRect/>
          </a:stretch>
        </p:blipFill>
        <p:spPr>
          <a:xfrm>
            <a:off x="0" y="0"/>
            <a:ext cx="12191695" cy="6858000"/>
          </a:xfrm>
          <a:prstGeom prst="rect">
            <a:avLst/>
          </a:prstGeom>
        </p:spPr>
      </p:pic>
      <p:pic>
        <p:nvPicPr>
          <p:cNvPr id="4" name="Image 1" descr="/home/claude/b2/icon.png">    </p:cNvPr>
          <p:cNvPicPr>
            <a:picLocks noChangeAspect="1"/>
          </p:cNvPicPr>
          <p:nvPr/>
        </p:nvPicPr>
        <p:blipFill>
          <a:blip r:embed="rId2"/>
          <a:stretch>
            <a:fillRect/>
          </a:stretch>
        </p:blipFill>
        <p:spPr>
          <a:xfrm>
            <a:off x="11121847" y="329184"/>
            <a:ext cx="310896" cy="310896"/>
          </a:xfrm>
          <a:prstGeom prst="rect">
            <a:avLst/>
          </a:prstGeom>
        </p:spPr>
      </p:pic>
      <p:sp>
        <p:nvSpPr>
          <p:cNvPr id="5"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6" name="Text 1"/>
          <p:cNvSpPr txBox="1"/>
          <p:nvPr/>
        </p:nvSpPr>
        <p:spPr>
          <a:xfrm>
            <a:off x="10061143" y="6336792"/>
            <a:ext cx="1371600" cy="256032"/>
          </a:xfrm>
          <a:prstGeom prst="rect">
            <a:avLst/>
          </a:prstGeom>
          <a:noFill/>
          <a:ln/>
        </p:spPr>
        <p:txBody>
          <a:bodyPr wrap="square" lIns="0" tIns="0" rIns="0" bIns="0" rtlCol="0" anchor="ctr"/>
          <a:lstStyle/>
          <a:p>
            <a:pPr algn="r" indent="0" marL="0">
              <a:buNone/>
            </a:pPr>
            <a:r>
              <a:rPr lang="en-US" sz="1000" dirty="0">
                <a:solidFill>
                  <a:srgbClr val="8B8F93"/>
                </a:solidFill>
                <a:latin typeface="Instrument Sans" pitchFamily="34" charset="0"/>
                <a:ea typeface="Instrument Sans" pitchFamily="34" charset="-122"/>
                <a:cs typeface="Assistant" pitchFamily="34" charset="-120"/>
              </a:rPr>
              <a:t>4 / 21</a:t>
            </a:r>
            <a:endParaRPr lang="en-US" sz="1000" dirty="0"/>
          </a:p>
        </p:txBody>
      </p:sp>
      <p:sp>
        <p:nvSpPr>
          <p:cNvPr id="7" name="Text 2"/>
          <p:cNvSpPr txBox="1"/>
          <p:nvPr/>
        </p:nvSpPr>
        <p:spPr>
          <a:xfrm>
            <a:off x="6583680" y="868680"/>
            <a:ext cx="4849063" cy="777240"/>
          </a:xfrm>
          <a:prstGeom prst="rect">
            <a:avLst/>
          </a:prstGeom>
          <a:noFill/>
          <a:ln/>
        </p:spPr>
        <p:txBody>
          <a:bodyPr wrap="square" lIns="0" tIns="0" rIns="0" bIns="0" rtlCol="0" anchor="ctr"/>
          <a:lstStyle/>
          <a:p>
            <a:pPr rtl="1" algn="r" indent="0" marL="0">
              <a:buNone/>
            </a:pPr>
            <a:r>
              <a:rPr lang="he-IL" altLang="en-US" sz="4000" dirty="0">
                <a:solidFill>
                  <a:srgbClr val="2B3138"/>
                </a:solidFill>
                <a:latin typeface="Fraunces" pitchFamily="34" charset="0"/>
                <a:ea typeface="Fraunces" pitchFamily="34" charset="-122"/>
                <a:cs typeface="Frank Ruhl Libre" pitchFamily="34" charset="-120"/>
              </a:rPr>
              <a:t>השליטה בטרמינל</a:t>
            </a:r>
            <a:endParaRPr lang="he-IL" sz="4000" dirty="0"/>
          </a:p>
        </p:txBody>
      </p:sp>
      <p:sp>
        <p:nvSpPr>
          <p:cNvPr id="8" name="Shape 3"/>
          <p:cNvSpPr/>
          <p:nvPr/>
        </p:nvSpPr>
        <p:spPr>
          <a:xfrm>
            <a:off x="6583680" y="1783080"/>
            <a:ext cx="4849063" cy="0"/>
          </a:xfrm>
          <a:prstGeom prst="line">
            <a:avLst/>
          </a:prstGeom>
          <a:noFill/>
          <a:ln w="9525">
            <a:solidFill>
              <a:srgbClr val="E4E0D6"/>
            </a:solidFill>
            <a:prstDash val="solid"/>
          </a:ln>
        </p:spPr>
      </p:sp>
      <p:sp>
        <p:nvSpPr>
          <p:cNvPr id="9" name="Text 4"/>
          <p:cNvSpPr txBox="1"/>
          <p:nvPr/>
        </p:nvSpPr>
        <p:spPr>
          <a:xfrm>
            <a:off x="6583680" y="2011680"/>
            <a:ext cx="4849063" cy="548640"/>
          </a:xfrm>
          <a:prstGeom prst="rect">
            <a:avLst/>
          </a:prstGeom>
          <a:noFill/>
          <a:ln/>
        </p:spPr>
        <p:txBody>
          <a:bodyPr wrap="square" lIns="0" tIns="0" rIns="0" bIns="0" rtlCol="0" anchor="t"/>
          <a:lstStyle/>
          <a:p>
            <a:pPr rtl="1" algn="r" indent="0" marL="0">
              <a:buNone/>
            </a:pPr>
            <a:r>
              <a:rPr lang="he-IL" altLang="en-US" sz="3000" dirty="0">
                <a:solidFill>
                  <a:srgbClr val="5F7368"/>
                </a:solidFill>
                <a:latin typeface="Fraunces" pitchFamily="34" charset="0"/>
                <a:ea typeface="Fraunces" pitchFamily="34" charset="-122"/>
                <a:cs typeface="Frank Ruhl Libre" pitchFamily="34" charset="-120"/>
              </a:rPr>
              <a:t>זה נראה חלק מדי?</a:t>
            </a:r>
            <a:endParaRPr lang="he-IL" sz="3000" dirty="0"/>
          </a:p>
        </p:txBody>
      </p:sp>
      <p:sp>
        <p:nvSpPr>
          <p:cNvPr id="10" name="Text 5"/>
          <p:cNvSpPr txBox="1"/>
          <p:nvPr/>
        </p:nvSpPr>
        <p:spPr>
          <a:xfrm>
            <a:off x="6583680" y="2606040"/>
            <a:ext cx="4849063" cy="365760"/>
          </a:xfrm>
          <a:prstGeom prst="rect">
            <a:avLst/>
          </a:prstGeom>
          <a:noFill/>
          <a:ln/>
        </p:spPr>
        <p:txBody>
          <a:bodyPr wrap="square" lIns="0" tIns="0" rIns="0" bIns="0" rtlCol="0" anchor="t"/>
          <a:lstStyle/>
          <a:p>
            <a:pPr rtl="1" algn="r" indent="0" marL="0">
              <a:buNone/>
            </a:pPr>
            <a:r>
              <a:rPr lang="he-IL" altLang="en-US" sz="1900" dirty="0">
                <a:solidFill>
                  <a:srgbClr val="5A6067"/>
                </a:solidFill>
                <a:latin typeface="Instrument Sans" pitchFamily="34" charset="0"/>
                <a:ea typeface="Instrument Sans" pitchFamily="34" charset="-122"/>
                <a:cs typeface="Assistant" pitchFamily="34" charset="-120"/>
              </a:rPr>
              <a:t>מה הייתם בודקים לפני שהסוכן ממשיך?</a:t>
            </a:r>
            <a:endParaRPr lang="he-IL" sz="1900" dirty="0"/>
          </a:p>
        </p:txBody>
      </p:sp>
      <p:sp>
        <p:nvSpPr>
          <p:cNvPr id="11" name="Text 6"/>
          <p:cNvSpPr txBox="1"/>
          <p:nvPr/>
        </p:nvSpPr>
        <p:spPr>
          <a:xfrm>
            <a:off x="10884103" y="3383280"/>
            <a:ext cx="548640" cy="457200"/>
          </a:xfrm>
          <a:prstGeom prst="rect">
            <a:avLst/>
          </a:prstGeom>
          <a:noFill/>
          <a:ln/>
        </p:spPr>
        <p:txBody>
          <a:bodyPr wrap="square" lIns="0" tIns="0" rIns="0" bIns="0" rtlCol="0" anchor="ctr"/>
          <a:lstStyle/>
          <a:p>
            <a:pPr algn="r" indent="0" marL="0">
              <a:buNone/>
            </a:pPr>
            <a:r>
              <a:rPr lang="en-US" sz="2000" i="1" dirty="0">
                <a:solidFill>
                  <a:srgbClr val="5F7368"/>
                </a:solidFill>
                <a:latin typeface="Fraunces" pitchFamily="34" charset="0"/>
                <a:ea typeface="Fraunces" pitchFamily="34" charset="-122"/>
                <a:cs typeface="Frank Ruhl Libre" pitchFamily="34" charset="-120"/>
              </a:rPr>
              <a:t>01</a:t>
            </a:r>
            <a:endParaRPr lang="en-US" sz="2000" dirty="0"/>
          </a:p>
        </p:txBody>
      </p:sp>
      <p:sp>
        <p:nvSpPr>
          <p:cNvPr id="12" name="Text 7"/>
          <p:cNvSpPr txBox="1"/>
          <p:nvPr/>
        </p:nvSpPr>
        <p:spPr>
          <a:xfrm>
            <a:off x="6583680" y="3383280"/>
            <a:ext cx="4117543" cy="457200"/>
          </a:xfrm>
          <a:prstGeom prst="rect">
            <a:avLst/>
          </a:prstGeom>
          <a:noFill/>
          <a:ln/>
        </p:spPr>
        <p:txBody>
          <a:bodyPr wrap="square" lIns="0" tIns="0" rIns="0" bIns="0" rtlCol="0" anchor="ctr"/>
          <a:lstStyle/>
          <a:p>
            <a:pPr rtl="1" algn="r" indent="0" marL="0">
              <a:buNone/>
            </a:pPr>
            <a:r>
              <a:rPr lang="he-IL" altLang="en-US" sz="2000" dirty="0">
                <a:solidFill>
                  <a:srgbClr val="2B3138"/>
                </a:solidFill>
                <a:latin typeface="Instrument Sans" pitchFamily="34" charset="0"/>
                <a:ea typeface="Instrument Sans" pitchFamily="34" charset="-122"/>
                <a:cs typeface="Assistant" pitchFamily="34" charset="-120"/>
              </a:rPr>
              <a:t>תוצאות חיפוש</a:t>
            </a:r>
            <a:endParaRPr lang="he-IL" sz="2000" dirty="0"/>
          </a:p>
        </p:txBody>
      </p:sp>
      <p:sp>
        <p:nvSpPr>
          <p:cNvPr id="13" name="Shape 8"/>
          <p:cNvSpPr/>
          <p:nvPr/>
        </p:nvSpPr>
        <p:spPr>
          <a:xfrm>
            <a:off x="6583680" y="3922776"/>
            <a:ext cx="4849063" cy="0"/>
          </a:xfrm>
          <a:prstGeom prst="line">
            <a:avLst/>
          </a:prstGeom>
          <a:noFill/>
          <a:ln w="9525">
            <a:solidFill>
              <a:srgbClr val="E4E0D6"/>
            </a:solidFill>
            <a:prstDash val="solid"/>
          </a:ln>
        </p:spPr>
      </p:sp>
      <p:sp>
        <p:nvSpPr>
          <p:cNvPr id="14" name="Text 9"/>
          <p:cNvSpPr txBox="1"/>
          <p:nvPr/>
        </p:nvSpPr>
        <p:spPr>
          <a:xfrm>
            <a:off x="10884103" y="4005072"/>
            <a:ext cx="548640" cy="457200"/>
          </a:xfrm>
          <a:prstGeom prst="rect">
            <a:avLst/>
          </a:prstGeom>
          <a:noFill/>
          <a:ln/>
        </p:spPr>
        <p:txBody>
          <a:bodyPr wrap="square" lIns="0" tIns="0" rIns="0" bIns="0" rtlCol="0" anchor="ctr"/>
          <a:lstStyle/>
          <a:p>
            <a:pPr algn="r" indent="0" marL="0">
              <a:buNone/>
            </a:pPr>
            <a:r>
              <a:rPr lang="en-US" sz="2000" i="1" dirty="0">
                <a:solidFill>
                  <a:srgbClr val="5F7368"/>
                </a:solidFill>
                <a:latin typeface="Fraunces" pitchFamily="34" charset="0"/>
                <a:ea typeface="Fraunces" pitchFamily="34" charset="-122"/>
                <a:cs typeface="Frank Ruhl Libre" pitchFamily="34" charset="-120"/>
              </a:rPr>
              <a:t>02</a:t>
            </a:r>
            <a:endParaRPr lang="en-US" sz="2000" dirty="0"/>
          </a:p>
        </p:txBody>
      </p:sp>
      <p:sp>
        <p:nvSpPr>
          <p:cNvPr id="15" name="Text 10"/>
          <p:cNvSpPr txBox="1"/>
          <p:nvPr/>
        </p:nvSpPr>
        <p:spPr>
          <a:xfrm>
            <a:off x="6583680" y="4005072"/>
            <a:ext cx="4117543" cy="457200"/>
          </a:xfrm>
          <a:prstGeom prst="rect">
            <a:avLst/>
          </a:prstGeom>
          <a:noFill/>
          <a:ln/>
        </p:spPr>
        <p:txBody>
          <a:bodyPr wrap="square" lIns="0" tIns="0" rIns="0" bIns="0" rtlCol="0" anchor="ctr"/>
          <a:lstStyle/>
          <a:p>
            <a:pPr rtl="1" algn="r" indent="0" marL="0">
              <a:buNone/>
            </a:pPr>
            <a:r>
              <a:rPr lang="he-IL" altLang="en-US" sz="2000" dirty="0">
                <a:solidFill>
                  <a:srgbClr val="2B3138"/>
                </a:solidFill>
                <a:latin typeface="Instrument Sans" pitchFamily="34" charset="0"/>
                <a:ea typeface="Instrument Sans" pitchFamily="34" charset="-122"/>
                <a:cs typeface="Assistant" pitchFamily="34" charset="-120"/>
              </a:rPr>
              <a:t>פתיחת מלון</a:t>
            </a:r>
            <a:endParaRPr lang="he-IL" sz="2000" dirty="0"/>
          </a:p>
        </p:txBody>
      </p:sp>
      <p:sp>
        <p:nvSpPr>
          <p:cNvPr id="16" name="Shape 11"/>
          <p:cNvSpPr/>
          <p:nvPr/>
        </p:nvSpPr>
        <p:spPr>
          <a:xfrm>
            <a:off x="6583680" y="4544568"/>
            <a:ext cx="4849063" cy="0"/>
          </a:xfrm>
          <a:prstGeom prst="line">
            <a:avLst/>
          </a:prstGeom>
          <a:noFill/>
          <a:ln w="9525">
            <a:solidFill>
              <a:srgbClr val="E4E0D6"/>
            </a:solidFill>
            <a:prstDash val="solid"/>
          </a:ln>
        </p:spPr>
      </p:sp>
      <p:sp>
        <p:nvSpPr>
          <p:cNvPr id="17" name="Text 12"/>
          <p:cNvSpPr txBox="1"/>
          <p:nvPr/>
        </p:nvSpPr>
        <p:spPr>
          <a:xfrm>
            <a:off x="10884103" y="4626864"/>
            <a:ext cx="548640" cy="457200"/>
          </a:xfrm>
          <a:prstGeom prst="rect">
            <a:avLst/>
          </a:prstGeom>
          <a:noFill/>
          <a:ln/>
        </p:spPr>
        <p:txBody>
          <a:bodyPr wrap="square" lIns="0" tIns="0" rIns="0" bIns="0" rtlCol="0" anchor="ctr"/>
          <a:lstStyle/>
          <a:p>
            <a:pPr algn="r" indent="0" marL="0">
              <a:buNone/>
            </a:pPr>
            <a:r>
              <a:rPr lang="en-US" sz="2000" i="1" dirty="0">
                <a:solidFill>
                  <a:srgbClr val="5F7368"/>
                </a:solidFill>
                <a:latin typeface="Fraunces" pitchFamily="34" charset="0"/>
                <a:ea typeface="Fraunces" pitchFamily="34" charset="-122"/>
                <a:cs typeface="Frank Ruhl Libre" pitchFamily="34" charset="-120"/>
              </a:rPr>
              <a:t>03</a:t>
            </a:r>
            <a:endParaRPr lang="en-US" sz="2000" dirty="0"/>
          </a:p>
        </p:txBody>
      </p:sp>
      <p:sp>
        <p:nvSpPr>
          <p:cNvPr id="18" name="Text 13"/>
          <p:cNvSpPr txBox="1"/>
          <p:nvPr/>
        </p:nvSpPr>
        <p:spPr>
          <a:xfrm>
            <a:off x="6583680" y="4626864"/>
            <a:ext cx="4117543" cy="457200"/>
          </a:xfrm>
          <a:prstGeom prst="rect">
            <a:avLst/>
          </a:prstGeom>
          <a:noFill/>
          <a:ln/>
        </p:spPr>
        <p:txBody>
          <a:bodyPr wrap="square" lIns="0" tIns="0" rIns="0" bIns="0" rtlCol="0" anchor="ctr"/>
          <a:lstStyle/>
          <a:p>
            <a:pPr rtl="1" algn="r" indent="0" marL="0">
              <a:buNone/>
            </a:pPr>
            <a:r>
              <a:rPr lang="he-IL" altLang="en-US" sz="2000" dirty="0">
                <a:solidFill>
                  <a:srgbClr val="2B3138"/>
                </a:solidFill>
                <a:latin typeface="Instrument Sans" pitchFamily="34" charset="0"/>
                <a:ea typeface="Instrument Sans" pitchFamily="34" charset="-122"/>
                <a:cs typeface="Assistant" pitchFamily="34" charset="-120"/>
              </a:rPr>
              <a:t>בדיקת תנאים</a:t>
            </a:r>
            <a:endParaRPr lang="he-IL" sz="2000" dirty="0"/>
          </a:p>
        </p:txBody>
      </p:sp>
      <p:sp>
        <p:nvSpPr>
          <p:cNvPr id="19" name="Text 14"/>
          <p:cNvSpPr txBox="1"/>
          <p:nvPr/>
        </p:nvSpPr>
        <p:spPr>
          <a:xfrm>
            <a:off x="6583680" y="5577840"/>
            <a:ext cx="4849063" cy="274320"/>
          </a:xfrm>
          <a:prstGeom prst="rect">
            <a:avLst/>
          </a:prstGeom>
          <a:noFill/>
          <a:ln/>
        </p:spPr>
        <p:txBody>
          <a:bodyPr wrap="square" lIns="0" tIns="0" rIns="0" bIns="0" rtlCol="0" anchor="t"/>
          <a:lstStyle/>
          <a:p>
            <a:pPr rtl="1" algn="r" indent="0" marL="0">
              <a:buNone/>
            </a:pPr>
            <a:r>
              <a:rPr lang="he-IL" altLang="en-US" sz="1200" dirty="0">
                <a:solidFill>
                  <a:srgbClr val="8B8F93"/>
                </a:solidFill>
                <a:latin typeface="Instrument Sans" pitchFamily="34" charset="0"/>
                <a:ea typeface="Instrument Sans" pitchFamily="34" charset="-122"/>
                <a:cs typeface="Assistant" pitchFamily="34" charset="-120"/>
              </a:rPr>
              <a:t>בחירות מתוסרטות. בלי קריאות מודל</a:t>
            </a:r>
            <a:endParaRPr lang="he-IL" sz="12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5">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5 / 21</a:t>
            </a:r>
            <a:endParaRPr lang="en-US" sz="1000" dirty="0"/>
          </a:p>
        </p:txBody>
      </p:sp>
      <p:pic>
        <p:nvPicPr>
          <p:cNvPr id="6" name="Image 1" descr="/home/claude/b2/image3.jpg">    </p:cNvPr>
          <p:cNvPicPr>
            <a:picLocks noChangeAspect="1"/>
          </p:cNvPicPr>
          <p:nvPr/>
        </p:nvPicPr>
        <p:blipFill>
          <a:blip r:embed="rId2"/>
          <a:stretch>
            <a:fillRect/>
          </a:stretch>
        </p:blipFill>
        <p:spPr>
          <a:xfrm>
            <a:off x="137160" y="1417320"/>
            <a:ext cx="7589520" cy="4271375"/>
          </a:xfrm>
          <a:prstGeom prst="rect">
            <a:avLst/>
          </a:prstGeom>
        </p:spPr>
      </p:pic>
      <p:sp>
        <p:nvSpPr>
          <p:cNvPr id="7" name="Text 2"/>
          <p:cNvSpPr txBox="1"/>
          <p:nvPr/>
        </p:nvSpPr>
        <p:spPr>
          <a:xfrm>
            <a:off x="8046720" y="868680"/>
            <a:ext cx="3386023" cy="777240"/>
          </a:xfrm>
          <a:prstGeom prst="rect">
            <a:avLst/>
          </a:prstGeom>
          <a:noFill/>
          <a:ln/>
        </p:spPr>
        <p:txBody>
          <a:bodyPr wrap="square" lIns="0" tIns="0" rIns="0" bIns="0" rtlCol="0" anchor="ctr"/>
          <a:lstStyle/>
          <a:p>
            <a:pPr rtl="1" algn="r" indent="0" marL="0">
              <a:buNone/>
            </a:pPr>
            <a:r>
              <a:rPr lang="he-IL" altLang="en-US" sz="4000" dirty="0">
                <a:solidFill>
                  <a:srgbClr val="2B3138"/>
                </a:solidFill>
                <a:latin typeface="Fraunces" pitchFamily="34" charset="0"/>
                <a:ea typeface="Fraunces" pitchFamily="34" charset="-122"/>
                <a:cs typeface="Frank Ruhl Libre" pitchFamily="34" charset="-120"/>
              </a:rPr>
              <a:t>בחרתי מלון!</a:t>
            </a:r>
            <a:endParaRPr lang="he-IL" sz="4000" dirty="0"/>
          </a:p>
        </p:txBody>
      </p:sp>
      <p:sp>
        <p:nvSpPr>
          <p:cNvPr id="8" name="Shape 3"/>
          <p:cNvSpPr/>
          <p:nvPr/>
        </p:nvSpPr>
        <p:spPr>
          <a:xfrm>
            <a:off x="8046720" y="1783080"/>
            <a:ext cx="3386023" cy="0"/>
          </a:xfrm>
          <a:prstGeom prst="line">
            <a:avLst/>
          </a:prstGeom>
          <a:noFill/>
          <a:ln w="9525">
            <a:solidFill>
              <a:srgbClr val="E4E0D6"/>
            </a:solidFill>
            <a:prstDash val="solid"/>
          </a:ln>
        </p:spPr>
      </p:sp>
      <p:sp>
        <p:nvSpPr>
          <p:cNvPr id="9" name="Text 4"/>
          <p:cNvSpPr txBox="1"/>
          <p:nvPr/>
        </p:nvSpPr>
        <p:spPr>
          <a:xfrm>
            <a:off x="8046720" y="1965960"/>
            <a:ext cx="3386023" cy="365760"/>
          </a:xfrm>
          <a:prstGeom prst="rect">
            <a:avLst/>
          </a:prstGeom>
          <a:noFill/>
          <a:ln/>
        </p:spPr>
        <p:txBody>
          <a:bodyPr wrap="square" lIns="0" tIns="0" rIns="0" bIns="0" rtlCol="0" anchor="t"/>
          <a:lstStyle/>
          <a:p>
            <a:pPr rtl="1" algn="r" indent="0" marL="0">
              <a:buNone/>
            </a:pPr>
            <a:r>
              <a:rPr lang="he-IL" altLang="en-US" sz="1800" dirty="0">
                <a:solidFill>
                  <a:srgbClr val="5A6067"/>
                </a:solidFill>
                <a:latin typeface="Instrument Sans" pitchFamily="34" charset="0"/>
                <a:ea typeface="Instrument Sans" pitchFamily="34" charset="-122"/>
                <a:cs typeface="Assistant" pitchFamily="34" charset="-120"/>
              </a:rPr>
              <a:t>מלון A במחיר €520. עוד לא לחצנו.</a:t>
            </a:r>
            <a:endParaRPr lang="he-IL" sz="1800" dirty="0"/>
          </a:p>
        </p:txBody>
      </p:sp>
      <p:sp>
        <p:nvSpPr>
          <p:cNvPr id="10" name="Text 5"/>
          <p:cNvSpPr txBox="1"/>
          <p:nvPr/>
        </p:nvSpPr>
        <p:spPr>
          <a:xfrm>
            <a:off x="8046720" y="2743200"/>
            <a:ext cx="3386023" cy="320040"/>
          </a:xfrm>
          <a:prstGeom prst="rect">
            <a:avLst/>
          </a:prstGeom>
          <a:noFill/>
          <a:ln/>
        </p:spPr>
        <p:txBody>
          <a:bodyPr wrap="square" lIns="0" tIns="0" rIns="0" bIns="0" rtlCol="0" anchor="t"/>
          <a:lstStyle/>
          <a:p>
            <a:pPr rtl="1" algn="r" indent="0" marL="0">
              <a:buNone/>
            </a:pPr>
            <a:r>
              <a:rPr lang="he-IL" altLang="en-US" sz="1700" dirty="0">
                <a:solidFill>
                  <a:srgbClr val="5A6067"/>
                </a:solidFill>
                <a:latin typeface="Instrument Sans" pitchFamily="34" charset="0"/>
                <a:ea typeface="Instrument Sans" pitchFamily="34" charset="-122"/>
                <a:cs typeface="Assistant" pitchFamily="34" charset="-120"/>
              </a:rPr>
              <a:t>אתם משנים את התנאים באותה ריצה:</a:t>
            </a:r>
            <a:endParaRPr lang="he-IL" sz="1700" dirty="0"/>
          </a:p>
        </p:txBody>
      </p:sp>
      <p:sp>
        <p:nvSpPr>
          <p:cNvPr id="11" name="Shape 6"/>
          <p:cNvSpPr/>
          <p:nvPr/>
        </p:nvSpPr>
        <p:spPr>
          <a:xfrm>
            <a:off x="8046720" y="3200400"/>
            <a:ext cx="3386023" cy="0"/>
          </a:xfrm>
          <a:prstGeom prst="line">
            <a:avLst/>
          </a:prstGeom>
          <a:noFill/>
          <a:ln w="9525">
            <a:solidFill>
              <a:srgbClr val="E4E0D6"/>
            </a:solidFill>
            <a:prstDash val="solid"/>
          </a:ln>
        </p:spPr>
      </p:sp>
      <p:sp>
        <p:nvSpPr>
          <p:cNvPr id="12" name="Text 7"/>
          <p:cNvSpPr txBox="1"/>
          <p:nvPr/>
        </p:nvSpPr>
        <p:spPr>
          <a:xfrm>
            <a:off x="10884103" y="3337560"/>
            <a:ext cx="548640" cy="640080"/>
          </a:xfrm>
          <a:prstGeom prst="rect">
            <a:avLst/>
          </a:prstGeom>
          <a:noFill/>
          <a:ln/>
        </p:spPr>
        <p:txBody>
          <a:bodyPr wrap="square" lIns="0" tIns="0" rIns="0" bIns="0" rtlCol="0" anchor="ctr"/>
          <a:lstStyle/>
          <a:p>
            <a:pPr algn="r" indent="0" marL="0">
              <a:buNone/>
            </a:pPr>
            <a:r>
              <a:rPr lang="en-US" sz="3600" dirty="0">
                <a:solidFill>
                  <a:srgbClr val="5F7368"/>
                </a:solidFill>
                <a:latin typeface="Fraunces" pitchFamily="34" charset="0"/>
                <a:ea typeface="Fraunces" pitchFamily="34" charset="-122"/>
                <a:cs typeface="Frank Ruhl Libre" pitchFamily="34" charset="-120"/>
              </a:rPr>
              <a:t>A</a:t>
            </a:r>
            <a:endParaRPr lang="en-US" sz="3600" dirty="0"/>
          </a:p>
        </p:txBody>
      </p:sp>
      <p:sp>
        <p:nvSpPr>
          <p:cNvPr id="13" name="Text 8"/>
          <p:cNvSpPr txBox="1"/>
          <p:nvPr/>
        </p:nvSpPr>
        <p:spPr>
          <a:xfrm>
            <a:off x="8046720" y="3337560"/>
            <a:ext cx="2654503" cy="640080"/>
          </a:xfrm>
          <a:prstGeom prst="rect">
            <a:avLst/>
          </a:prstGeom>
          <a:noFill/>
          <a:ln/>
        </p:spPr>
        <p:txBody>
          <a:bodyPr wrap="square" lIns="0" tIns="0" rIns="0" bIns="0" rtlCol="0" anchor="ctr"/>
          <a:lstStyle/>
          <a:p>
            <a:pPr rtl="1" algn="r" indent="0" marL="0">
              <a:buNone/>
            </a:pPr>
            <a:r>
              <a:rPr lang="he-IL" altLang="en-US" sz="2100" dirty="0">
                <a:solidFill>
                  <a:srgbClr val="2B3138"/>
                </a:solidFill>
                <a:latin typeface="Instrument Sans" pitchFamily="34" charset="0"/>
                <a:ea typeface="Instrument Sans" pitchFamily="34" charset="-122"/>
                <a:cs typeface="Assistant" pitchFamily="34" charset="-120"/>
              </a:rPr>
              <a:t>המלון התמלא</a:t>
            </a:r>
            <a:endParaRPr lang="he-IL" sz="2100" dirty="0"/>
          </a:p>
        </p:txBody>
      </p:sp>
      <p:sp>
        <p:nvSpPr>
          <p:cNvPr id="14" name="Shape 9"/>
          <p:cNvSpPr/>
          <p:nvPr/>
        </p:nvSpPr>
        <p:spPr>
          <a:xfrm>
            <a:off x="8046720" y="4114800"/>
            <a:ext cx="3386023" cy="0"/>
          </a:xfrm>
          <a:prstGeom prst="line">
            <a:avLst/>
          </a:prstGeom>
          <a:noFill/>
          <a:ln w="9525">
            <a:solidFill>
              <a:srgbClr val="E4E0D6"/>
            </a:solidFill>
            <a:prstDash val="solid"/>
          </a:ln>
        </p:spPr>
      </p:sp>
      <p:sp>
        <p:nvSpPr>
          <p:cNvPr id="15" name="Text 10"/>
          <p:cNvSpPr txBox="1"/>
          <p:nvPr/>
        </p:nvSpPr>
        <p:spPr>
          <a:xfrm>
            <a:off x="10884103" y="4251960"/>
            <a:ext cx="548640" cy="640080"/>
          </a:xfrm>
          <a:prstGeom prst="rect">
            <a:avLst/>
          </a:prstGeom>
          <a:noFill/>
          <a:ln/>
        </p:spPr>
        <p:txBody>
          <a:bodyPr wrap="square" lIns="0" tIns="0" rIns="0" bIns="0" rtlCol="0" anchor="ctr"/>
          <a:lstStyle/>
          <a:p>
            <a:pPr algn="r" indent="0" marL="0">
              <a:buNone/>
            </a:pPr>
            <a:r>
              <a:rPr lang="en-US" sz="3600" dirty="0">
                <a:solidFill>
                  <a:srgbClr val="5F7368"/>
                </a:solidFill>
                <a:latin typeface="Fraunces" pitchFamily="34" charset="0"/>
                <a:ea typeface="Fraunces" pitchFamily="34" charset="-122"/>
                <a:cs typeface="Frank Ruhl Libre" pitchFamily="34" charset="-120"/>
              </a:rPr>
              <a:t>B</a:t>
            </a:r>
            <a:endParaRPr lang="en-US" sz="3600" dirty="0"/>
          </a:p>
        </p:txBody>
      </p:sp>
      <p:sp>
        <p:nvSpPr>
          <p:cNvPr id="16" name="Text 11"/>
          <p:cNvSpPr txBox="1"/>
          <p:nvPr/>
        </p:nvSpPr>
        <p:spPr>
          <a:xfrm>
            <a:off x="8046720" y="4251960"/>
            <a:ext cx="2654503" cy="640080"/>
          </a:xfrm>
          <a:prstGeom prst="rect">
            <a:avLst/>
          </a:prstGeom>
          <a:noFill/>
          <a:ln/>
        </p:spPr>
        <p:txBody>
          <a:bodyPr wrap="square" lIns="0" tIns="0" rIns="0" bIns="0" rtlCol="0" anchor="ctr"/>
          <a:lstStyle/>
          <a:p>
            <a:pPr rtl="1" algn="r" indent="0" marL="0">
              <a:buNone/>
            </a:pPr>
            <a:r>
              <a:rPr lang="he-IL" altLang="en-US" sz="2100" dirty="0">
                <a:solidFill>
                  <a:srgbClr val="2B3138"/>
                </a:solidFill>
                <a:latin typeface="Instrument Sans" pitchFamily="34" charset="0"/>
                <a:ea typeface="Instrument Sans" pitchFamily="34" charset="-122"/>
                <a:cs typeface="Assistant" pitchFamily="34" charset="-120"/>
              </a:rPr>
              <a:t>התקציב ירד ל-€500</a:t>
            </a:r>
            <a:endParaRPr lang="he-IL" sz="2100" dirty="0"/>
          </a:p>
        </p:txBody>
      </p:sp>
      <p:sp>
        <p:nvSpPr>
          <p:cNvPr id="17" name="Shape 12"/>
          <p:cNvSpPr/>
          <p:nvPr/>
        </p:nvSpPr>
        <p:spPr>
          <a:xfrm>
            <a:off x="8046720" y="5029200"/>
            <a:ext cx="3386023" cy="0"/>
          </a:xfrm>
          <a:prstGeom prst="line">
            <a:avLst/>
          </a:prstGeom>
          <a:noFill/>
          <a:ln w="9525">
            <a:solidFill>
              <a:srgbClr val="E4E0D6"/>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6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מה הופך את זה לסוכן?</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758952" y="1847088"/>
            <a:ext cx="10673791" cy="365760"/>
          </a:xfrm>
          <a:prstGeom prst="rect">
            <a:avLst/>
          </a:prstGeom>
          <a:noFill/>
          <a:ln/>
        </p:spPr>
        <p:txBody>
          <a:bodyPr wrap="square" lIns="0" tIns="0" rIns="0" bIns="0" rtlCol="0" anchor="t"/>
          <a:lstStyle/>
          <a:p>
            <a:pPr rtl="1" algn="r" indent="0" marL="0">
              <a:buNone/>
            </a:pPr>
            <a:r>
              <a:rPr lang="he-IL" altLang="en-US" sz="1900" dirty="0">
                <a:solidFill>
                  <a:srgbClr val="5A6067"/>
                </a:solidFill>
                <a:latin typeface="Instrument Sans" pitchFamily="34" charset="0"/>
                <a:ea typeface="Instrument Sans" pitchFamily="34" charset="-122"/>
                <a:cs typeface="Assistant" pitchFamily="34" charset="-120"/>
              </a:rPr>
              <a:t>הסוכן בוחר את הצעד הבא לפי מה שקרה</a:t>
            </a:r>
            <a:endParaRPr lang="he-IL" sz="1900" dirty="0"/>
          </a:p>
        </p:txBody>
      </p:sp>
      <p:sp>
        <p:nvSpPr>
          <p:cNvPr id="9" name="Shape 5"/>
          <p:cNvSpPr/>
          <p:nvPr/>
        </p:nvSpPr>
        <p:spPr>
          <a:xfrm>
            <a:off x="4142232" y="2514600"/>
            <a:ext cx="2011680" cy="960120"/>
          </a:xfrm>
          <a:prstGeom prst="rect">
            <a:avLst/>
          </a:prstGeom>
          <a:solidFill>
            <a:srgbClr val="FAF6EF"/>
          </a:solidFill>
          <a:ln w="9525">
            <a:solidFill>
              <a:srgbClr val="D8D2C6"/>
            </a:solidFill>
            <a:prstDash val="solid"/>
          </a:ln>
        </p:spPr>
      </p:sp>
      <p:sp>
        <p:nvSpPr>
          <p:cNvPr id="10" name="Text 6"/>
          <p:cNvSpPr txBox="1"/>
          <p:nvPr/>
        </p:nvSpPr>
        <p:spPr>
          <a:xfrm>
            <a:off x="4370832" y="2651760"/>
            <a:ext cx="1554480" cy="411480"/>
          </a:xfrm>
          <a:prstGeom prst="rect">
            <a:avLst/>
          </a:prstGeom>
          <a:noFill/>
          <a:ln/>
        </p:spPr>
        <p:txBody>
          <a:bodyPr wrap="square" lIns="0" tIns="0" rIns="0" bIns="0" rtlCol="0" anchor="t"/>
          <a:lstStyle/>
          <a:p>
            <a:pPr rtl="1" algn="r" indent="0" marL="0">
              <a:buNone/>
            </a:pPr>
            <a:r>
              <a:rPr lang="he-IL" altLang="en-US" sz="2400" dirty="0">
                <a:solidFill>
                  <a:srgbClr val="2B3138"/>
                </a:solidFill>
                <a:latin typeface="Fraunces" pitchFamily="34" charset="0"/>
                <a:ea typeface="Fraunces" pitchFamily="34" charset="-122"/>
                <a:cs typeface="Frank Ruhl Libre" pitchFamily="34" charset="-120"/>
              </a:rPr>
              <a:t>רואה</a:t>
            </a:r>
            <a:endParaRPr lang="he-IL" sz="2400" dirty="0"/>
          </a:p>
        </p:txBody>
      </p:sp>
      <p:sp>
        <p:nvSpPr>
          <p:cNvPr id="11" name="Text 7"/>
          <p:cNvSpPr txBox="1"/>
          <p:nvPr/>
        </p:nvSpPr>
        <p:spPr>
          <a:xfrm>
            <a:off x="4370832" y="3081528"/>
            <a:ext cx="1554480" cy="274320"/>
          </a:xfrm>
          <a:prstGeom prst="rect">
            <a:avLst/>
          </a:prstGeom>
          <a:noFill/>
          <a:ln/>
        </p:spPr>
        <p:txBody>
          <a:bodyPr wrap="square" lIns="0" tIns="0" rIns="0" bIns="0" rtlCol="0" anchor="t"/>
          <a:lstStyle/>
          <a:p>
            <a:pPr rtl="1" algn="r" indent="0" marL="0">
              <a:buNone/>
            </a:pPr>
            <a:r>
              <a:rPr lang="he-IL" altLang="en-US" sz="1300" dirty="0">
                <a:solidFill>
                  <a:srgbClr val="5A6067"/>
                </a:solidFill>
                <a:latin typeface="Instrument Sans" pitchFamily="34" charset="0"/>
                <a:ea typeface="Instrument Sans" pitchFamily="34" charset="-122"/>
                <a:cs typeface="Assistant" pitchFamily="34" charset="-120"/>
              </a:rPr>
              <a:t>מה השתנה בדף?</a:t>
            </a:r>
            <a:endParaRPr lang="he-IL" sz="1300" dirty="0"/>
          </a:p>
        </p:txBody>
      </p:sp>
      <p:sp>
        <p:nvSpPr>
          <p:cNvPr id="12" name="Shape 8"/>
          <p:cNvSpPr/>
          <p:nvPr/>
        </p:nvSpPr>
        <p:spPr>
          <a:xfrm>
            <a:off x="758952" y="2514600"/>
            <a:ext cx="2011680" cy="960120"/>
          </a:xfrm>
          <a:prstGeom prst="rect">
            <a:avLst/>
          </a:prstGeom>
          <a:solidFill>
            <a:srgbClr val="F3EDE2"/>
          </a:solidFill>
          <a:ln w="15875">
            <a:solidFill>
              <a:srgbClr val="5F7368"/>
            </a:solidFill>
            <a:prstDash val="solid"/>
          </a:ln>
        </p:spPr>
      </p:sp>
      <p:sp>
        <p:nvSpPr>
          <p:cNvPr id="13" name="Text 9"/>
          <p:cNvSpPr txBox="1"/>
          <p:nvPr/>
        </p:nvSpPr>
        <p:spPr>
          <a:xfrm>
            <a:off x="987552" y="2651760"/>
            <a:ext cx="1554480" cy="411480"/>
          </a:xfrm>
          <a:prstGeom prst="rect">
            <a:avLst/>
          </a:prstGeom>
          <a:noFill/>
          <a:ln/>
        </p:spPr>
        <p:txBody>
          <a:bodyPr wrap="square" lIns="0" tIns="0" rIns="0" bIns="0" rtlCol="0" anchor="t"/>
          <a:lstStyle/>
          <a:p>
            <a:pPr rtl="1" algn="r" indent="0" marL="0">
              <a:buNone/>
            </a:pPr>
            <a:r>
              <a:rPr lang="he-IL" altLang="en-US" sz="2400" dirty="0">
                <a:solidFill>
                  <a:srgbClr val="5F7368"/>
                </a:solidFill>
                <a:latin typeface="Fraunces" pitchFamily="34" charset="0"/>
                <a:ea typeface="Fraunces" pitchFamily="34" charset="-122"/>
                <a:cs typeface="Frank Ruhl Libre" pitchFamily="34" charset="-120"/>
              </a:rPr>
              <a:t>בוחר</a:t>
            </a:r>
            <a:endParaRPr lang="he-IL" sz="2400" dirty="0"/>
          </a:p>
        </p:txBody>
      </p:sp>
      <p:sp>
        <p:nvSpPr>
          <p:cNvPr id="14" name="Text 10"/>
          <p:cNvSpPr txBox="1"/>
          <p:nvPr/>
        </p:nvSpPr>
        <p:spPr>
          <a:xfrm>
            <a:off x="987552" y="3081528"/>
            <a:ext cx="1554480" cy="274320"/>
          </a:xfrm>
          <a:prstGeom prst="rect">
            <a:avLst/>
          </a:prstGeom>
          <a:noFill/>
          <a:ln/>
        </p:spPr>
        <p:txBody>
          <a:bodyPr wrap="square" lIns="0" tIns="0" rIns="0" bIns="0" rtlCol="0" anchor="t"/>
          <a:lstStyle/>
          <a:p>
            <a:pPr rtl="1" algn="r" indent="0" marL="0">
              <a:buNone/>
            </a:pPr>
            <a:r>
              <a:rPr lang="he-IL" altLang="en-US" sz="1300" dirty="0">
                <a:solidFill>
                  <a:srgbClr val="5A6067"/>
                </a:solidFill>
                <a:latin typeface="Instrument Sans" pitchFamily="34" charset="0"/>
                <a:ea typeface="Instrument Sans" pitchFamily="34" charset="-122"/>
                <a:cs typeface="Assistant" pitchFamily="34" charset="-120"/>
              </a:rPr>
              <a:t>מה יקדם אותנו?</a:t>
            </a:r>
            <a:endParaRPr lang="he-IL" sz="1300" dirty="0"/>
          </a:p>
        </p:txBody>
      </p:sp>
      <p:sp>
        <p:nvSpPr>
          <p:cNvPr id="15" name="Shape 11"/>
          <p:cNvSpPr/>
          <p:nvPr/>
        </p:nvSpPr>
        <p:spPr>
          <a:xfrm>
            <a:off x="758952" y="4206240"/>
            <a:ext cx="2011680" cy="960120"/>
          </a:xfrm>
          <a:prstGeom prst="rect">
            <a:avLst/>
          </a:prstGeom>
          <a:solidFill>
            <a:srgbClr val="FAF6EF"/>
          </a:solidFill>
          <a:ln w="9525">
            <a:solidFill>
              <a:srgbClr val="D8D2C6"/>
            </a:solidFill>
            <a:prstDash val="solid"/>
          </a:ln>
        </p:spPr>
      </p:sp>
      <p:sp>
        <p:nvSpPr>
          <p:cNvPr id="16" name="Text 12"/>
          <p:cNvSpPr txBox="1"/>
          <p:nvPr/>
        </p:nvSpPr>
        <p:spPr>
          <a:xfrm>
            <a:off x="987552" y="4343400"/>
            <a:ext cx="1554480" cy="411480"/>
          </a:xfrm>
          <a:prstGeom prst="rect">
            <a:avLst/>
          </a:prstGeom>
          <a:noFill/>
          <a:ln/>
        </p:spPr>
        <p:txBody>
          <a:bodyPr wrap="square" lIns="0" tIns="0" rIns="0" bIns="0" rtlCol="0" anchor="t"/>
          <a:lstStyle/>
          <a:p>
            <a:pPr rtl="1" algn="r" indent="0" marL="0">
              <a:buNone/>
            </a:pPr>
            <a:r>
              <a:rPr lang="he-IL" altLang="en-US" sz="2400" dirty="0">
                <a:solidFill>
                  <a:srgbClr val="2B3138"/>
                </a:solidFill>
                <a:latin typeface="Fraunces" pitchFamily="34" charset="0"/>
                <a:ea typeface="Fraunces" pitchFamily="34" charset="-122"/>
                <a:cs typeface="Frank Ruhl Libre" pitchFamily="34" charset="-120"/>
              </a:rPr>
              <a:t>פועל</a:t>
            </a:r>
            <a:endParaRPr lang="he-IL" sz="2400" dirty="0"/>
          </a:p>
        </p:txBody>
      </p:sp>
      <p:sp>
        <p:nvSpPr>
          <p:cNvPr id="17" name="Text 13"/>
          <p:cNvSpPr txBox="1"/>
          <p:nvPr/>
        </p:nvSpPr>
        <p:spPr>
          <a:xfrm>
            <a:off x="987552" y="4773168"/>
            <a:ext cx="1554480" cy="274320"/>
          </a:xfrm>
          <a:prstGeom prst="rect">
            <a:avLst/>
          </a:prstGeom>
          <a:noFill/>
          <a:ln/>
        </p:spPr>
        <p:txBody>
          <a:bodyPr wrap="square" lIns="0" tIns="0" rIns="0" bIns="0" rtlCol="0" anchor="t"/>
          <a:lstStyle/>
          <a:p>
            <a:pPr rtl="1" algn="r" indent="0" marL="0">
              <a:buNone/>
            </a:pPr>
            <a:r>
              <a:rPr lang="he-IL" altLang="en-US" sz="1300" dirty="0">
                <a:solidFill>
                  <a:srgbClr val="5A6067"/>
                </a:solidFill>
                <a:latin typeface="Instrument Sans" pitchFamily="34" charset="0"/>
                <a:ea typeface="Instrument Sans" pitchFamily="34" charset="-122"/>
                <a:cs typeface="Assistant" pitchFamily="34" charset="-120"/>
              </a:rPr>
              <a:t>פעולה אחת</a:t>
            </a:r>
            <a:endParaRPr lang="he-IL" sz="1300" dirty="0"/>
          </a:p>
        </p:txBody>
      </p:sp>
      <p:sp>
        <p:nvSpPr>
          <p:cNvPr id="18" name="Shape 14"/>
          <p:cNvSpPr/>
          <p:nvPr/>
        </p:nvSpPr>
        <p:spPr>
          <a:xfrm>
            <a:off x="4142232" y="4206240"/>
            <a:ext cx="2011680" cy="960120"/>
          </a:xfrm>
          <a:prstGeom prst="rect">
            <a:avLst/>
          </a:prstGeom>
          <a:solidFill>
            <a:srgbClr val="FAF6EF"/>
          </a:solidFill>
          <a:ln w="9525">
            <a:solidFill>
              <a:srgbClr val="D8D2C6"/>
            </a:solidFill>
            <a:prstDash val="solid"/>
          </a:ln>
        </p:spPr>
      </p:sp>
      <p:sp>
        <p:nvSpPr>
          <p:cNvPr id="19" name="Text 15"/>
          <p:cNvSpPr txBox="1"/>
          <p:nvPr/>
        </p:nvSpPr>
        <p:spPr>
          <a:xfrm>
            <a:off x="4370832" y="4343400"/>
            <a:ext cx="1554480" cy="411480"/>
          </a:xfrm>
          <a:prstGeom prst="rect">
            <a:avLst/>
          </a:prstGeom>
          <a:noFill/>
          <a:ln/>
        </p:spPr>
        <p:txBody>
          <a:bodyPr wrap="square" lIns="0" tIns="0" rIns="0" bIns="0" rtlCol="0" anchor="t"/>
          <a:lstStyle/>
          <a:p>
            <a:pPr rtl="1" algn="r" indent="0" marL="0">
              <a:buNone/>
            </a:pPr>
            <a:r>
              <a:rPr lang="he-IL" altLang="en-US" sz="2400" dirty="0">
                <a:solidFill>
                  <a:srgbClr val="2B3138"/>
                </a:solidFill>
                <a:latin typeface="Fraunces" pitchFamily="34" charset="0"/>
                <a:ea typeface="Fraunces" pitchFamily="34" charset="-122"/>
                <a:cs typeface="Frank Ruhl Libre" pitchFamily="34" charset="-120"/>
              </a:rPr>
              <a:t>בודק</a:t>
            </a:r>
            <a:endParaRPr lang="he-IL" sz="2400" dirty="0"/>
          </a:p>
        </p:txBody>
      </p:sp>
      <p:sp>
        <p:nvSpPr>
          <p:cNvPr id="20" name="Text 16"/>
          <p:cNvSpPr txBox="1"/>
          <p:nvPr/>
        </p:nvSpPr>
        <p:spPr>
          <a:xfrm>
            <a:off x="4370832" y="4773168"/>
            <a:ext cx="1554480" cy="274320"/>
          </a:xfrm>
          <a:prstGeom prst="rect">
            <a:avLst/>
          </a:prstGeom>
          <a:noFill/>
          <a:ln/>
        </p:spPr>
        <p:txBody>
          <a:bodyPr wrap="square" lIns="0" tIns="0" rIns="0" bIns="0" rtlCol="0" anchor="t"/>
          <a:lstStyle/>
          <a:p>
            <a:pPr rtl="1" algn="r" indent="0" marL="0">
              <a:buNone/>
            </a:pPr>
            <a:r>
              <a:rPr lang="he-IL" altLang="en-US" sz="1300" dirty="0">
                <a:solidFill>
                  <a:srgbClr val="5A6067"/>
                </a:solidFill>
                <a:latin typeface="Instrument Sans" pitchFamily="34" charset="0"/>
                <a:ea typeface="Instrument Sans" pitchFamily="34" charset="-122"/>
                <a:cs typeface="Assistant" pitchFamily="34" charset="-120"/>
              </a:rPr>
              <a:t>הפעולה הצליחה?</a:t>
            </a:r>
            <a:endParaRPr lang="he-IL" sz="1300" dirty="0"/>
          </a:p>
        </p:txBody>
      </p:sp>
      <p:sp>
        <p:nvSpPr>
          <p:cNvPr id="21" name="Text 17"/>
          <p:cNvSpPr txBox="1"/>
          <p:nvPr/>
        </p:nvSpPr>
        <p:spPr>
          <a:xfrm>
            <a:off x="2770632" y="2514600"/>
            <a:ext cx="1371600" cy="96012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2" name="Text 18"/>
          <p:cNvSpPr txBox="1"/>
          <p:nvPr/>
        </p:nvSpPr>
        <p:spPr>
          <a:xfrm>
            <a:off x="758952" y="3474720"/>
            <a:ext cx="2011680" cy="73152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3" name="Text 19"/>
          <p:cNvSpPr txBox="1"/>
          <p:nvPr/>
        </p:nvSpPr>
        <p:spPr>
          <a:xfrm>
            <a:off x="2770632" y="4206240"/>
            <a:ext cx="1371600" cy="96012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4" name="Text 20"/>
          <p:cNvSpPr txBox="1"/>
          <p:nvPr/>
        </p:nvSpPr>
        <p:spPr>
          <a:xfrm>
            <a:off x="4142232" y="3474720"/>
            <a:ext cx="2011680" cy="73152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5" name="Shape 21"/>
          <p:cNvSpPr/>
          <p:nvPr/>
        </p:nvSpPr>
        <p:spPr>
          <a:xfrm>
            <a:off x="6583680" y="2468880"/>
            <a:ext cx="4849063" cy="0"/>
          </a:xfrm>
          <a:prstGeom prst="line">
            <a:avLst/>
          </a:prstGeom>
          <a:noFill/>
          <a:ln w="9525">
            <a:solidFill>
              <a:srgbClr val="E4E0D6"/>
            </a:solidFill>
            <a:prstDash val="solid"/>
          </a:ln>
        </p:spPr>
      </p:sp>
      <p:sp>
        <p:nvSpPr>
          <p:cNvPr id="26" name="Text 22"/>
          <p:cNvSpPr txBox="1"/>
          <p:nvPr/>
        </p:nvSpPr>
        <p:spPr>
          <a:xfrm>
            <a:off x="6583680" y="2596896"/>
            <a:ext cx="4849063" cy="320040"/>
          </a:xfrm>
          <a:prstGeom prst="rect">
            <a:avLst/>
          </a:prstGeom>
          <a:noFill/>
          <a:ln/>
        </p:spPr>
        <p:txBody>
          <a:bodyPr wrap="square" lIns="0" tIns="0" rIns="0" bIns="0" rtlCol="0" anchor="t"/>
          <a:lstStyle/>
          <a:p>
            <a:pPr rtl="1" algn="r" indent="0" marL="0">
              <a:buNone/>
            </a:pPr>
            <a:r>
              <a:rPr lang="he-IL" altLang="en-US" sz="1600" b="1" dirty="0">
                <a:solidFill>
                  <a:srgbClr val="2B3138"/>
                </a:solidFill>
                <a:latin typeface="Instrument Sans" pitchFamily="34" charset="0"/>
                <a:ea typeface="Instrument Sans" pitchFamily="34" charset="-122"/>
                <a:cs typeface="Assistant" pitchFamily="34" charset="-120"/>
              </a:rPr>
              <a:t>מסלול קבוע</a:t>
            </a:r>
            <a:endParaRPr lang="he-IL" sz="1600" dirty="0"/>
          </a:p>
        </p:txBody>
      </p:sp>
      <p:sp>
        <p:nvSpPr>
          <p:cNvPr id="27" name="Text 23"/>
          <p:cNvSpPr txBox="1"/>
          <p:nvPr/>
        </p:nvSpPr>
        <p:spPr>
          <a:xfrm>
            <a:off x="6583680" y="2926080"/>
            <a:ext cx="4849063" cy="41148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הקוד קובע מראש את הסדר. גם if הוא החלטה של הקוד.</a:t>
            </a:r>
            <a:endParaRPr lang="he-IL" sz="1500" dirty="0"/>
          </a:p>
        </p:txBody>
      </p:sp>
      <p:sp>
        <p:nvSpPr>
          <p:cNvPr id="28" name="Shape 24"/>
          <p:cNvSpPr/>
          <p:nvPr/>
        </p:nvSpPr>
        <p:spPr>
          <a:xfrm>
            <a:off x="6583680" y="3429000"/>
            <a:ext cx="4849063" cy="0"/>
          </a:xfrm>
          <a:prstGeom prst="line">
            <a:avLst/>
          </a:prstGeom>
          <a:noFill/>
          <a:ln w="9525">
            <a:solidFill>
              <a:srgbClr val="E4E0D6"/>
            </a:solidFill>
            <a:prstDash val="solid"/>
          </a:ln>
        </p:spPr>
      </p:sp>
      <p:sp>
        <p:nvSpPr>
          <p:cNvPr id="29" name="Text 25"/>
          <p:cNvSpPr txBox="1"/>
          <p:nvPr/>
        </p:nvSpPr>
        <p:spPr>
          <a:xfrm>
            <a:off x="6583680" y="3557016"/>
            <a:ext cx="4849063" cy="320040"/>
          </a:xfrm>
          <a:prstGeom prst="rect">
            <a:avLst/>
          </a:prstGeom>
          <a:noFill/>
          <a:ln/>
        </p:spPr>
        <p:txBody>
          <a:bodyPr wrap="square" lIns="0" tIns="0" rIns="0" bIns="0" rtlCol="0" anchor="t"/>
          <a:lstStyle/>
          <a:p>
            <a:pPr rtl="1" algn="r" indent="0" marL="0">
              <a:buNone/>
            </a:pPr>
            <a:r>
              <a:rPr lang="he-IL" altLang="en-US" sz="1600" b="1" dirty="0">
                <a:solidFill>
                  <a:srgbClr val="2B3138"/>
                </a:solidFill>
                <a:latin typeface="Instrument Sans" pitchFamily="34" charset="0"/>
                <a:ea typeface="Instrument Sans" pitchFamily="34" charset="-122"/>
                <a:cs typeface="Assistant" pitchFamily="34" charset="-120"/>
              </a:rPr>
              <a:t>לולאת סוכן</a:t>
            </a:r>
            <a:endParaRPr lang="he-IL" sz="1600" dirty="0"/>
          </a:p>
        </p:txBody>
      </p:sp>
      <p:sp>
        <p:nvSpPr>
          <p:cNvPr id="30" name="Text 26"/>
          <p:cNvSpPr txBox="1"/>
          <p:nvPr/>
        </p:nvSpPr>
        <p:spPr>
          <a:xfrm>
            <a:off x="6583680" y="3886200"/>
            <a:ext cx="4849063" cy="41148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המודל בוחר את הפעולה הבאה לפי המצב החדש.</a:t>
            </a:r>
            <a:endParaRPr lang="he-IL" sz="1500" dirty="0"/>
          </a:p>
        </p:txBody>
      </p:sp>
      <p:sp>
        <p:nvSpPr>
          <p:cNvPr id="31" name="Shape 27"/>
          <p:cNvSpPr/>
          <p:nvPr/>
        </p:nvSpPr>
        <p:spPr>
          <a:xfrm>
            <a:off x="6583680" y="4389120"/>
            <a:ext cx="4849063" cy="0"/>
          </a:xfrm>
          <a:prstGeom prst="line">
            <a:avLst/>
          </a:prstGeom>
          <a:noFill/>
          <a:ln w="9525">
            <a:solidFill>
              <a:srgbClr val="E4E0D6"/>
            </a:solidFill>
            <a:prstDash val="solid"/>
          </a:ln>
        </p:spPr>
      </p:sp>
      <p:sp>
        <p:nvSpPr>
          <p:cNvPr id="32" name="Text 28"/>
          <p:cNvSpPr txBox="1"/>
          <p:nvPr/>
        </p:nvSpPr>
        <p:spPr>
          <a:xfrm>
            <a:off x="6583680" y="4517136"/>
            <a:ext cx="4849063" cy="320040"/>
          </a:xfrm>
          <a:prstGeom prst="rect">
            <a:avLst/>
          </a:prstGeom>
          <a:noFill/>
          <a:ln/>
        </p:spPr>
        <p:txBody>
          <a:bodyPr wrap="square" lIns="0" tIns="0" rIns="0" bIns="0" rtlCol="0" anchor="t"/>
          <a:lstStyle/>
          <a:p>
            <a:pPr rtl="1" algn="r" indent="0" marL="0">
              <a:buNone/>
            </a:pPr>
            <a:r>
              <a:rPr lang="he-IL" altLang="en-US" sz="1600" b="1" dirty="0">
                <a:solidFill>
                  <a:srgbClr val="2B3138"/>
                </a:solidFill>
                <a:latin typeface="Instrument Sans" pitchFamily="34" charset="0"/>
                <a:ea typeface="Instrument Sans" pitchFamily="34" charset="-122"/>
                <a:cs typeface="Assistant" pitchFamily="34" charset="-120"/>
              </a:rPr>
              <a:t>בדמו שלנו</a:t>
            </a:r>
            <a:endParaRPr lang="he-IL" sz="1600" dirty="0"/>
          </a:p>
        </p:txBody>
      </p:sp>
      <p:sp>
        <p:nvSpPr>
          <p:cNvPr id="33" name="Text 29"/>
          <p:cNvSpPr txBox="1"/>
          <p:nvPr/>
        </p:nvSpPr>
        <p:spPr>
          <a:xfrm>
            <a:off x="6583680" y="4846320"/>
            <a:ext cx="4849063" cy="64008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רואה שמלון A מלא, בוחר לחזור לתוצאות, לוחץ ובודק שנטענו תוצאות.</a:t>
            </a:r>
            <a:endParaRPr lang="he-IL" sz="1500" dirty="0"/>
          </a:p>
        </p:txBody>
      </p:sp>
      <p:sp>
        <p:nvSpPr>
          <p:cNvPr id="34" name="Shape 30"/>
          <p:cNvSpPr/>
          <p:nvPr/>
        </p:nvSpPr>
        <p:spPr>
          <a:xfrm>
            <a:off x="758952" y="5486400"/>
            <a:ext cx="10673791" cy="685800"/>
          </a:xfrm>
          <a:prstGeom prst="rect">
            <a:avLst/>
          </a:prstGeom>
          <a:solidFill>
            <a:srgbClr val="F3EDE2"/>
          </a:solidFill>
          <a:ln/>
        </p:spPr>
      </p:sp>
      <p:sp>
        <p:nvSpPr>
          <p:cNvPr id="35" name="Shape 31"/>
          <p:cNvSpPr/>
          <p:nvPr/>
        </p:nvSpPr>
        <p:spPr>
          <a:xfrm>
            <a:off x="11414455" y="5486400"/>
            <a:ext cx="0" cy="685800"/>
          </a:xfrm>
          <a:prstGeom prst="line">
            <a:avLst/>
          </a:prstGeom>
          <a:noFill/>
          <a:ln w="38100">
            <a:solidFill>
              <a:srgbClr val="8FA396"/>
            </a:solidFill>
            <a:prstDash val="solid"/>
          </a:ln>
        </p:spPr>
      </p:sp>
      <p:sp>
        <p:nvSpPr>
          <p:cNvPr id="36" name="Text 32"/>
          <p:cNvSpPr txBox="1"/>
          <p:nvPr/>
        </p:nvSpPr>
        <p:spPr>
          <a:xfrm>
            <a:off x="1078992" y="5486400"/>
            <a:ext cx="10033711" cy="685800"/>
          </a:xfrm>
          <a:prstGeom prst="rect">
            <a:avLst/>
          </a:prstGeom>
          <a:noFill/>
          <a:ln/>
        </p:spPr>
        <p:txBody>
          <a:bodyPr wrap="square" lIns="0" tIns="0" rIns="0" bIns="0" rtlCol="0" anchor="ctr"/>
          <a:lstStyle/>
          <a:p>
            <a:pPr rtl="1" algn="r" indent="0" marL="0">
              <a:buNone/>
            </a:pPr>
            <a:r>
              <a:rPr lang="he-IL" altLang="en-US" sz="1600" b="1" dirty="0">
                <a:solidFill>
                  <a:srgbClr val="5F7368"/>
                </a:solidFill>
                <a:latin typeface="Instrument Sans" pitchFamily="34" charset="0"/>
                <a:ea typeface="Instrument Sans" pitchFamily="34" charset="-122"/>
                <a:cs typeface="Assistant" pitchFamily="34" charset="-120"/>
              </a:rPr>
              <a:t>החידוש: </a:t>
            </a:r>
            <a:r>
              <a:rPr lang="he-IL" altLang="en-US" sz="1600" dirty="0">
                <a:solidFill>
                  <a:srgbClr val="2B3138"/>
                </a:solidFill>
                <a:latin typeface="Instrument Sans" pitchFamily="34" charset="0"/>
                <a:ea typeface="Instrument Sans" pitchFamily="34" charset="-122"/>
                <a:cs typeface="Assistant" pitchFamily="34" charset="-120"/>
              </a:rPr>
              <a:t>מי בוחר את הפעולה, ולפי איזה מידע. איסוף המידע, ההרשאות והבדיקה נשארים בקוד.</a:t>
            </a:r>
            <a:endParaRPr lang="he-IL"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7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400" dirty="0">
                <a:solidFill>
                  <a:srgbClr val="2B3138"/>
                </a:solidFill>
                <a:latin typeface="Fraunces" pitchFamily="34" charset="0"/>
                <a:ea typeface="Fraunces" pitchFamily="34" charset="-122"/>
                <a:cs typeface="Frank Ruhl Libre" pitchFamily="34" charset="-120"/>
              </a:rPr>
              <a:t>כלי (Tool): פונקציה שהסוכן יכול להפעיל</a:t>
            </a:r>
            <a:endParaRPr lang="he-IL" sz="34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10884103" y="2148840"/>
            <a:ext cx="54864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01</a:t>
            </a:r>
            <a:endParaRPr lang="en-US" sz="2200" dirty="0"/>
          </a:p>
        </p:txBody>
      </p:sp>
      <p:sp>
        <p:nvSpPr>
          <p:cNvPr id="9" name="Text 5"/>
          <p:cNvSpPr txBox="1"/>
          <p:nvPr/>
        </p:nvSpPr>
        <p:spPr>
          <a:xfrm>
            <a:off x="8278063" y="2148840"/>
            <a:ext cx="2468880" cy="411480"/>
          </a:xfrm>
          <a:prstGeom prst="rect">
            <a:avLst/>
          </a:prstGeom>
          <a:noFill/>
          <a:ln/>
        </p:spPr>
        <p:txBody>
          <a:bodyPr wrap="square" lIns="0" tIns="0" rIns="0" bIns="0" rtlCol="0" anchor="ctr"/>
          <a:lstStyle/>
          <a:p>
            <a:pPr rtl="1" algn="r" indent="0" marL="0">
              <a:buNone/>
            </a:pPr>
            <a:r>
              <a:rPr lang="he-IL" altLang="en-US" sz="2000" b="1" dirty="0">
                <a:solidFill>
                  <a:srgbClr val="2B3138"/>
                </a:solidFill>
                <a:latin typeface="Instrument Sans" pitchFamily="34" charset="0"/>
                <a:ea typeface="Instrument Sans" pitchFamily="34" charset="-122"/>
                <a:cs typeface="Assistant" pitchFamily="34" charset="-120"/>
              </a:rPr>
              <a:t>המודל מבקש</a:t>
            </a:r>
            <a:endParaRPr lang="he-IL" sz="2000" dirty="0"/>
          </a:p>
        </p:txBody>
      </p:sp>
      <p:sp>
        <p:nvSpPr>
          <p:cNvPr id="10" name="Text 6"/>
          <p:cNvSpPr txBox="1"/>
          <p:nvPr/>
        </p:nvSpPr>
        <p:spPr>
          <a:xfrm>
            <a:off x="7673188" y="2697480"/>
            <a:ext cx="604876" cy="146304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11" name="Text 7"/>
          <p:cNvSpPr txBox="1"/>
          <p:nvPr/>
        </p:nvSpPr>
        <p:spPr>
          <a:xfrm>
            <a:off x="7124548" y="2148840"/>
            <a:ext cx="54864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02</a:t>
            </a:r>
            <a:endParaRPr lang="en-US" sz="2200" dirty="0"/>
          </a:p>
        </p:txBody>
      </p:sp>
      <p:sp>
        <p:nvSpPr>
          <p:cNvPr id="12" name="Text 8"/>
          <p:cNvSpPr txBox="1"/>
          <p:nvPr/>
        </p:nvSpPr>
        <p:spPr>
          <a:xfrm>
            <a:off x="4518508" y="2148840"/>
            <a:ext cx="2468880" cy="411480"/>
          </a:xfrm>
          <a:prstGeom prst="rect">
            <a:avLst/>
          </a:prstGeom>
          <a:noFill/>
          <a:ln/>
        </p:spPr>
        <p:txBody>
          <a:bodyPr wrap="square" lIns="0" tIns="0" rIns="0" bIns="0" rtlCol="0" anchor="ctr"/>
          <a:lstStyle/>
          <a:p>
            <a:pPr rtl="1" algn="r" indent="0" marL="0">
              <a:buNone/>
            </a:pPr>
            <a:r>
              <a:rPr lang="he-IL" altLang="en-US" sz="2000" b="1" dirty="0">
                <a:solidFill>
                  <a:srgbClr val="2B3138"/>
                </a:solidFill>
                <a:latin typeface="Instrument Sans" pitchFamily="34" charset="0"/>
                <a:ea typeface="Instrument Sans" pitchFamily="34" charset="-122"/>
                <a:cs typeface="Assistant" pitchFamily="34" charset="-120"/>
              </a:rPr>
              <a:t>הקוד מבצע</a:t>
            </a:r>
            <a:endParaRPr lang="he-IL" sz="2000" dirty="0"/>
          </a:p>
        </p:txBody>
      </p:sp>
      <p:sp>
        <p:nvSpPr>
          <p:cNvPr id="13" name="Text 9"/>
          <p:cNvSpPr txBox="1"/>
          <p:nvPr/>
        </p:nvSpPr>
        <p:spPr>
          <a:xfrm>
            <a:off x="3913632" y="2697480"/>
            <a:ext cx="604876" cy="146304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14" name="Text 10"/>
          <p:cNvSpPr txBox="1"/>
          <p:nvPr/>
        </p:nvSpPr>
        <p:spPr>
          <a:xfrm>
            <a:off x="3364992" y="2148840"/>
            <a:ext cx="54864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03</a:t>
            </a:r>
            <a:endParaRPr lang="en-US" sz="2200" dirty="0"/>
          </a:p>
        </p:txBody>
      </p:sp>
      <p:sp>
        <p:nvSpPr>
          <p:cNvPr id="15" name="Text 11"/>
          <p:cNvSpPr txBox="1"/>
          <p:nvPr/>
        </p:nvSpPr>
        <p:spPr>
          <a:xfrm>
            <a:off x="758952" y="2148840"/>
            <a:ext cx="2468880" cy="411480"/>
          </a:xfrm>
          <a:prstGeom prst="rect">
            <a:avLst/>
          </a:prstGeom>
          <a:noFill/>
          <a:ln/>
        </p:spPr>
        <p:txBody>
          <a:bodyPr wrap="square" lIns="0" tIns="0" rIns="0" bIns="0" rtlCol="0" anchor="ctr"/>
          <a:lstStyle/>
          <a:p>
            <a:pPr rtl="1" algn="r" indent="0" marL="0">
              <a:buNone/>
            </a:pPr>
            <a:r>
              <a:rPr lang="he-IL" altLang="en-US" sz="2000" b="1" dirty="0">
                <a:solidFill>
                  <a:srgbClr val="2B3138"/>
                </a:solidFill>
                <a:latin typeface="Instrument Sans" pitchFamily="34" charset="0"/>
                <a:ea typeface="Instrument Sans" pitchFamily="34" charset="-122"/>
                <a:cs typeface="Assistant" pitchFamily="34" charset="-120"/>
              </a:rPr>
              <a:t>חוזרת תוצאה</a:t>
            </a:r>
            <a:endParaRPr lang="he-IL" sz="2000" dirty="0"/>
          </a:p>
        </p:txBody>
      </p:sp>
      <p:sp>
        <p:nvSpPr>
          <p:cNvPr id="16" name="Shape 12"/>
          <p:cNvSpPr/>
          <p:nvPr/>
        </p:nvSpPr>
        <p:spPr>
          <a:xfrm>
            <a:off x="8278063" y="2697480"/>
            <a:ext cx="3154680" cy="1463040"/>
          </a:xfrm>
          <a:prstGeom prst="rect">
            <a:avLst/>
          </a:prstGeom>
          <a:solidFill>
            <a:srgbClr val="F3EDE2"/>
          </a:solidFill>
          <a:ln w="9525">
            <a:solidFill>
              <a:srgbClr val="D8D2C6"/>
            </a:solidFill>
            <a:prstDash val="solid"/>
          </a:ln>
        </p:spPr>
      </p:sp>
      <p:sp>
        <p:nvSpPr>
          <p:cNvPr id="17" name="Text 13"/>
          <p:cNvSpPr txBox="1"/>
          <p:nvPr/>
        </p:nvSpPr>
        <p:spPr>
          <a:xfrm>
            <a:off x="8506663" y="280720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Jev</a:t>
            </a:r>
            <a:endParaRPr lang="en-US" sz="1000" dirty="0"/>
          </a:p>
        </p:txBody>
      </p:sp>
      <p:sp>
        <p:nvSpPr>
          <p:cNvPr id="18" name="Shape 14"/>
          <p:cNvSpPr/>
          <p:nvPr/>
        </p:nvSpPr>
        <p:spPr>
          <a:xfrm>
            <a:off x="8278063" y="3081528"/>
            <a:ext cx="3154680" cy="0"/>
          </a:xfrm>
          <a:prstGeom prst="line">
            <a:avLst/>
          </a:prstGeom>
          <a:noFill/>
          <a:ln w="9525">
            <a:solidFill>
              <a:srgbClr val="D8D2C6"/>
            </a:solidFill>
            <a:prstDash val="solid"/>
          </a:ln>
        </p:spPr>
      </p:sp>
      <p:sp>
        <p:nvSpPr>
          <p:cNvPr id="19" name="Text 15"/>
          <p:cNvSpPr txBox="1"/>
          <p:nvPr/>
        </p:nvSpPr>
        <p:spPr>
          <a:xfrm>
            <a:off x="8506663" y="3108960"/>
            <a:ext cx="2697480" cy="365760"/>
          </a:xfrm>
          <a:prstGeom prst="rect">
            <a:avLst/>
          </a:prstGeom>
          <a:noFill/>
          <a:ln/>
        </p:spPr>
        <p:txBody>
          <a:bodyPr wrap="square" lIns="0" tIns="0" rIns="0" bIns="0" rtlCol="0" anchor="ctr"/>
          <a:lstStyle/>
          <a:p>
            <a:pPr algn="l" indent="0" marL="0">
              <a:buNone/>
            </a:pPr>
            <a:r>
              <a:rPr lang="en-US" sz="1300" dirty="0">
                <a:solidFill>
                  <a:srgbClr val="5F7368"/>
                </a:solidFill>
                <a:latin typeface="JetBrains Mono" pitchFamily="34" charset="0"/>
                <a:ea typeface="JetBrains Mono" pitchFamily="34" charset="-122"/>
                <a:cs typeface="JetBrains Mono" pitchFamily="34" charset="-120"/>
              </a:rPr>
              <a:t>choice</a:t>
            </a:r>
            <a:r>
              <a:rPr lang="en-US" sz="1300" dirty="0">
                <a:solidFill>
                  <a:srgbClr val="8B8F93"/>
                </a:solidFill>
                <a:latin typeface="JetBrains Mono" pitchFamily="34" charset="0"/>
                <a:ea typeface="JetBrains Mono" pitchFamily="34" charset="-122"/>
                <a:cs typeface="JetBrains Mono" pitchFamily="34" charset="-120"/>
              </a:rPr>
              <a:t>:</a:t>
            </a:r>
            <a:r>
              <a:rPr lang="en-US" sz="1300" dirty="0">
                <a:solidFill>
                  <a:srgbClr val="2B3138"/>
                </a:solidFill>
                <a:latin typeface="JetBrains Mono" pitchFamily="34" charset="0"/>
                <a:ea typeface="JetBrains Mono" pitchFamily="34" charset="-122"/>
                <a:cs typeface="JetBrains Mono" pitchFamily="34" charset="-120"/>
              </a:rPr>
              <a:t> open_hotel_C</a:t>
            </a:r>
            <a:endParaRPr lang="en-US" sz="1300" dirty="0"/>
          </a:p>
        </p:txBody>
      </p:sp>
      <p:sp>
        <p:nvSpPr>
          <p:cNvPr id="20" name="Shape 16"/>
          <p:cNvSpPr/>
          <p:nvPr/>
        </p:nvSpPr>
        <p:spPr>
          <a:xfrm>
            <a:off x="4518508" y="2697480"/>
            <a:ext cx="3154680" cy="1463040"/>
          </a:xfrm>
          <a:prstGeom prst="rect">
            <a:avLst/>
          </a:prstGeom>
          <a:solidFill>
            <a:srgbClr val="FAF6EF"/>
          </a:solidFill>
          <a:ln w="9525">
            <a:solidFill>
              <a:srgbClr val="D8D2C6"/>
            </a:solidFill>
            <a:prstDash val="solid"/>
          </a:ln>
        </p:spPr>
      </p:sp>
      <p:sp>
        <p:nvSpPr>
          <p:cNvPr id="21" name="Text 17"/>
          <p:cNvSpPr txBox="1"/>
          <p:nvPr/>
        </p:nvSpPr>
        <p:spPr>
          <a:xfrm>
            <a:off x="4792828" y="2880360"/>
            <a:ext cx="2606040" cy="347472"/>
          </a:xfrm>
          <a:prstGeom prst="rect">
            <a:avLst/>
          </a:prstGeom>
          <a:noFill/>
          <a:ln/>
        </p:spPr>
        <p:txBody>
          <a:bodyPr wrap="square" lIns="0" tIns="0" rIns="0" bIns="0" rtlCol="0" anchor="ctr"/>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מאתר את הכפתור בדף</a:t>
            </a:r>
            <a:endParaRPr lang="he-IL" sz="1500" dirty="0"/>
          </a:p>
        </p:txBody>
      </p:sp>
      <p:sp>
        <p:nvSpPr>
          <p:cNvPr id="22" name="Text 18"/>
          <p:cNvSpPr txBox="1"/>
          <p:nvPr/>
        </p:nvSpPr>
        <p:spPr>
          <a:xfrm>
            <a:off x="4792828" y="3264408"/>
            <a:ext cx="2606040" cy="347472"/>
          </a:xfrm>
          <a:prstGeom prst="rect">
            <a:avLst/>
          </a:prstGeom>
          <a:noFill/>
          <a:ln/>
        </p:spPr>
        <p:txBody>
          <a:bodyPr wrap="square" lIns="0" tIns="0" rIns="0" bIns="0" rtlCol="0" anchor="ctr"/>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לוחץ בעזרת Playwright</a:t>
            </a:r>
            <a:endParaRPr lang="he-IL" sz="1500" dirty="0"/>
          </a:p>
        </p:txBody>
      </p:sp>
      <p:sp>
        <p:nvSpPr>
          <p:cNvPr id="23" name="Text 19"/>
          <p:cNvSpPr txBox="1"/>
          <p:nvPr/>
        </p:nvSpPr>
        <p:spPr>
          <a:xfrm>
            <a:off x="4792828" y="3648456"/>
            <a:ext cx="2606040" cy="347472"/>
          </a:xfrm>
          <a:prstGeom prst="rect">
            <a:avLst/>
          </a:prstGeom>
          <a:noFill/>
          <a:ln/>
        </p:spPr>
        <p:txBody>
          <a:bodyPr wrap="square" lIns="0" tIns="0" rIns="0" bIns="0" rtlCol="0" anchor="ctr"/>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קורא את הדף החדש</a:t>
            </a:r>
            <a:endParaRPr lang="he-IL" sz="1500" dirty="0"/>
          </a:p>
        </p:txBody>
      </p:sp>
      <p:sp>
        <p:nvSpPr>
          <p:cNvPr id="24" name="Shape 20"/>
          <p:cNvSpPr/>
          <p:nvPr/>
        </p:nvSpPr>
        <p:spPr>
          <a:xfrm>
            <a:off x="758952" y="2697480"/>
            <a:ext cx="3154680" cy="1463040"/>
          </a:xfrm>
          <a:prstGeom prst="rect">
            <a:avLst/>
          </a:prstGeom>
          <a:solidFill>
            <a:srgbClr val="F3EDE2"/>
          </a:solidFill>
          <a:ln w="9525">
            <a:solidFill>
              <a:srgbClr val="D8D2C6"/>
            </a:solidFill>
            <a:prstDash val="solid"/>
          </a:ln>
        </p:spPr>
      </p:sp>
      <p:sp>
        <p:nvSpPr>
          <p:cNvPr id="25" name="Text 21"/>
          <p:cNvSpPr txBox="1"/>
          <p:nvPr/>
        </p:nvSpPr>
        <p:spPr>
          <a:xfrm>
            <a:off x="987552" y="280720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YAML</a:t>
            </a:r>
            <a:endParaRPr lang="en-US" sz="1000" dirty="0"/>
          </a:p>
        </p:txBody>
      </p:sp>
      <p:sp>
        <p:nvSpPr>
          <p:cNvPr id="26" name="Shape 22"/>
          <p:cNvSpPr/>
          <p:nvPr/>
        </p:nvSpPr>
        <p:spPr>
          <a:xfrm>
            <a:off x="758952" y="3081528"/>
            <a:ext cx="3154680" cy="0"/>
          </a:xfrm>
          <a:prstGeom prst="line">
            <a:avLst/>
          </a:prstGeom>
          <a:noFill/>
          <a:ln w="9525">
            <a:solidFill>
              <a:srgbClr val="D8D2C6"/>
            </a:solidFill>
            <a:prstDash val="solid"/>
          </a:ln>
        </p:spPr>
      </p:sp>
      <p:sp>
        <p:nvSpPr>
          <p:cNvPr id="27" name="Text 23"/>
          <p:cNvSpPr txBox="1"/>
          <p:nvPr/>
        </p:nvSpPr>
        <p:spPr>
          <a:xfrm>
            <a:off x="987552" y="3108960"/>
            <a:ext cx="2697480" cy="292608"/>
          </a:xfrm>
          <a:prstGeom prst="rect">
            <a:avLst/>
          </a:prstGeom>
          <a:noFill/>
          <a:ln/>
        </p:spPr>
        <p:txBody>
          <a:bodyPr wrap="square" lIns="0" tIns="0" rIns="0" bIns="0" rtlCol="0" anchor="ctr"/>
          <a:lstStyle/>
          <a:p>
            <a:pPr algn="l" indent="0" marL="0">
              <a:buNone/>
            </a:pPr>
            <a:r>
              <a:rPr lang="en-US" sz="1300" dirty="0">
                <a:solidFill>
                  <a:srgbClr val="5F7368"/>
                </a:solidFill>
                <a:latin typeface="JetBrains Mono" pitchFamily="34" charset="0"/>
                <a:ea typeface="JetBrains Mono" pitchFamily="34" charset="-122"/>
                <a:cs typeface="JetBrains Mono" pitchFamily="34" charset="-120"/>
              </a:rPr>
              <a:t>hotel_C</a:t>
            </a:r>
            <a:r>
              <a:rPr lang="en-US" sz="1300" dirty="0">
                <a:solidFill>
                  <a:srgbClr val="8B8F93"/>
                </a:solidFill>
                <a:latin typeface="JetBrains Mono" pitchFamily="34" charset="0"/>
                <a:ea typeface="JetBrains Mono" pitchFamily="34" charset="-122"/>
                <a:cs typeface="JetBrains Mono" pitchFamily="34" charset="-120"/>
              </a:rPr>
              <a:t>:</a:t>
            </a:r>
            <a:endParaRPr lang="en-US" sz="1300" dirty="0"/>
          </a:p>
        </p:txBody>
      </p:sp>
      <p:sp>
        <p:nvSpPr>
          <p:cNvPr id="28" name="Text 24"/>
          <p:cNvSpPr txBox="1"/>
          <p:nvPr/>
        </p:nvSpPr>
        <p:spPr>
          <a:xfrm>
            <a:off x="987552" y="3401568"/>
            <a:ext cx="2697480" cy="292608"/>
          </a:xfrm>
          <a:prstGeom prst="rect">
            <a:avLst/>
          </a:prstGeom>
          <a:noFill/>
          <a:ln/>
        </p:spPr>
        <p:txBody>
          <a:bodyPr wrap="square" lIns="0" tIns="0" rIns="0" bIns="0" rtlCol="0" anchor="ctr"/>
          <a:lstStyle/>
          <a:p>
            <a:pPr algn="l" indent="0" marL="0">
              <a:buNone/>
            </a:pPr>
            <a:r>
              <a:rPr lang="en-US" sz="1300" dirty="0">
                <a:solidFill>
                  <a:srgbClr val="8B8F93"/>
                </a:solidFill>
                <a:latin typeface="JetBrains Mono" pitchFamily="34" charset="0"/>
                <a:ea typeface="JetBrains Mono" pitchFamily="34" charset="-122"/>
                <a:cs typeface="JetBrains Mono" pitchFamily="34" charset="-120"/>
              </a:rPr>
              <a:t>  </a:t>
            </a:r>
            <a:r>
              <a:rPr lang="en-US" sz="1300" dirty="0">
                <a:solidFill>
                  <a:srgbClr val="5F7368"/>
                </a:solidFill>
                <a:latin typeface="JetBrains Mono" pitchFamily="34" charset="0"/>
                <a:ea typeface="JetBrains Mono" pitchFamily="34" charset="-122"/>
                <a:cs typeface="JetBrains Mono" pitchFamily="34" charset="-120"/>
              </a:rPr>
              <a:t>accessible</a:t>
            </a:r>
            <a:r>
              <a:rPr lang="en-US" sz="1300" dirty="0">
                <a:solidFill>
                  <a:srgbClr val="8B8F93"/>
                </a:solidFill>
                <a:latin typeface="JetBrains Mono" pitchFamily="34" charset="0"/>
                <a:ea typeface="JetBrains Mono" pitchFamily="34" charset="-122"/>
                <a:cs typeface="JetBrains Mono" pitchFamily="34" charset="-120"/>
              </a:rPr>
              <a:t>:</a:t>
            </a:r>
            <a:r>
              <a:rPr lang="en-US" sz="1300" dirty="0">
                <a:solidFill>
                  <a:srgbClr val="2B3138"/>
                </a:solidFill>
                <a:latin typeface="JetBrains Mono" pitchFamily="34" charset="0"/>
                <a:ea typeface="JetBrains Mono" pitchFamily="34" charset="-122"/>
                <a:cs typeface="JetBrains Mono" pitchFamily="34" charset="-120"/>
              </a:rPr>
              <a:t> true</a:t>
            </a:r>
            <a:endParaRPr lang="en-US" sz="1300" dirty="0"/>
          </a:p>
        </p:txBody>
      </p:sp>
      <p:sp>
        <p:nvSpPr>
          <p:cNvPr id="29" name="Text 25"/>
          <p:cNvSpPr txBox="1"/>
          <p:nvPr/>
        </p:nvSpPr>
        <p:spPr>
          <a:xfrm>
            <a:off x="987552" y="3694176"/>
            <a:ext cx="2697480" cy="292608"/>
          </a:xfrm>
          <a:prstGeom prst="rect">
            <a:avLst/>
          </a:prstGeom>
          <a:noFill/>
          <a:ln/>
        </p:spPr>
        <p:txBody>
          <a:bodyPr wrap="square" lIns="0" tIns="0" rIns="0" bIns="0" rtlCol="0" anchor="ctr"/>
          <a:lstStyle/>
          <a:p>
            <a:pPr algn="l" indent="0" marL="0">
              <a:buNone/>
            </a:pPr>
            <a:r>
              <a:rPr lang="en-US" sz="1300" dirty="0">
                <a:solidFill>
                  <a:srgbClr val="8B8F93"/>
                </a:solidFill>
                <a:latin typeface="JetBrains Mono" pitchFamily="34" charset="0"/>
                <a:ea typeface="JetBrains Mono" pitchFamily="34" charset="-122"/>
                <a:cs typeface="JetBrains Mono" pitchFamily="34" charset="-120"/>
              </a:rPr>
              <a:t>  </a:t>
            </a:r>
            <a:r>
              <a:rPr lang="en-US" sz="1300" dirty="0">
                <a:solidFill>
                  <a:srgbClr val="5F7368"/>
                </a:solidFill>
                <a:latin typeface="JetBrains Mono" pitchFamily="34" charset="0"/>
                <a:ea typeface="JetBrains Mono" pitchFamily="34" charset="-122"/>
                <a:cs typeface="JetBrains Mono" pitchFamily="34" charset="-120"/>
              </a:rPr>
              <a:t>total_eur</a:t>
            </a:r>
            <a:r>
              <a:rPr lang="en-US" sz="1300" dirty="0">
                <a:solidFill>
                  <a:srgbClr val="8B8F93"/>
                </a:solidFill>
                <a:latin typeface="JetBrains Mono" pitchFamily="34" charset="0"/>
                <a:ea typeface="JetBrains Mono" pitchFamily="34" charset="-122"/>
                <a:cs typeface="JetBrains Mono" pitchFamily="34" charset="-120"/>
              </a:rPr>
              <a:t>:</a:t>
            </a:r>
            <a:r>
              <a:rPr lang="en-US" sz="1300" dirty="0">
                <a:solidFill>
                  <a:srgbClr val="2B3138"/>
                </a:solidFill>
                <a:latin typeface="JetBrains Mono" pitchFamily="34" charset="0"/>
                <a:ea typeface="JetBrains Mono" pitchFamily="34" charset="-122"/>
                <a:cs typeface="JetBrains Mono" pitchFamily="34" charset="-120"/>
              </a:rPr>
              <a:t> 590</a:t>
            </a:r>
            <a:endParaRPr lang="en-US" sz="1300" dirty="0"/>
          </a:p>
        </p:txBody>
      </p:sp>
      <p:sp>
        <p:nvSpPr>
          <p:cNvPr id="30" name="Shape 26"/>
          <p:cNvSpPr/>
          <p:nvPr/>
        </p:nvSpPr>
        <p:spPr>
          <a:xfrm>
            <a:off x="758952" y="4206240"/>
            <a:ext cx="10673791" cy="685800"/>
          </a:xfrm>
          <a:prstGeom prst="rect">
            <a:avLst/>
          </a:prstGeom>
          <a:solidFill>
            <a:srgbClr val="F3EDE2"/>
          </a:solidFill>
          <a:ln/>
        </p:spPr>
      </p:sp>
      <p:sp>
        <p:nvSpPr>
          <p:cNvPr id="31" name="Shape 27"/>
          <p:cNvSpPr/>
          <p:nvPr/>
        </p:nvSpPr>
        <p:spPr>
          <a:xfrm>
            <a:off x="11414455" y="4206240"/>
            <a:ext cx="0" cy="685800"/>
          </a:xfrm>
          <a:prstGeom prst="line">
            <a:avLst/>
          </a:prstGeom>
          <a:noFill/>
          <a:ln w="38100">
            <a:solidFill>
              <a:srgbClr val="8FA396"/>
            </a:solidFill>
            <a:prstDash val="solid"/>
          </a:ln>
        </p:spPr>
      </p:sp>
      <p:sp>
        <p:nvSpPr>
          <p:cNvPr id="32" name="Text 28"/>
          <p:cNvSpPr txBox="1"/>
          <p:nvPr/>
        </p:nvSpPr>
        <p:spPr>
          <a:xfrm>
            <a:off x="1078992" y="4206240"/>
            <a:ext cx="10033711" cy="685800"/>
          </a:xfrm>
          <a:prstGeom prst="rect">
            <a:avLst/>
          </a:prstGeom>
          <a:noFill/>
          <a:ln/>
        </p:spPr>
        <p:txBody>
          <a:bodyPr wrap="square" lIns="0" tIns="0" rIns="0" bIns="0" rtlCol="0" anchor="ctr"/>
          <a:lstStyle/>
          <a:p>
            <a:pPr rtl="1" algn="r" indent="0" marL="0">
              <a:buNone/>
            </a:pPr>
            <a:r>
              <a:rPr lang="he-IL" altLang="en-US" sz="1500" b="1" dirty="0">
                <a:solidFill>
                  <a:srgbClr val="5F7368"/>
                </a:solidFill>
                <a:latin typeface="Instrument Sans" pitchFamily="34" charset="0"/>
                <a:ea typeface="Instrument Sans" pitchFamily="34" charset="-122"/>
                <a:cs typeface="Assistant" pitchFamily="34" charset="-120"/>
              </a:rPr>
              <a:t>Playwright: </a:t>
            </a:r>
            <a:r>
              <a:rPr lang="he-IL" altLang="en-US" sz="1500" dirty="0">
                <a:solidFill>
                  <a:srgbClr val="2B3138"/>
                </a:solidFill>
                <a:latin typeface="Instrument Sans" pitchFamily="34" charset="0"/>
                <a:ea typeface="Instrument Sans" pitchFamily="34" charset="-122"/>
                <a:cs typeface="Assistant" pitchFamily="34" charset="-120"/>
              </a:rPr>
              <a:t>ספרייה שמאפשרת לקוד לשלוט בדפדפן: ללחוץ, להקליד ולקרוא את הדף.</a:t>
            </a:r>
            <a:endParaRPr lang="he-IL" sz="1500" dirty="0"/>
          </a:p>
        </p:txBody>
      </p:sp>
      <p:sp>
        <p:nvSpPr>
          <p:cNvPr id="33" name="Text 29"/>
          <p:cNvSpPr txBox="1"/>
          <p:nvPr/>
        </p:nvSpPr>
        <p:spPr>
          <a:xfrm>
            <a:off x="758952" y="5212080"/>
            <a:ext cx="10673791" cy="594360"/>
          </a:xfrm>
          <a:prstGeom prst="rect">
            <a:avLst/>
          </a:prstGeom>
          <a:noFill/>
          <a:ln/>
        </p:spPr>
        <p:txBody>
          <a:bodyPr wrap="square" lIns="0" tIns="0" rIns="0" bIns="0" rtlCol="0" anchor="ctr"/>
          <a:lstStyle/>
          <a:p>
            <a:pPr rtl="1" algn="r" indent="0" marL="0">
              <a:buNone/>
            </a:pPr>
            <a:r>
              <a:rPr lang="he-IL" altLang="en-US" sz="2800" dirty="0">
                <a:solidFill>
                  <a:srgbClr val="2B3138"/>
                </a:solidFill>
                <a:latin typeface="Fraunces" pitchFamily="34" charset="0"/>
                <a:ea typeface="Fraunces" pitchFamily="34" charset="-122"/>
                <a:cs typeface="Frank Ruhl Libre" pitchFamily="34" charset="-120"/>
              </a:rPr>
              <a:t>המודל מבקש. הקוד מבצע ומחזיר תוצאה.</a:t>
            </a:r>
            <a:endParaRPr lang="he-IL" sz="2800" dirty="0"/>
          </a:p>
        </p:txBody>
      </p:sp>
      <p:sp>
        <p:nvSpPr>
          <p:cNvPr id="34" name="Text 30"/>
          <p:cNvSpPr txBox="1"/>
          <p:nvPr/>
        </p:nvSpPr>
        <p:spPr>
          <a:xfrm>
            <a:off x="6860743" y="6336792"/>
            <a:ext cx="4572000" cy="256032"/>
          </a:xfrm>
          <a:prstGeom prst="rect">
            <a:avLst/>
          </a:prstGeom>
          <a:noFill/>
          <a:ln/>
        </p:spPr>
        <p:txBody>
          <a:bodyPr wrap="square" lIns="0" tIns="0" rIns="0" bIns="0" rtlCol="0" anchor="ctr"/>
          <a:lstStyle/>
          <a:p>
            <a:pPr rtl="1" algn="r" indent="0" marL="0">
              <a:buNone/>
            </a:pPr>
            <a:r>
              <a:rPr lang="he-IL" altLang="en-US" sz="1100" dirty="0">
                <a:solidFill>
                  <a:srgbClr val="8B8F93"/>
                </a:solidFill>
                <a:latin typeface="Instrument Sans" pitchFamily="34" charset="0"/>
                <a:ea typeface="Instrument Sans" pitchFamily="34" charset="-122"/>
                <a:cs typeface="Assistant" pitchFamily="34" charset="-120"/>
              </a:rPr>
              <a:t>מתכנן</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Jev</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b="1" dirty="0">
                <a:solidFill>
                  <a:srgbClr val="5F7368"/>
                </a:solidFill>
                <a:latin typeface="Instrument Sans" pitchFamily="34" charset="0"/>
                <a:ea typeface="Instrument Sans" pitchFamily="34" charset="-122"/>
                <a:cs typeface="Assistant" pitchFamily="34" charset="-120"/>
              </a:rPr>
              <a:t>הקוד שלנו</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דפדפן</a:t>
            </a:r>
            <a:endParaRPr lang="he-IL" sz="11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8">
    <p:bg>
      <p:bgPr>
        <a:solidFill>
          <a:srgbClr val="FAF6EF"/>
        </a:solidFill>
      </p:bgPr>
    </p:bg>
    <p:spTree>
      <p:nvGrpSpPr>
        <p:cNvPr id="1" name=""/>
        <p:cNvGrpSpPr/>
        <p:nvPr/>
      </p:nvGrpSpPr>
      <p:grpSpPr>
        <a:xfrm>
          <a:off x="0" y="0"/>
          <a:ext cx="0" cy="0"/>
          <a:chOff x="0" y="0"/>
          <a:chExt cx="0" cy="0"/>
        </a:xfrm>
      </p:grpSpPr>
      <p:pic>
        <p:nvPicPr>
          <p:cNvPr id="3" name="Image 0" descr="/home/claude/b2/image4.jpg">    </p:cNvPr>
          <p:cNvPicPr>
            <a:picLocks noChangeAspect="1"/>
          </p:cNvPicPr>
          <p:nvPr/>
        </p:nvPicPr>
        <p:blipFill>
          <a:blip r:embed="rId1"/>
          <a:stretch>
            <a:fillRect/>
          </a:stretch>
        </p:blipFill>
        <p:spPr>
          <a:xfrm>
            <a:off x="0" y="0"/>
            <a:ext cx="12191695" cy="6858000"/>
          </a:xfrm>
          <a:prstGeom prst="rect">
            <a:avLst/>
          </a:prstGeom>
        </p:spPr>
      </p:pic>
      <p:pic>
        <p:nvPicPr>
          <p:cNvPr id="4" name="Image 1" descr="/home/claude/b2/icon.png">    </p:cNvPr>
          <p:cNvPicPr>
            <a:picLocks noChangeAspect="1"/>
          </p:cNvPicPr>
          <p:nvPr/>
        </p:nvPicPr>
        <p:blipFill>
          <a:blip r:embed="rId2"/>
          <a:stretch>
            <a:fillRect/>
          </a:stretch>
        </p:blipFill>
        <p:spPr>
          <a:xfrm>
            <a:off x="11121847" y="329184"/>
            <a:ext cx="310896" cy="310896"/>
          </a:xfrm>
          <a:prstGeom prst="rect">
            <a:avLst/>
          </a:prstGeom>
        </p:spPr>
      </p:pic>
      <p:sp>
        <p:nvSpPr>
          <p:cNvPr id="5"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6" name="Text 1"/>
          <p:cNvSpPr txBox="1"/>
          <p:nvPr/>
        </p:nvSpPr>
        <p:spPr>
          <a:xfrm>
            <a:off x="10061143" y="6336792"/>
            <a:ext cx="1371600" cy="256032"/>
          </a:xfrm>
          <a:prstGeom prst="rect">
            <a:avLst/>
          </a:prstGeom>
          <a:noFill/>
          <a:ln/>
        </p:spPr>
        <p:txBody>
          <a:bodyPr wrap="square" lIns="0" tIns="0" rIns="0" bIns="0" rtlCol="0" anchor="ctr"/>
          <a:lstStyle/>
          <a:p>
            <a:pPr algn="r" indent="0" marL="0">
              <a:buNone/>
            </a:pPr>
            <a:r>
              <a:rPr lang="en-US" sz="1000" dirty="0">
                <a:solidFill>
                  <a:srgbClr val="8B8F93"/>
                </a:solidFill>
                <a:latin typeface="Instrument Sans" pitchFamily="34" charset="0"/>
                <a:ea typeface="Instrument Sans" pitchFamily="34" charset="-122"/>
                <a:cs typeface="Assistant" pitchFamily="34" charset="-120"/>
              </a:rPr>
              <a:t>8 / 21</a:t>
            </a:r>
            <a:endParaRPr lang="en-US" sz="1000" dirty="0"/>
          </a:p>
        </p:txBody>
      </p:sp>
      <p:sp>
        <p:nvSpPr>
          <p:cNvPr id="7" name="Text 2"/>
          <p:cNvSpPr txBox="1"/>
          <p:nvPr/>
        </p:nvSpPr>
        <p:spPr>
          <a:xfrm>
            <a:off x="6583680" y="777240"/>
            <a:ext cx="4849063" cy="1097280"/>
          </a:xfrm>
          <a:prstGeom prst="rect">
            <a:avLst/>
          </a:prstGeom>
          <a:noFill/>
          <a:ln/>
        </p:spPr>
        <p:txBody>
          <a:bodyPr wrap="square" lIns="0" tIns="0" rIns="0" bIns="0" rtlCol="0" anchor="ctr"/>
          <a:lstStyle/>
          <a:p>
            <a:pPr algn="r" indent="0" marL="0">
              <a:buNone/>
            </a:pPr>
            <a:r>
              <a:rPr lang="en-US" sz="8000" dirty="0">
                <a:solidFill>
                  <a:srgbClr val="2B3138"/>
                </a:solidFill>
                <a:latin typeface="Fraunces" pitchFamily="34" charset="0"/>
                <a:ea typeface="Fraunces" pitchFamily="34" charset="-122"/>
                <a:cs typeface="Frank Ruhl Libre" pitchFamily="34" charset="-120"/>
              </a:rPr>
              <a:t>Jev</a:t>
            </a:r>
            <a:endParaRPr lang="en-US" sz="8000" dirty="0"/>
          </a:p>
        </p:txBody>
      </p:sp>
      <p:sp>
        <p:nvSpPr>
          <p:cNvPr id="8" name="Text 3"/>
          <p:cNvSpPr txBox="1"/>
          <p:nvPr/>
        </p:nvSpPr>
        <p:spPr>
          <a:xfrm>
            <a:off x="6583680" y="1965960"/>
            <a:ext cx="4849063" cy="502920"/>
          </a:xfrm>
          <a:prstGeom prst="rect">
            <a:avLst/>
          </a:prstGeom>
          <a:noFill/>
          <a:ln/>
        </p:spPr>
        <p:txBody>
          <a:bodyPr wrap="square" lIns="0" tIns="0" rIns="0" bIns="0" rtlCol="0" anchor="ctr"/>
          <a:lstStyle/>
          <a:p>
            <a:pPr rtl="1" algn="r" indent="0" marL="0">
              <a:buNone/>
            </a:pPr>
            <a:r>
              <a:rPr lang="he-IL" altLang="en-US" sz="2600" dirty="0">
                <a:solidFill>
                  <a:srgbClr val="2B3138"/>
                </a:solidFill>
                <a:latin typeface="Fraunces" pitchFamily="34" charset="0"/>
                <a:ea typeface="Fraunces" pitchFamily="34" charset="-122"/>
                <a:cs typeface="Frank Ruhl Libre" pitchFamily="34" charset="-120"/>
              </a:rPr>
              <a:t>מודל שבוחר מתוך אפשרויות</a:t>
            </a:r>
            <a:endParaRPr lang="he-IL" sz="2600" dirty="0"/>
          </a:p>
        </p:txBody>
      </p:sp>
      <p:sp>
        <p:nvSpPr>
          <p:cNvPr id="9" name="Text 4"/>
          <p:cNvSpPr txBox="1"/>
          <p:nvPr/>
        </p:nvSpPr>
        <p:spPr>
          <a:xfrm>
            <a:off x="6583680" y="2560320"/>
            <a:ext cx="4849063" cy="640080"/>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כמו enum: מזהה אחד מתוך רשימה סגורה, לא פסקה.</a:t>
            </a:r>
            <a:endParaRPr lang="he-IL" sz="1600" dirty="0"/>
          </a:p>
        </p:txBody>
      </p:sp>
      <p:sp>
        <p:nvSpPr>
          <p:cNvPr id="10" name="Shape 5"/>
          <p:cNvSpPr/>
          <p:nvPr/>
        </p:nvSpPr>
        <p:spPr>
          <a:xfrm>
            <a:off x="6583680" y="3337560"/>
            <a:ext cx="4849063" cy="0"/>
          </a:xfrm>
          <a:prstGeom prst="line">
            <a:avLst/>
          </a:prstGeom>
          <a:noFill/>
          <a:ln w="9525">
            <a:solidFill>
              <a:srgbClr val="E4E0D6"/>
            </a:solidFill>
            <a:prstDash val="solid"/>
          </a:ln>
        </p:spPr>
      </p:sp>
      <p:sp>
        <p:nvSpPr>
          <p:cNvPr id="11" name="Text 6"/>
          <p:cNvSpPr txBox="1"/>
          <p:nvPr/>
        </p:nvSpPr>
        <p:spPr>
          <a:xfrm>
            <a:off x="10609783" y="3447288"/>
            <a:ext cx="822960" cy="420624"/>
          </a:xfrm>
          <a:prstGeom prst="rect">
            <a:avLst/>
          </a:prstGeom>
          <a:noFill/>
          <a:ln/>
        </p:spPr>
        <p:txBody>
          <a:bodyPr wrap="square" lIns="0" tIns="0" rIns="0" bIns="0" rtlCol="0" anchor="ctr"/>
          <a:lstStyle/>
          <a:p>
            <a:pPr rtl="1" algn="r" indent="0" marL="0">
              <a:buNone/>
            </a:pPr>
            <a:r>
              <a:rPr lang="he-IL" altLang="en-US" sz="1500" b="1" dirty="0">
                <a:solidFill>
                  <a:srgbClr val="5F7368"/>
                </a:solidFill>
                <a:latin typeface="Instrument Sans" pitchFamily="34" charset="0"/>
                <a:ea typeface="Instrument Sans" pitchFamily="34" charset="-122"/>
                <a:cs typeface="Assistant" pitchFamily="34" charset="-120"/>
              </a:rPr>
              <a:t>נכנס</a:t>
            </a:r>
            <a:endParaRPr lang="he-IL" sz="1500" dirty="0"/>
          </a:p>
        </p:txBody>
      </p:sp>
      <p:sp>
        <p:nvSpPr>
          <p:cNvPr id="12" name="Text 7"/>
          <p:cNvSpPr txBox="1"/>
          <p:nvPr/>
        </p:nvSpPr>
        <p:spPr>
          <a:xfrm>
            <a:off x="6583680" y="3447288"/>
            <a:ext cx="3843223" cy="420624"/>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מצב קצר + שאלה + אפשרויות</a:t>
            </a:r>
            <a:endParaRPr lang="he-IL" sz="1800" dirty="0"/>
          </a:p>
        </p:txBody>
      </p:sp>
      <p:sp>
        <p:nvSpPr>
          <p:cNvPr id="13" name="Shape 8"/>
          <p:cNvSpPr/>
          <p:nvPr/>
        </p:nvSpPr>
        <p:spPr>
          <a:xfrm>
            <a:off x="6583680" y="3977640"/>
            <a:ext cx="4849063" cy="0"/>
          </a:xfrm>
          <a:prstGeom prst="line">
            <a:avLst/>
          </a:prstGeom>
          <a:noFill/>
          <a:ln w="9525">
            <a:solidFill>
              <a:srgbClr val="E4E0D6"/>
            </a:solidFill>
            <a:prstDash val="solid"/>
          </a:ln>
        </p:spPr>
      </p:sp>
      <p:sp>
        <p:nvSpPr>
          <p:cNvPr id="14" name="Text 9"/>
          <p:cNvSpPr txBox="1"/>
          <p:nvPr/>
        </p:nvSpPr>
        <p:spPr>
          <a:xfrm>
            <a:off x="10609783" y="4087368"/>
            <a:ext cx="822960" cy="420624"/>
          </a:xfrm>
          <a:prstGeom prst="rect">
            <a:avLst/>
          </a:prstGeom>
          <a:noFill/>
          <a:ln/>
        </p:spPr>
        <p:txBody>
          <a:bodyPr wrap="square" lIns="0" tIns="0" rIns="0" bIns="0" rtlCol="0" anchor="ctr"/>
          <a:lstStyle/>
          <a:p>
            <a:pPr rtl="1" algn="r" indent="0" marL="0">
              <a:buNone/>
            </a:pPr>
            <a:r>
              <a:rPr lang="he-IL" altLang="en-US" sz="1500" b="1" dirty="0">
                <a:solidFill>
                  <a:srgbClr val="5F7368"/>
                </a:solidFill>
                <a:latin typeface="Instrument Sans" pitchFamily="34" charset="0"/>
                <a:ea typeface="Instrument Sans" pitchFamily="34" charset="-122"/>
                <a:cs typeface="Assistant" pitchFamily="34" charset="-120"/>
              </a:rPr>
              <a:t>יוצא</a:t>
            </a:r>
            <a:endParaRPr lang="he-IL" sz="1500" dirty="0"/>
          </a:p>
        </p:txBody>
      </p:sp>
      <p:sp>
        <p:nvSpPr>
          <p:cNvPr id="15" name="Text 10"/>
          <p:cNvSpPr txBox="1"/>
          <p:nvPr/>
        </p:nvSpPr>
        <p:spPr>
          <a:xfrm>
            <a:off x="6583680" y="4087368"/>
            <a:ext cx="3843223" cy="420624"/>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בחירה + הסתברויות</a:t>
            </a:r>
            <a:endParaRPr lang="he-IL" sz="1800" dirty="0"/>
          </a:p>
        </p:txBody>
      </p:sp>
      <p:sp>
        <p:nvSpPr>
          <p:cNvPr id="16" name="Shape 11"/>
          <p:cNvSpPr/>
          <p:nvPr/>
        </p:nvSpPr>
        <p:spPr>
          <a:xfrm>
            <a:off x="6583680" y="4617720"/>
            <a:ext cx="4849063" cy="0"/>
          </a:xfrm>
          <a:prstGeom prst="line">
            <a:avLst/>
          </a:prstGeom>
          <a:noFill/>
          <a:ln w="9525">
            <a:solidFill>
              <a:srgbClr val="E4E0D6"/>
            </a:solidFill>
            <a:prstDash val="solid"/>
          </a:ln>
        </p:spPr>
      </p:sp>
      <p:sp>
        <p:nvSpPr>
          <p:cNvPr id="17" name="Text 12"/>
          <p:cNvSpPr txBox="1"/>
          <p:nvPr/>
        </p:nvSpPr>
        <p:spPr>
          <a:xfrm>
            <a:off x="6583680" y="4754880"/>
            <a:ext cx="4849063" cy="640080"/>
          </a:xfrm>
          <a:prstGeom prst="rect">
            <a:avLst/>
          </a:prstGeom>
          <a:noFill/>
          <a:ln/>
        </p:spPr>
        <p:txBody>
          <a:bodyPr wrap="square" lIns="0" tIns="0" rIns="0" bIns="0" rtlCol="0" anchor="t"/>
          <a:lstStyle/>
          <a:p>
            <a:pPr rtl="1" algn="r" indent="0" marL="0">
              <a:buNone/>
            </a:pPr>
            <a:r>
              <a:rPr lang="he-IL" altLang="en-US" sz="1500" b="1" dirty="0">
                <a:solidFill>
                  <a:srgbClr val="5F7368"/>
                </a:solidFill>
                <a:latin typeface="Instrument Sans" pitchFamily="34" charset="0"/>
                <a:ea typeface="Instrument Sans" pitchFamily="34" charset="-122"/>
                <a:cs typeface="Assistant" pitchFamily="34" charset="-120"/>
              </a:rPr>
              <a:t>המטרה נקבעת בקוד. Jev בוחר איזו פעולה עכשיו.</a:t>
            </a:r>
            <a:r>
              <a:rPr lang="he-IL" altLang="en-US" sz="1500" dirty="0">
                <a:solidFill>
                  <a:srgbClr val="2B3138"/>
                </a:solidFill>
                <a:latin typeface="Instrument Sans" pitchFamily="34" charset="0"/>
                <a:ea typeface="Instrument Sans" pitchFamily="34" charset="-122"/>
                <a:cs typeface="Assistant" pitchFamily="34" charset="-120"/>
              </a:rPr>
              <a:t/>
            </a:r>
            <a:endParaRPr lang="he-IL" sz="1500" dirty="0"/>
          </a:p>
        </p:txBody>
      </p:sp>
      <p:sp>
        <p:nvSpPr>
          <p:cNvPr id="18" name="Text 13"/>
          <p:cNvSpPr txBox="1"/>
          <p:nvPr/>
        </p:nvSpPr>
        <p:spPr>
          <a:xfrm>
            <a:off x="6583680" y="5577840"/>
            <a:ext cx="4849063" cy="274320"/>
          </a:xfrm>
          <a:prstGeom prst="rect">
            <a:avLst/>
          </a:prstGeom>
          <a:noFill/>
          <a:ln/>
        </p:spPr>
        <p:txBody>
          <a:bodyPr wrap="square" lIns="0" tIns="0" rIns="0" bIns="0" rtlCol="0" anchor="t"/>
          <a:lstStyle/>
          <a:p>
            <a:pPr algn="r" indent="0" marL="0">
              <a:buNone/>
            </a:pPr>
            <a:r>
              <a:rPr lang="en-US" sz="1200" dirty="0">
                <a:solidFill>
                  <a:srgbClr val="8B8F93"/>
                </a:solidFill>
                <a:latin typeface="Instrument Sans" pitchFamily="34" charset="0"/>
                <a:ea typeface="Instrument Sans" pitchFamily="34" charset="-122"/>
                <a:cs typeface="Assistant" pitchFamily="34" charset="-120"/>
              </a:rPr>
              <a:t>TypeSafe AI  ·  System One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9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מה Jev מקבל מהקוד שלנו?</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Shape 4"/>
          <p:cNvSpPr/>
          <p:nvPr/>
        </p:nvSpPr>
        <p:spPr>
          <a:xfrm>
            <a:off x="7818120" y="2103120"/>
            <a:ext cx="3614623" cy="2788920"/>
          </a:xfrm>
          <a:prstGeom prst="rect">
            <a:avLst/>
          </a:prstGeom>
          <a:solidFill>
            <a:srgbClr val="FAF6EF"/>
          </a:solidFill>
          <a:ln w="9525">
            <a:solidFill>
              <a:srgbClr val="D8D2C6"/>
            </a:solidFill>
            <a:prstDash val="solid"/>
          </a:ln>
        </p:spPr>
      </p:sp>
      <p:sp>
        <p:nvSpPr>
          <p:cNvPr id="9" name="Shape 5"/>
          <p:cNvSpPr/>
          <p:nvPr/>
        </p:nvSpPr>
        <p:spPr>
          <a:xfrm>
            <a:off x="7818120" y="2103120"/>
            <a:ext cx="3614623" cy="365760"/>
          </a:xfrm>
          <a:prstGeom prst="rect">
            <a:avLst/>
          </a:prstGeom>
          <a:solidFill>
            <a:srgbClr val="F3EDE2"/>
          </a:solidFill>
          <a:ln w="9525">
            <a:solidFill>
              <a:srgbClr val="D8D2C6"/>
            </a:solidFill>
            <a:prstDash val="solid"/>
          </a:ln>
        </p:spPr>
      </p:sp>
      <p:sp>
        <p:nvSpPr>
          <p:cNvPr id="10" name="Text 6"/>
          <p:cNvSpPr txBox="1"/>
          <p:nvPr/>
        </p:nvSpPr>
        <p:spPr>
          <a:xfrm>
            <a:off x="8001000" y="2103120"/>
            <a:ext cx="3248863" cy="365760"/>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vacation-demo.local/hotel/A</a:t>
            </a:r>
            <a:endParaRPr lang="en-US" sz="1000" dirty="0"/>
          </a:p>
        </p:txBody>
      </p:sp>
      <p:sp>
        <p:nvSpPr>
          <p:cNvPr id="11" name="Text 7"/>
          <p:cNvSpPr txBox="1"/>
          <p:nvPr/>
        </p:nvSpPr>
        <p:spPr>
          <a:xfrm>
            <a:off x="8092440" y="2651760"/>
            <a:ext cx="3065983" cy="411480"/>
          </a:xfrm>
          <a:prstGeom prst="rect">
            <a:avLst/>
          </a:prstGeom>
          <a:noFill/>
          <a:ln/>
        </p:spPr>
        <p:txBody>
          <a:bodyPr wrap="square" lIns="0" tIns="0" rIns="0" bIns="0" rtlCol="0" anchor="t"/>
          <a:lstStyle/>
          <a:p>
            <a:pPr rtl="1" algn="r" indent="0" marL="0">
              <a:buNone/>
            </a:pPr>
            <a:r>
              <a:rPr lang="he-IL" altLang="en-US" sz="2400" dirty="0">
                <a:solidFill>
                  <a:srgbClr val="2B3138"/>
                </a:solidFill>
                <a:latin typeface="Fraunces" pitchFamily="34" charset="0"/>
                <a:ea typeface="Fraunces" pitchFamily="34" charset="-122"/>
                <a:cs typeface="Frank Ruhl Libre" pitchFamily="34" charset="-120"/>
              </a:rPr>
              <a:t>מלון A</a:t>
            </a:r>
            <a:endParaRPr lang="he-IL" sz="2400" dirty="0"/>
          </a:p>
        </p:txBody>
      </p:sp>
      <p:sp>
        <p:nvSpPr>
          <p:cNvPr id="12" name="Text 8"/>
          <p:cNvSpPr txBox="1"/>
          <p:nvPr/>
        </p:nvSpPr>
        <p:spPr>
          <a:xfrm>
            <a:off x="8092440" y="3090672"/>
            <a:ext cx="3065983" cy="292608"/>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€520 · 3 לילות · נגיש</a:t>
            </a:r>
            <a:endParaRPr lang="he-IL" sz="1400" dirty="0"/>
          </a:p>
        </p:txBody>
      </p:sp>
      <p:sp>
        <p:nvSpPr>
          <p:cNvPr id="13" name="Text 9"/>
          <p:cNvSpPr txBox="1"/>
          <p:nvPr/>
        </p:nvSpPr>
        <p:spPr>
          <a:xfrm>
            <a:off x="8092440" y="3474720"/>
            <a:ext cx="3065983" cy="292608"/>
          </a:xfrm>
          <a:prstGeom prst="rect">
            <a:avLst/>
          </a:prstGeom>
          <a:noFill/>
          <a:ln/>
        </p:spPr>
        <p:txBody>
          <a:bodyPr wrap="square" lIns="0" tIns="0" rIns="0" bIns="0" rtlCol="0" anchor="t"/>
          <a:lstStyle/>
          <a:p>
            <a:pPr rtl="1" algn="r" indent="0" marL="0">
              <a:buNone/>
            </a:pPr>
            <a:r>
              <a:rPr lang="he-IL" altLang="en-US" sz="1400" b="1" dirty="0">
                <a:solidFill>
                  <a:srgbClr val="A6423F"/>
                </a:solidFill>
                <a:latin typeface="Instrument Sans" pitchFamily="34" charset="0"/>
                <a:ea typeface="Instrument Sans" pitchFamily="34" charset="-122"/>
                <a:cs typeface="Assistant" pitchFamily="34" charset="-120"/>
              </a:rPr>
              <a:t>אין חדרים פנויים</a:t>
            </a:r>
            <a:endParaRPr lang="he-IL" sz="1400" dirty="0"/>
          </a:p>
        </p:txBody>
      </p:sp>
      <p:sp>
        <p:nvSpPr>
          <p:cNvPr id="14" name="Shape 10"/>
          <p:cNvSpPr/>
          <p:nvPr/>
        </p:nvSpPr>
        <p:spPr>
          <a:xfrm>
            <a:off x="9466783" y="4160520"/>
            <a:ext cx="1691640" cy="457200"/>
          </a:xfrm>
          <a:prstGeom prst="rect">
            <a:avLst/>
          </a:prstGeom>
          <a:solidFill>
            <a:srgbClr val="2B3138"/>
          </a:solidFill>
          <a:ln/>
        </p:spPr>
      </p:sp>
      <p:sp>
        <p:nvSpPr>
          <p:cNvPr id="15" name="Text 11"/>
          <p:cNvSpPr txBox="1"/>
          <p:nvPr/>
        </p:nvSpPr>
        <p:spPr>
          <a:xfrm>
            <a:off x="9466783" y="4160520"/>
            <a:ext cx="1691640" cy="457200"/>
          </a:xfrm>
          <a:prstGeom prst="rect">
            <a:avLst/>
          </a:prstGeom>
          <a:noFill/>
          <a:ln/>
        </p:spPr>
        <p:txBody>
          <a:bodyPr wrap="square" lIns="0" tIns="0" rIns="0" bIns="0" rtlCol="0" anchor="ctr"/>
          <a:lstStyle/>
          <a:p>
            <a:pPr rtl="1" algn="ctr" indent="0" marL="0">
              <a:buNone/>
            </a:pPr>
            <a:r>
              <a:rPr lang="he-IL" altLang="en-US" sz="1300" b="1" dirty="0">
                <a:solidFill>
                  <a:srgbClr val="FAF6EF"/>
                </a:solidFill>
                <a:latin typeface="Instrument Sans" pitchFamily="34" charset="0"/>
                <a:ea typeface="Instrument Sans" pitchFamily="34" charset="-122"/>
                <a:cs typeface="Assistant" pitchFamily="34" charset="-120"/>
              </a:rPr>
              <a:t>חזרה לתוצאות</a:t>
            </a:r>
            <a:endParaRPr lang="he-IL" sz="1300" dirty="0"/>
          </a:p>
        </p:txBody>
      </p:sp>
      <p:sp>
        <p:nvSpPr>
          <p:cNvPr id="16" name="Shape 12"/>
          <p:cNvSpPr/>
          <p:nvPr/>
        </p:nvSpPr>
        <p:spPr>
          <a:xfrm>
            <a:off x="8092440" y="4160520"/>
            <a:ext cx="1371600" cy="457200"/>
          </a:xfrm>
          <a:prstGeom prst="rect">
            <a:avLst/>
          </a:prstGeom>
          <a:solidFill>
            <a:srgbClr val="FAF6EF"/>
          </a:solidFill>
          <a:ln w="9525">
            <a:solidFill>
              <a:srgbClr val="D8D2C6"/>
            </a:solidFill>
            <a:prstDash val="solid"/>
          </a:ln>
        </p:spPr>
      </p:sp>
      <p:sp>
        <p:nvSpPr>
          <p:cNvPr id="17" name="Text 13"/>
          <p:cNvSpPr txBox="1"/>
          <p:nvPr/>
        </p:nvSpPr>
        <p:spPr>
          <a:xfrm>
            <a:off x="8092440" y="4160520"/>
            <a:ext cx="1371600" cy="457200"/>
          </a:xfrm>
          <a:prstGeom prst="rect">
            <a:avLst/>
          </a:prstGeom>
          <a:noFill/>
          <a:ln/>
        </p:spPr>
        <p:txBody>
          <a:bodyPr wrap="square" lIns="0" tIns="0" rIns="0" bIns="0" rtlCol="0" anchor="ctr"/>
          <a:lstStyle/>
          <a:p>
            <a:pPr rtl="1" algn="ctr" indent="0" marL="0">
              <a:buNone/>
            </a:pPr>
            <a:r>
              <a:rPr lang="he-IL" altLang="en-US" sz="1300" dirty="0">
                <a:solidFill>
                  <a:srgbClr val="8B8F93"/>
                </a:solidFill>
                <a:latin typeface="Instrument Sans" pitchFamily="34" charset="0"/>
                <a:ea typeface="Instrument Sans" pitchFamily="34" charset="-122"/>
                <a:cs typeface="Assistant" pitchFamily="34" charset="-120"/>
              </a:rPr>
              <a:t>הזמנה</a:t>
            </a:r>
            <a:endParaRPr lang="he-IL" sz="1300" dirty="0"/>
          </a:p>
        </p:txBody>
      </p:sp>
      <p:sp>
        <p:nvSpPr>
          <p:cNvPr id="18" name="Text 14"/>
          <p:cNvSpPr txBox="1"/>
          <p:nvPr/>
        </p:nvSpPr>
        <p:spPr>
          <a:xfrm>
            <a:off x="7818120" y="5074920"/>
            <a:ext cx="3614623" cy="320040"/>
          </a:xfrm>
          <a:prstGeom prst="rect">
            <a:avLst/>
          </a:prstGeom>
          <a:noFill/>
          <a:ln/>
        </p:spPr>
        <p:txBody>
          <a:bodyPr wrap="square" lIns="0" tIns="0" rIns="0" bIns="0" rtlCol="0" anchor="t"/>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הדף (DOM): </a:t>
            </a:r>
            <a:r>
              <a:rPr lang="he-IL" altLang="en-US" sz="1400" dirty="0">
                <a:solidFill>
                  <a:srgbClr val="5A6067"/>
                </a:solidFill>
                <a:latin typeface="Instrument Sans" pitchFamily="34" charset="0"/>
                <a:ea typeface="Instrument Sans" pitchFamily="34" charset="-122"/>
                <a:cs typeface="Assistant" pitchFamily="34" charset="-120"/>
              </a:rPr>
              <a:t>כותרות, כפתורים ושדות</a:t>
            </a:r>
            <a:endParaRPr lang="he-IL" sz="1400" dirty="0"/>
          </a:p>
        </p:txBody>
      </p:sp>
      <p:sp>
        <p:nvSpPr>
          <p:cNvPr id="19" name="Text 15"/>
          <p:cNvSpPr txBox="1"/>
          <p:nvPr/>
        </p:nvSpPr>
        <p:spPr>
          <a:xfrm>
            <a:off x="6537960" y="3223260"/>
            <a:ext cx="1143000" cy="457200"/>
          </a:xfrm>
          <a:prstGeom prst="rect">
            <a:avLst/>
          </a:prstGeom>
          <a:noFill/>
          <a:ln/>
        </p:spPr>
        <p:txBody>
          <a:bodyPr wrap="square" lIns="0" tIns="0" rIns="0" bIns="0" rtlCol="0" anchor="ctr"/>
          <a:lstStyle/>
          <a:p>
            <a:pPr algn="ctr" indent="0" marL="0">
              <a:buNone/>
            </a:pPr>
            <a:r>
              <a:rPr lang="en-US" sz="2600" dirty="0">
                <a:solidFill>
                  <a:srgbClr val="5F7368"/>
                </a:solidFill>
                <a:latin typeface="Instrument Sans" pitchFamily="34" charset="0"/>
                <a:ea typeface="Instrument Sans" pitchFamily="34" charset="-122"/>
                <a:cs typeface="Assistant" pitchFamily="34" charset="-120"/>
              </a:rPr>
              <a:t>←</a:t>
            </a:r>
            <a:endParaRPr lang="en-US" sz="2600" dirty="0"/>
          </a:p>
        </p:txBody>
      </p:sp>
      <p:sp>
        <p:nvSpPr>
          <p:cNvPr id="20" name="Text 16"/>
          <p:cNvSpPr txBox="1"/>
          <p:nvPr/>
        </p:nvSpPr>
        <p:spPr>
          <a:xfrm>
            <a:off x="6492240" y="3680460"/>
            <a:ext cx="1234440" cy="274320"/>
          </a:xfrm>
          <a:prstGeom prst="rect">
            <a:avLst/>
          </a:prstGeom>
          <a:noFill/>
          <a:ln/>
        </p:spPr>
        <p:txBody>
          <a:bodyPr wrap="square" lIns="0" tIns="0" rIns="0" bIns="0" rtlCol="0" anchor="t"/>
          <a:lstStyle/>
          <a:p>
            <a:pPr rtl="1" algn="ctr" indent="0" marL="0">
              <a:buNone/>
            </a:pPr>
            <a:r>
              <a:rPr lang="he-IL" altLang="en-US" sz="1200" dirty="0">
                <a:solidFill>
                  <a:srgbClr val="5F7368"/>
                </a:solidFill>
                <a:latin typeface="Instrument Sans" pitchFamily="34" charset="0"/>
                <a:ea typeface="Instrument Sans" pitchFamily="34" charset="-122"/>
                <a:cs typeface="Assistant" pitchFamily="34" charset="-120"/>
              </a:rPr>
              <a:t>הקוד מתמצת</a:t>
            </a:r>
            <a:endParaRPr lang="he-IL" sz="1200" dirty="0"/>
          </a:p>
        </p:txBody>
      </p:sp>
      <p:sp>
        <p:nvSpPr>
          <p:cNvPr id="21" name="Shape 17"/>
          <p:cNvSpPr/>
          <p:nvPr/>
        </p:nvSpPr>
        <p:spPr>
          <a:xfrm>
            <a:off x="758952" y="2103120"/>
            <a:ext cx="5669280" cy="2788920"/>
          </a:xfrm>
          <a:prstGeom prst="rect">
            <a:avLst/>
          </a:prstGeom>
          <a:solidFill>
            <a:srgbClr val="F3EDE2"/>
          </a:solidFill>
          <a:ln w="9525">
            <a:solidFill>
              <a:srgbClr val="D8D2C6"/>
            </a:solidFill>
            <a:prstDash val="solid"/>
          </a:ln>
        </p:spPr>
      </p:sp>
      <p:sp>
        <p:nvSpPr>
          <p:cNvPr id="22" name="Text 18"/>
          <p:cNvSpPr txBox="1"/>
          <p:nvPr/>
        </p:nvSpPr>
        <p:spPr>
          <a:xfrm>
            <a:off x="987552" y="221284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YAML</a:t>
            </a:r>
            <a:endParaRPr lang="en-US" sz="1000" dirty="0"/>
          </a:p>
        </p:txBody>
      </p:sp>
      <p:sp>
        <p:nvSpPr>
          <p:cNvPr id="23" name="Shape 19"/>
          <p:cNvSpPr/>
          <p:nvPr/>
        </p:nvSpPr>
        <p:spPr>
          <a:xfrm>
            <a:off x="758952" y="2487168"/>
            <a:ext cx="5669280" cy="0"/>
          </a:xfrm>
          <a:prstGeom prst="line">
            <a:avLst/>
          </a:prstGeom>
          <a:noFill/>
          <a:ln w="9525">
            <a:solidFill>
              <a:srgbClr val="D8D2C6"/>
            </a:solidFill>
            <a:prstDash val="solid"/>
          </a:ln>
        </p:spPr>
      </p:sp>
      <p:sp>
        <p:nvSpPr>
          <p:cNvPr id="24" name="Text 20"/>
          <p:cNvSpPr txBox="1"/>
          <p:nvPr/>
        </p:nvSpPr>
        <p:spPr>
          <a:xfrm>
            <a:off x="868680" y="2514600"/>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1</a:t>
            </a:r>
            <a:endParaRPr lang="en-US" sz="980" dirty="0"/>
          </a:p>
        </p:txBody>
      </p:sp>
      <p:sp>
        <p:nvSpPr>
          <p:cNvPr id="25" name="Text 21"/>
          <p:cNvSpPr txBox="1"/>
          <p:nvPr/>
        </p:nvSpPr>
        <p:spPr>
          <a:xfrm>
            <a:off x="1335024" y="2514600"/>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subgoal</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find an accessible hotel</a:t>
            </a:r>
            <a:endParaRPr lang="en-US" sz="1400" dirty="0"/>
          </a:p>
        </p:txBody>
      </p:sp>
      <p:sp>
        <p:nvSpPr>
          <p:cNvPr id="26" name="Text 22"/>
          <p:cNvSpPr txBox="1"/>
          <p:nvPr/>
        </p:nvSpPr>
        <p:spPr>
          <a:xfrm>
            <a:off x="868680" y="2816352"/>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2</a:t>
            </a:r>
            <a:endParaRPr lang="en-US" sz="980" dirty="0"/>
          </a:p>
        </p:txBody>
      </p:sp>
      <p:sp>
        <p:nvSpPr>
          <p:cNvPr id="27" name="Text 23"/>
          <p:cNvSpPr txBox="1"/>
          <p:nvPr/>
        </p:nvSpPr>
        <p:spPr>
          <a:xfrm>
            <a:off x="1335024" y="2816352"/>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budget_eur</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600</a:t>
            </a:r>
            <a:endParaRPr lang="en-US" sz="1400" dirty="0"/>
          </a:p>
        </p:txBody>
      </p:sp>
      <p:sp>
        <p:nvSpPr>
          <p:cNvPr id="28" name="Text 24"/>
          <p:cNvSpPr txBox="1"/>
          <p:nvPr/>
        </p:nvSpPr>
        <p:spPr>
          <a:xfrm>
            <a:off x="868680" y="3118104"/>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3</a:t>
            </a:r>
            <a:endParaRPr lang="en-US" sz="980" dirty="0"/>
          </a:p>
        </p:txBody>
      </p:sp>
      <p:sp>
        <p:nvSpPr>
          <p:cNvPr id="29" name="Text 25"/>
          <p:cNvSpPr txBox="1"/>
          <p:nvPr/>
        </p:nvSpPr>
        <p:spPr>
          <a:xfrm>
            <a:off x="1335024" y="3118104"/>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nights</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3</a:t>
            </a:r>
            <a:endParaRPr lang="en-US" sz="1400" dirty="0"/>
          </a:p>
        </p:txBody>
      </p:sp>
      <p:sp>
        <p:nvSpPr>
          <p:cNvPr id="30" name="Text 26"/>
          <p:cNvSpPr txBox="1"/>
          <p:nvPr/>
        </p:nvSpPr>
        <p:spPr>
          <a:xfrm>
            <a:off x="868680" y="3419856"/>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4</a:t>
            </a:r>
            <a:endParaRPr lang="en-US" sz="980" dirty="0"/>
          </a:p>
        </p:txBody>
      </p:sp>
      <p:sp>
        <p:nvSpPr>
          <p:cNvPr id="31" name="Text 27"/>
          <p:cNvSpPr txBox="1"/>
          <p:nvPr/>
        </p:nvSpPr>
        <p:spPr>
          <a:xfrm>
            <a:off x="1335024" y="3419856"/>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page</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hotel_details</a:t>
            </a:r>
            <a:endParaRPr lang="en-US" sz="1400" dirty="0"/>
          </a:p>
        </p:txBody>
      </p:sp>
      <p:sp>
        <p:nvSpPr>
          <p:cNvPr id="32" name="Text 28"/>
          <p:cNvSpPr txBox="1"/>
          <p:nvPr/>
        </p:nvSpPr>
        <p:spPr>
          <a:xfrm>
            <a:off x="868680" y="3721608"/>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5</a:t>
            </a:r>
            <a:endParaRPr lang="en-US" sz="980" dirty="0"/>
          </a:p>
        </p:txBody>
      </p:sp>
      <p:sp>
        <p:nvSpPr>
          <p:cNvPr id="33" name="Text 29"/>
          <p:cNvSpPr txBox="1"/>
          <p:nvPr/>
        </p:nvSpPr>
        <p:spPr>
          <a:xfrm>
            <a:off x="1335024" y="3721608"/>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ruled_out</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 A: sold_out }</a:t>
            </a:r>
            <a:endParaRPr lang="en-US" sz="1400" dirty="0"/>
          </a:p>
        </p:txBody>
      </p:sp>
      <p:sp>
        <p:nvSpPr>
          <p:cNvPr id="34" name="Text 30"/>
          <p:cNvSpPr txBox="1"/>
          <p:nvPr/>
        </p:nvSpPr>
        <p:spPr>
          <a:xfrm>
            <a:off x="868680" y="4023360"/>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6</a:t>
            </a:r>
            <a:endParaRPr lang="en-US" sz="980" dirty="0"/>
          </a:p>
        </p:txBody>
      </p:sp>
      <p:sp>
        <p:nvSpPr>
          <p:cNvPr id="35" name="Text 31"/>
          <p:cNvSpPr txBox="1"/>
          <p:nvPr/>
        </p:nvSpPr>
        <p:spPr>
          <a:xfrm>
            <a:off x="1335024" y="4023360"/>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hotel_A</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sold_out</a:t>
            </a:r>
            <a:endParaRPr lang="en-US" sz="1400" dirty="0"/>
          </a:p>
        </p:txBody>
      </p:sp>
      <p:sp>
        <p:nvSpPr>
          <p:cNvPr id="36" name="Text 32"/>
          <p:cNvSpPr txBox="1"/>
          <p:nvPr/>
        </p:nvSpPr>
        <p:spPr>
          <a:xfrm>
            <a:off x="868680" y="4325112"/>
            <a:ext cx="256032" cy="301752"/>
          </a:xfrm>
          <a:prstGeom prst="rect">
            <a:avLst/>
          </a:prstGeom>
          <a:noFill/>
          <a:ln/>
        </p:spPr>
        <p:txBody>
          <a:bodyPr wrap="square" lIns="0" tIns="0" rIns="0" bIns="0" rtlCol="0" anchor="ctr"/>
          <a:lstStyle/>
          <a:p>
            <a:pPr algn="r" indent="0" marL="0">
              <a:buNone/>
            </a:pPr>
            <a:r>
              <a:rPr lang="en-US" sz="980" dirty="0">
                <a:solidFill>
                  <a:srgbClr val="8B8F93"/>
                </a:solidFill>
                <a:latin typeface="JetBrains Mono" pitchFamily="34" charset="0"/>
                <a:ea typeface="JetBrains Mono" pitchFamily="34" charset="-122"/>
                <a:cs typeface="JetBrains Mono" pitchFamily="34" charset="-120"/>
              </a:rPr>
              <a:t>7</a:t>
            </a:r>
            <a:endParaRPr lang="en-US" sz="980" dirty="0"/>
          </a:p>
        </p:txBody>
      </p:sp>
      <p:sp>
        <p:nvSpPr>
          <p:cNvPr id="37" name="Text 33"/>
          <p:cNvSpPr txBox="1"/>
          <p:nvPr/>
        </p:nvSpPr>
        <p:spPr>
          <a:xfrm>
            <a:off x="1335024" y="4325112"/>
            <a:ext cx="4864608" cy="301752"/>
          </a:xfrm>
          <a:prstGeom prst="rect">
            <a:avLst/>
          </a:prstGeom>
          <a:noFill/>
          <a:ln/>
        </p:spPr>
        <p:txBody>
          <a:bodyPr wrap="square" lIns="0" tIns="0" rIns="0" bIns="0" rtlCol="0" anchor="ctr"/>
          <a:lstStyle/>
          <a:p>
            <a:pPr algn="l" indent="0" marL="0">
              <a:buNone/>
            </a:pPr>
            <a:r>
              <a:rPr lang="en-US" sz="1400" dirty="0">
                <a:solidFill>
                  <a:srgbClr val="5F7368"/>
                </a:solidFill>
                <a:latin typeface="JetBrains Mono" pitchFamily="34" charset="0"/>
                <a:ea typeface="JetBrains Mono" pitchFamily="34" charset="-122"/>
                <a:cs typeface="JetBrains Mono" pitchFamily="34" charset="-120"/>
              </a:rPr>
              <a:t>available_actions</a:t>
            </a:r>
            <a:r>
              <a:rPr lang="en-US" sz="1400" dirty="0">
                <a:solidFill>
                  <a:srgbClr val="8B8F93"/>
                </a:solidFill>
                <a:latin typeface="JetBrains Mono" pitchFamily="34" charset="0"/>
                <a:ea typeface="JetBrains Mono" pitchFamily="34" charset="-122"/>
                <a:cs typeface="JetBrains Mono" pitchFamily="34" charset="-120"/>
              </a:rPr>
              <a:t>:</a:t>
            </a:r>
            <a:r>
              <a:rPr lang="en-US" sz="1400" dirty="0">
                <a:solidFill>
                  <a:srgbClr val="2B3138"/>
                </a:solidFill>
                <a:latin typeface="JetBrains Mono" pitchFamily="34" charset="0"/>
                <a:ea typeface="JetBrains Mono" pitchFamily="34" charset="-122"/>
                <a:cs typeface="JetBrains Mono" pitchFamily="34" charset="-120"/>
              </a:rPr>
              <a:t> [back_to_results, stop]</a:t>
            </a:r>
            <a:endParaRPr lang="en-US" sz="1400" dirty="0"/>
          </a:p>
        </p:txBody>
      </p:sp>
      <p:sp>
        <p:nvSpPr>
          <p:cNvPr id="38" name="Text 34"/>
          <p:cNvSpPr txBox="1"/>
          <p:nvPr/>
        </p:nvSpPr>
        <p:spPr>
          <a:xfrm>
            <a:off x="758952" y="5074920"/>
            <a:ext cx="5669280" cy="320040"/>
          </a:xfrm>
          <a:prstGeom prst="rect">
            <a:avLst/>
          </a:prstGeom>
          <a:noFill/>
          <a:ln/>
        </p:spPr>
        <p:txBody>
          <a:bodyPr wrap="square" lIns="0" tIns="0" rIns="0" bIns="0" rtlCol="0" anchor="t"/>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המצב והפעולות: </a:t>
            </a:r>
            <a:r>
              <a:rPr lang="he-IL" altLang="en-US" sz="1400" dirty="0">
                <a:solidFill>
                  <a:srgbClr val="5A6067"/>
                </a:solidFill>
                <a:latin typeface="Instrument Sans" pitchFamily="34" charset="0"/>
                <a:ea typeface="Instrument Sans" pitchFamily="34" charset="-122"/>
                <a:cs typeface="Assistant" pitchFamily="34" charset="-120"/>
              </a:rPr>
              <a:t>רק מה שזמין כרגע</a:t>
            </a:r>
            <a:endParaRPr lang="he-IL" sz="1400" dirty="0"/>
          </a:p>
        </p:txBody>
      </p:sp>
      <p:sp>
        <p:nvSpPr>
          <p:cNvPr id="39" name="Text 35"/>
          <p:cNvSpPr txBox="1"/>
          <p:nvPr/>
        </p:nvSpPr>
        <p:spPr>
          <a:xfrm>
            <a:off x="758952" y="5532120"/>
            <a:ext cx="10673791" cy="502920"/>
          </a:xfrm>
          <a:prstGeom prst="rect">
            <a:avLst/>
          </a:prstGeom>
          <a:noFill/>
          <a:ln/>
        </p:spPr>
        <p:txBody>
          <a:bodyPr wrap="square" lIns="0" tIns="0" rIns="0" bIns="0" rtlCol="0" anchor="ctr"/>
          <a:lstStyle/>
          <a:p>
            <a:pPr rtl="1" algn="r" indent="0" marL="0">
              <a:buNone/>
            </a:pPr>
            <a:r>
              <a:rPr lang="he-IL" altLang="en-US" sz="2400" dirty="0">
                <a:solidFill>
                  <a:srgbClr val="2B3138"/>
                </a:solidFill>
                <a:latin typeface="Fraunces" pitchFamily="34" charset="0"/>
                <a:ea typeface="Fraunces" pitchFamily="34" charset="-122"/>
                <a:cs typeface="Frank Ruhl Libre" pitchFamily="34" charset="-120"/>
              </a:rPr>
              <a:t>Jev לא רואה את הדפדפן. </a:t>
            </a:r>
            <a:r>
              <a:rPr lang="he-IL" altLang="en-US" sz="2400" dirty="0">
                <a:solidFill>
                  <a:srgbClr val="5F7368"/>
                </a:solidFill>
                <a:latin typeface="Fraunces" pitchFamily="34" charset="0"/>
                <a:ea typeface="Fraunces" pitchFamily="34" charset="-122"/>
                <a:cs typeface="Frank Ruhl Libre" pitchFamily="34" charset="-120"/>
              </a:rPr>
              <a:t>הקוד שלנו מכין לו את המצב ואת הפעולות.</a:t>
            </a:r>
            <a:endParaRPr lang="he-IL" sz="2400" dirty="0"/>
          </a:p>
        </p:txBody>
      </p:sp>
      <p:sp>
        <p:nvSpPr>
          <p:cNvPr id="40" name="Text 36"/>
          <p:cNvSpPr txBox="1"/>
          <p:nvPr/>
        </p:nvSpPr>
        <p:spPr>
          <a:xfrm>
            <a:off x="6860743" y="6336792"/>
            <a:ext cx="4572000" cy="256032"/>
          </a:xfrm>
          <a:prstGeom prst="rect">
            <a:avLst/>
          </a:prstGeom>
          <a:noFill/>
          <a:ln/>
        </p:spPr>
        <p:txBody>
          <a:bodyPr wrap="square" lIns="0" tIns="0" rIns="0" bIns="0" rtlCol="0" anchor="ctr"/>
          <a:lstStyle/>
          <a:p>
            <a:pPr rtl="1" algn="r" indent="0" marL="0">
              <a:buNone/>
            </a:pPr>
            <a:r>
              <a:rPr lang="he-IL" altLang="en-US" sz="1100" dirty="0">
                <a:solidFill>
                  <a:srgbClr val="8B8F93"/>
                </a:solidFill>
                <a:latin typeface="Instrument Sans" pitchFamily="34" charset="0"/>
                <a:ea typeface="Instrument Sans" pitchFamily="34" charset="-122"/>
                <a:cs typeface="Assistant" pitchFamily="34" charset="-120"/>
              </a:rPr>
              <a:t>מתכנן</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b="1" dirty="0">
                <a:solidFill>
                  <a:srgbClr val="5F7368"/>
                </a:solidFill>
                <a:latin typeface="Instrument Sans" pitchFamily="34" charset="0"/>
                <a:ea typeface="Instrument Sans" pitchFamily="34" charset="-122"/>
                <a:cs typeface="Assistant" pitchFamily="34" charset="-120"/>
              </a:rPr>
              <a:t>Jev</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הקוד שלנו</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דפדפן</a:t>
            </a:r>
            <a:endParaRPr lang="he-IL"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10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בחירה שאפשר לחבר לקוד</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Shape 4"/>
          <p:cNvSpPr/>
          <p:nvPr/>
        </p:nvSpPr>
        <p:spPr>
          <a:xfrm>
            <a:off x="758952" y="2103120"/>
            <a:ext cx="7040880" cy="3721608"/>
          </a:xfrm>
          <a:prstGeom prst="rect">
            <a:avLst/>
          </a:prstGeom>
          <a:solidFill>
            <a:srgbClr val="F3EDE2"/>
          </a:solidFill>
          <a:ln w="9525">
            <a:solidFill>
              <a:srgbClr val="D8D2C6"/>
            </a:solidFill>
            <a:prstDash val="solid"/>
          </a:ln>
        </p:spPr>
      </p:sp>
      <p:sp>
        <p:nvSpPr>
          <p:cNvPr id="9" name="Text 5"/>
          <p:cNvSpPr txBox="1"/>
          <p:nvPr/>
        </p:nvSpPr>
        <p:spPr>
          <a:xfrm>
            <a:off x="987552" y="221284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TypeScript</a:t>
            </a:r>
            <a:endParaRPr lang="en-US" sz="1000" dirty="0"/>
          </a:p>
        </p:txBody>
      </p:sp>
      <p:sp>
        <p:nvSpPr>
          <p:cNvPr id="10" name="Shape 6"/>
          <p:cNvSpPr/>
          <p:nvPr/>
        </p:nvSpPr>
        <p:spPr>
          <a:xfrm>
            <a:off x="758952" y="2487168"/>
            <a:ext cx="7040880" cy="0"/>
          </a:xfrm>
          <a:prstGeom prst="line">
            <a:avLst/>
          </a:prstGeom>
          <a:noFill/>
          <a:ln w="9525">
            <a:solidFill>
              <a:srgbClr val="D8D2C6"/>
            </a:solidFill>
            <a:prstDash val="solid"/>
          </a:ln>
        </p:spPr>
      </p:sp>
      <p:sp>
        <p:nvSpPr>
          <p:cNvPr id="11" name="Text 7"/>
          <p:cNvSpPr txBox="1"/>
          <p:nvPr/>
        </p:nvSpPr>
        <p:spPr>
          <a:xfrm>
            <a:off x="868680" y="2514600"/>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1</a:t>
            </a:r>
            <a:endParaRPr lang="en-US" sz="945" dirty="0"/>
          </a:p>
        </p:txBody>
      </p:sp>
      <p:sp>
        <p:nvSpPr>
          <p:cNvPr id="12" name="Text 8"/>
          <p:cNvSpPr txBox="1"/>
          <p:nvPr/>
        </p:nvSpPr>
        <p:spPr>
          <a:xfrm>
            <a:off x="1335024" y="2514600"/>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const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result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5F7368"/>
                </a:solidFill>
                <a:latin typeface="JetBrains Mono" pitchFamily="34" charset="0"/>
                <a:ea typeface="JetBrains Mono" pitchFamily="34" charset="-122"/>
                <a:cs typeface="JetBrains Mono" pitchFamily="34" charset="-120"/>
              </a:rPr>
              <a:t>await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client</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systemOne</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13" name="Shape 9"/>
          <p:cNvSpPr/>
          <p:nvPr/>
        </p:nvSpPr>
        <p:spPr>
          <a:xfrm>
            <a:off x="768096" y="2825496"/>
            <a:ext cx="7022592" cy="310896"/>
          </a:xfrm>
          <a:prstGeom prst="rect">
            <a:avLst/>
          </a:prstGeom>
          <a:solidFill>
            <a:srgbClr val="E9E1D2"/>
          </a:solidFill>
          <a:ln/>
        </p:spPr>
      </p:sp>
      <p:sp>
        <p:nvSpPr>
          <p:cNvPr id="14" name="Text 10"/>
          <p:cNvSpPr txBox="1"/>
          <p:nvPr/>
        </p:nvSpPr>
        <p:spPr>
          <a:xfrm>
            <a:off x="868680" y="2825496"/>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2</a:t>
            </a:r>
            <a:endParaRPr lang="en-US" sz="945" dirty="0"/>
          </a:p>
        </p:txBody>
      </p:sp>
      <p:sp>
        <p:nvSpPr>
          <p:cNvPr id="15" name="Text 11"/>
          <p:cNvSpPr txBox="1"/>
          <p:nvPr/>
        </p:nvSpPr>
        <p:spPr>
          <a:xfrm>
            <a:off x="1335024" y="2825496"/>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state</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compactState</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16" name="Text 12"/>
          <p:cNvSpPr txBox="1"/>
          <p:nvPr/>
        </p:nvSpPr>
        <p:spPr>
          <a:xfrm>
            <a:off x="868680" y="3136392"/>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3</a:t>
            </a:r>
            <a:endParaRPr lang="en-US" sz="945" dirty="0"/>
          </a:p>
        </p:txBody>
      </p:sp>
      <p:sp>
        <p:nvSpPr>
          <p:cNvPr id="17" name="Text 13"/>
          <p:cNvSpPr txBox="1"/>
          <p:nvPr/>
        </p:nvSpPr>
        <p:spPr>
          <a:xfrm>
            <a:off x="1335024" y="3136392"/>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questions</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18" name="Shape 14"/>
          <p:cNvSpPr/>
          <p:nvPr/>
        </p:nvSpPr>
        <p:spPr>
          <a:xfrm>
            <a:off x="768096" y="3447288"/>
            <a:ext cx="7022592" cy="310896"/>
          </a:xfrm>
          <a:prstGeom prst="rect">
            <a:avLst/>
          </a:prstGeom>
          <a:solidFill>
            <a:srgbClr val="E9E1D2"/>
          </a:solidFill>
          <a:ln/>
        </p:spPr>
      </p:sp>
      <p:sp>
        <p:nvSpPr>
          <p:cNvPr id="19" name="Text 15"/>
          <p:cNvSpPr txBox="1"/>
          <p:nvPr/>
        </p:nvSpPr>
        <p:spPr>
          <a:xfrm>
            <a:off x="868680" y="3447288"/>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4</a:t>
            </a:r>
            <a:endParaRPr lang="en-US" sz="945" dirty="0"/>
          </a:p>
        </p:txBody>
      </p:sp>
      <p:sp>
        <p:nvSpPr>
          <p:cNvPr id="20" name="Text 16"/>
          <p:cNvSpPr txBox="1"/>
          <p:nvPr/>
        </p:nvSpPr>
        <p:spPr>
          <a:xfrm>
            <a:off x="1335024" y="3447288"/>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nextAction</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choice</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QUESTION</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21" name="Text 17"/>
          <p:cNvSpPr txBox="1"/>
          <p:nvPr/>
        </p:nvSpPr>
        <p:spPr>
          <a:xfrm>
            <a:off x="868680" y="3758184"/>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5</a:t>
            </a:r>
            <a:endParaRPr lang="en-US" sz="945" dirty="0"/>
          </a:p>
        </p:txBody>
      </p:sp>
      <p:sp>
        <p:nvSpPr>
          <p:cNvPr id="22" name="Text 18"/>
          <p:cNvSpPr txBox="1"/>
          <p:nvPr/>
        </p:nvSpPr>
        <p:spPr>
          <a:xfrm>
            <a:off x="1335024" y="3758184"/>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back_to_results</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5A6067"/>
                </a:solidFill>
                <a:latin typeface="JetBrains Mono" pitchFamily="34" charset="0"/>
                <a:ea typeface="JetBrains Mono" pitchFamily="34" charset="-122"/>
                <a:cs typeface="JetBrains Mono" pitchFamily="34" charset="-120"/>
              </a:rPr>
              <a:t>"Return to the search results"</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23" name="Text 19"/>
          <p:cNvSpPr txBox="1"/>
          <p:nvPr/>
        </p:nvSpPr>
        <p:spPr>
          <a:xfrm>
            <a:off x="868680" y="4069080"/>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6</a:t>
            </a:r>
            <a:endParaRPr lang="en-US" sz="945" dirty="0"/>
          </a:p>
        </p:txBody>
      </p:sp>
      <p:sp>
        <p:nvSpPr>
          <p:cNvPr id="24" name="Text 20"/>
          <p:cNvSpPr txBox="1"/>
          <p:nvPr/>
        </p:nvSpPr>
        <p:spPr>
          <a:xfrm>
            <a:off x="1335024" y="4069080"/>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stop</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5A6067"/>
                </a:solidFill>
                <a:latin typeface="JetBrains Mono" pitchFamily="34" charset="0"/>
                <a:ea typeface="JetBrains Mono" pitchFamily="34" charset="-122"/>
                <a:cs typeface="JetBrains Mono" pitchFamily="34" charset="-120"/>
              </a:rPr>
              <a:t>"Stop and ask the traveler what to change"</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25" name="Text 21"/>
          <p:cNvSpPr txBox="1"/>
          <p:nvPr/>
        </p:nvSpPr>
        <p:spPr>
          <a:xfrm>
            <a:off x="868680" y="4379976"/>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7</a:t>
            </a:r>
            <a:endParaRPr lang="en-US" sz="945" dirty="0"/>
          </a:p>
        </p:txBody>
      </p:sp>
      <p:sp>
        <p:nvSpPr>
          <p:cNvPr id="26" name="Text 22"/>
          <p:cNvSpPr txBox="1"/>
          <p:nvPr/>
        </p:nvSpPr>
        <p:spPr>
          <a:xfrm>
            <a:off x="1335024" y="4379976"/>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27" name="Text 23"/>
          <p:cNvSpPr txBox="1"/>
          <p:nvPr/>
        </p:nvSpPr>
        <p:spPr>
          <a:xfrm>
            <a:off x="868680" y="4690872"/>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8</a:t>
            </a:r>
            <a:endParaRPr lang="en-US" sz="945" dirty="0"/>
          </a:p>
        </p:txBody>
      </p:sp>
      <p:sp>
        <p:nvSpPr>
          <p:cNvPr id="28" name="Text 24"/>
          <p:cNvSpPr txBox="1"/>
          <p:nvPr/>
        </p:nvSpPr>
        <p:spPr>
          <a:xfrm>
            <a:off x="1335024" y="4690872"/>
            <a:ext cx="6236208" cy="310896"/>
          </a:xfrm>
          <a:prstGeom prst="rect">
            <a:avLst/>
          </a:prstGeom>
          <a:noFill/>
          <a:ln/>
        </p:spPr>
        <p:txBody>
          <a:bodyPr wrap="square" lIns="0" tIns="0" rIns="0" bIns="0" rtlCol="0" anchor="ctr"/>
          <a:lstStyle/>
          <a:p>
            <a:pPr algn="l" indent="0" marL="0">
              <a:buNone/>
            </a:pP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29" name="Text 25"/>
          <p:cNvSpPr txBox="1"/>
          <p:nvPr/>
        </p:nvSpPr>
        <p:spPr>
          <a:xfrm>
            <a:off x="868680" y="5001768"/>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9</a:t>
            </a:r>
            <a:endParaRPr lang="en-US" sz="945" dirty="0"/>
          </a:p>
        </p:txBody>
      </p:sp>
      <p:sp>
        <p:nvSpPr>
          <p:cNvPr id="30" name="Text 26"/>
          <p:cNvSpPr txBox="1"/>
          <p:nvPr/>
        </p:nvSpPr>
        <p:spPr>
          <a:xfrm>
            <a:off x="1335024" y="5001768"/>
            <a:ext cx="6236208" cy="310896"/>
          </a:xfrm>
          <a:prstGeom prst="rect">
            <a:avLst/>
          </a:prstGeom>
          <a:noFill/>
          <a:ln/>
        </p:spPr>
        <p:txBody>
          <a:bodyPr wrap="square" lIns="0" tIns="0" rIns="0" bIns="0" rtlCol="0" anchor="ctr"/>
          <a:lstStyle/>
          <a:p>
            <a:pPr algn="l" indent="0" marL="0">
              <a:buNone/>
            </a:pP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31" name="Shape 27"/>
          <p:cNvSpPr/>
          <p:nvPr/>
        </p:nvSpPr>
        <p:spPr>
          <a:xfrm>
            <a:off x="768096" y="5312664"/>
            <a:ext cx="7022592" cy="310896"/>
          </a:xfrm>
          <a:prstGeom prst="rect">
            <a:avLst/>
          </a:prstGeom>
          <a:solidFill>
            <a:srgbClr val="E9E1D2"/>
          </a:solidFill>
          <a:ln/>
        </p:spPr>
      </p:sp>
      <p:sp>
        <p:nvSpPr>
          <p:cNvPr id="32" name="Text 28"/>
          <p:cNvSpPr txBox="1"/>
          <p:nvPr/>
        </p:nvSpPr>
        <p:spPr>
          <a:xfrm>
            <a:off x="868680" y="5312664"/>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10</a:t>
            </a:r>
            <a:endParaRPr lang="en-US" sz="945" dirty="0"/>
          </a:p>
        </p:txBody>
      </p:sp>
      <p:sp>
        <p:nvSpPr>
          <p:cNvPr id="33" name="Text 29"/>
          <p:cNvSpPr txBox="1"/>
          <p:nvPr/>
        </p:nvSpPr>
        <p:spPr>
          <a:xfrm>
            <a:off x="1335024" y="5312664"/>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const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answer</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 </a:t>
            </a:r>
            <a:r>
              <a:rPr lang="en-US" sz="1350" dirty="0">
                <a:solidFill>
                  <a:srgbClr val="2B3138"/>
                </a:solidFill>
                <a:latin typeface="JetBrains Mono" pitchFamily="34" charset="0"/>
                <a:ea typeface="JetBrains Mono" pitchFamily="34" charset="-122"/>
                <a:cs typeface="JetBrains Mono" pitchFamily="34" charset="-120"/>
              </a:rPr>
              <a:t>result</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answers</a:t>
            </a:r>
            <a:r>
              <a:rPr lang="en-US" sz="1350" dirty="0">
                <a:solidFill>
                  <a:srgbClr val="8B8F93"/>
                </a:solidFill>
                <a:latin typeface="JetBrains Mono" pitchFamily="34" charset="0"/>
                <a:ea typeface="JetBrains Mono" pitchFamily="34" charset="-122"/>
                <a:cs typeface="JetBrains Mono" pitchFamily="34" charset="-120"/>
              </a:rPr>
              <a:t>.</a:t>
            </a:r>
            <a:r>
              <a:rPr lang="en-US" sz="1350" dirty="0">
                <a:solidFill>
                  <a:srgbClr val="2B3138"/>
                </a:solidFill>
                <a:latin typeface="JetBrains Mono" pitchFamily="34" charset="0"/>
                <a:ea typeface="JetBrains Mono" pitchFamily="34" charset="-122"/>
                <a:cs typeface="JetBrains Mono" pitchFamily="34" charset="-120"/>
              </a:rPr>
              <a:t>nextAction</a:t>
            </a:r>
            <a:r>
              <a:rPr lang="en-US" sz="1350" dirty="0">
                <a:solidFill>
                  <a:srgbClr val="8B8F93"/>
                </a:solidFill>
                <a:latin typeface="JetBrains Mono" pitchFamily="34" charset="0"/>
                <a:ea typeface="JetBrains Mono" pitchFamily="34" charset="-122"/>
                <a:cs typeface="JetBrains Mono" pitchFamily="34" charset="-120"/>
              </a:rPr>
              <a:t>;</a:t>
            </a:r>
            <a:endParaRPr lang="en-US" sz="1350" dirty="0"/>
          </a:p>
        </p:txBody>
      </p:sp>
      <p:sp>
        <p:nvSpPr>
          <p:cNvPr id="34" name="Text 30"/>
          <p:cNvSpPr txBox="1"/>
          <p:nvPr/>
        </p:nvSpPr>
        <p:spPr>
          <a:xfrm>
            <a:off x="758952" y="5943600"/>
            <a:ext cx="7040880" cy="274320"/>
          </a:xfrm>
          <a:prstGeom prst="rect">
            <a:avLst/>
          </a:prstGeom>
          <a:noFill/>
          <a:ln/>
        </p:spPr>
        <p:txBody>
          <a:bodyPr wrap="square" lIns="0" tIns="0" rIns="0" bIns="0" rtlCol="0" anchor="t"/>
          <a:lstStyle/>
          <a:p>
            <a:pPr rtl="1" algn="r" indent="0" marL="0">
              <a:buNone/>
            </a:pPr>
            <a:r>
              <a:rPr lang="he-IL" altLang="en-US" sz="1200" dirty="0">
                <a:solidFill>
                  <a:srgbClr val="8B8F93"/>
                </a:solidFill>
                <a:latin typeface="Instrument Sans" pitchFamily="34" charset="0"/>
                <a:ea typeface="Instrument Sans" pitchFamily="34" charset="-122"/>
                <a:cs typeface="Assistant" pitchFamily="34" charset="-120"/>
              </a:rPr>
              <a:t>מתוך src/jev.ts ב-wave-lab</a:t>
            </a:r>
            <a:endParaRPr lang="he-IL" sz="1200" dirty="0"/>
          </a:p>
        </p:txBody>
      </p:sp>
      <p:sp>
        <p:nvSpPr>
          <p:cNvPr id="35" name="Shape 31"/>
          <p:cNvSpPr/>
          <p:nvPr/>
        </p:nvSpPr>
        <p:spPr>
          <a:xfrm>
            <a:off x="7388352" y="2862072"/>
            <a:ext cx="237744" cy="237744"/>
          </a:xfrm>
          <a:prstGeom prst="rect">
            <a:avLst/>
          </a:prstGeom>
          <a:solidFill>
            <a:srgbClr val="5F7368"/>
          </a:solidFill>
          <a:ln/>
        </p:spPr>
      </p:sp>
      <p:sp>
        <p:nvSpPr>
          <p:cNvPr id="36" name="Text 32"/>
          <p:cNvSpPr txBox="1"/>
          <p:nvPr/>
        </p:nvSpPr>
        <p:spPr>
          <a:xfrm>
            <a:off x="7388352" y="2862072"/>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1</a:t>
            </a:r>
            <a:endParaRPr lang="en-US" sz="1050" dirty="0"/>
          </a:p>
        </p:txBody>
      </p:sp>
      <p:sp>
        <p:nvSpPr>
          <p:cNvPr id="37" name="Shape 33"/>
          <p:cNvSpPr/>
          <p:nvPr/>
        </p:nvSpPr>
        <p:spPr>
          <a:xfrm>
            <a:off x="7388352" y="3483864"/>
            <a:ext cx="237744" cy="237744"/>
          </a:xfrm>
          <a:prstGeom prst="rect">
            <a:avLst/>
          </a:prstGeom>
          <a:solidFill>
            <a:srgbClr val="5F7368"/>
          </a:solidFill>
          <a:ln/>
        </p:spPr>
      </p:sp>
      <p:sp>
        <p:nvSpPr>
          <p:cNvPr id="38" name="Text 34"/>
          <p:cNvSpPr txBox="1"/>
          <p:nvPr/>
        </p:nvSpPr>
        <p:spPr>
          <a:xfrm>
            <a:off x="7388352" y="3483864"/>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2</a:t>
            </a:r>
            <a:endParaRPr lang="en-US" sz="1050" dirty="0"/>
          </a:p>
        </p:txBody>
      </p:sp>
      <p:sp>
        <p:nvSpPr>
          <p:cNvPr id="39" name="Shape 35"/>
          <p:cNvSpPr/>
          <p:nvPr/>
        </p:nvSpPr>
        <p:spPr>
          <a:xfrm>
            <a:off x="7388352" y="5349240"/>
            <a:ext cx="237744" cy="237744"/>
          </a:xfrm>
          <a:prstGeom prst="rect">
            <a:avLst/>
          </a:prstGeom>
          <a:solidFill>
            <a:srgbClr val="5F7368"/>
          </a:solidFill>
          <a:ln/>
        </p:spPr>
      </p:sp>
      <p:sp>
        <p:nvSpPr>
          <p:cNvPr id="40" name="Text 36"/>
          <p:cNvSpPr txBox="1"/>
          <p:nvPr/>
        </p:nvSpPr>
        <p:spPr>
          <a:xfrm>
            <a:off x="7388352" y="5349240"/>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3</a:t>
            </a:r>
            <a:endParaRPr lang="en-US" sz="1050" dirty="0"/>
          </a:p>
        </p:txBody>
      </p:sp>
      <p:sp>
        <p:nvSpPr>
          <p:cNvPr id="41" name="Shape 37"/>
          <p:cNvSpPr/>
          <p:nvPr/>
        </p:nvSpPr>
        <p:spPr>
          <a:xfrm>
            <a:off x="11158423" y="2167128"/>
            <a:ext cx="274320" cy="274320"/>
          </a:xfrm>
          <a:prstGeom prst="rect">
            <a:avLst/>
          </a:prstGeom>
          <a:solidFill>
            <a:srgbClr val="5F7368"/>
          </a:solidFill>
          <a:ln/>
        </p:spPr>
      </p:sp>
      <p:sp>
        <p:nvSpPr>
          <p:cNvPr id="42" name="Text 38"/>
          <p:cNvSpPr txBox="1"/>
          <p:nvPr/>
        </p:nvSpPr>
        <p:spPr>
          <a:xfrm>
            <a:off x="11158423" y="21671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1</a:t>
            </a:r>
            <a:endParaRPr lang="en-US" sz="1050" dirty="0"/>
          </a:p>
        </p:txBody>
      </p:sp>
      <p:sp>
        <p:nvSpPr>
          <p:cNvPr id="43" name="Text 39"/>
          <p:cNvSpPr txBox="1"/>
          <p:nvPr/>
        </p:nvSpPr>
        <p:spPr>
          <a:xfrm>
            <a:off x="8229600" y="21031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המצב</a:t>
            </a:r>
            <a:endParaRPr lang="he-IL" sz="1900" dirty="0"/>
          </a:p>
        </p:txBody>
      </p:sp>
      <p:sp>
        <p:nvSpPr>
          <p:cNvPr id="44" name="Text 40"/>
          <p:cNvSpPr txBox="1"/>
          <p:nvPr/>
        </p:nvSpPr>
        <p:spPr>
          <a:xfrm>
            <a:off x="8229600" y="25054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מה קורה עכשיו בדף</a:t>
            </a:r>
            <a:endParaRPr lang="he-IL" sz="1400" dirty="0"/>
          </a:p>
        </p:txBody>
      </p:sp>
      <p:sp>
        <p:nvSpPr>
          <p:cNvPr id="45" name="Shape 41"/>
          <p:cNvSpPr/>
          <p:nvPr/>
        </p:nvSpPr>
        <p:spPr>
          <a:xfrm>
            <a:off x="8229600" y="2907792"/>
            <a:ext cx="3203143" cy="0"/>
          </a:xfrm>
          <a:prstGeom prst="line">
            <a:avLst/>
          </a:prstGeom>
          <a:noFill/>
          <a:ln w="9525">
            <a:solidFill>
              <a:srgbClr val="E4E0D6"/>
            </a:solidFill>
            <a:prstDash val="solid"/>
          </a:ln>
        </p:spPr>
      </p:sp>
      <p:sp>
        <p:nvSpPr>
          <p:cNvPr id="46" name="Shape 42"/>
          <p:cNvSpPr/>
          <p:nvPr/>
        </p:nvSpPr>
        <p:spPr>
          <a:xfrm>
            <a:off x="11158423" y="3081528"/>
            <a:ext cx="274320" cy="274320"/>
          </a:xfrm>
          <a:prstGeom prst="rect">
            <a:avLst/>
          </a:prstGeom>
          <a:solidFill>
            <a:srgbClr val="5F7368"/>
          </a:solidFill>
          <a:ln/>
        </p:spPr>
      </p:sp>
      <p:sp>
        <p:nvSpPr>
          <p:cNvPr id="47" name="Text 43"/>
          <p:cNvSpPr txBox="1"/>
          <p:nvPr/>
        </p:nvSpPr>
        <p:spPr>
          <a:xfrm>
            <a:off x="11158423" y="30815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2</a:t>
            </a:r>
            <a:endParaRPr lang="en-US" sz="1050" dirty="0"/>
          </a:p>
        </p:txBody>
      </p:sp>
      <p:sp>
        <p:nvSpPr>
          <p:cNvPr id="48" name="Text 44"/>
          <p:cNvSpPr txBox="1"/>
          <p:nvPr/>
        </p:nvSpPr>
        <p:spPr>
          <a:xfrm>
            <a:off x="8229600" y="30175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האפשרויות</a:t>
            </a:r>
            <a:endParaRPr lang="he-IL" sz="1900" dirty="0"/>
          </a:p>
        </p:txBody>
      </p:sp>
      <p:sp>
        <p:nvSpPr>
          <p:cNvPr id="49" name="Text 45"/>
          <p:cNvSpPr txBox="1"/>
          <p:nvPr/>
        </p:nvSpPr>
        <p:spPr>
          <a:xfrm>
            <a:off x="8229600" y="34198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רשימה סגורה שהקוד שלנו נותן</a:t>
            </a:r>
            <a:endParaRPr lang="he-IL" sz="1400" dirty="0"/>
          </a:p>
        </p:txBody>
      </p:sp>
      <p:sp>
        <p:nvSpPr>
          <p:cNvPr id="50" name="Shape 46"/>
          <p:cNvSpPr/>
          <p:nvPr/>
        </p:nvSpPr>
        <p:spPr>
          <a:xfrm>
            <a:off x="8229600" y="3822192"/>
            <a:ext cx="3203143" cy="0"/>
          </a:xfrm>
          <a:prstGeom prst="line">
            <a:avLst/>
          </a:prstGeom>
          <a:noFill/>
          <a:ln w="9525">
            <a:solidFill>
              <a:srgbClr val="E4E0D6"/>
            </a:solidFill>
            <a:prstDash val="solid"/>
          </a:ln>
        </p:spPr>
      </p:sp>
      <p:sp>
        <p:nvSpPr>
          <p:cNvPr id="51" name="Shape 47"/>
          <p:cNvSpPr/>
          <p:nvPr/>
        </p:nvSpPr>
        <p:spPr>
          <a:xfrm>
            <a:off x="11158423" y="3995928"/>
            <a:ext cx="274320" cy="274320"/>
          </a:xfrm>
          <a:prstGeom prst="rect">
            <a:avLst/>
          </a:prstGeom>
          <a:solidFill>
            <a:srgbClr val="5F7368"/>
          </a:solidFill>
          <a:ln/>
        </p:spPr>
      </p:sp>
      <p:sp>
        <p:nvSpPr>
          <p:cNvPr id="52" name="Text 48"/>
          <p:cNvSpPr txBox="1"/>
          <p:nvPr/>
        </p:nvSpPr>
        <p:spPr>
          <a:xfrm>
            <a:off x="11158423" y="39959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3</a:t>
            </a:r>
            <a:endParaRPr lang="en-US" sz="1050" dirty="0"/>
          </a:p>
        </p:txBody>
      </p:sp>
      <p:sp>
        <p:nvSpPr>
          <p:cNvPr id="53" name="Text 49"/>
          <p:cNvSpPr txBox="1"/>
          <p:nvPr/>
        </p:nvSpPr>
        <p:spPr>
          <a:xfrm>
            <a:off x="8229600" y="39319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המזהה שחוזר</a:t>
            </a:r>
            <a:endParaRPr lang="he-IL" sz="1900" dirty="0"/>
          </a:p>
        </p:txBody>
      </p:sp>
      <p:sp>
        <p:nvSpPr>
          <p:cNvPr id="54" name="Text 50"/>
          <p:cNvSpPr txBox="1"/>
          <p:nvPr/>
        </p:nvSpPr>
        <p:spPr>
          <a:xfrm>
            <a:off x="8229600" y="43342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back_to_results או stop</a:t>
            </a:r>
            <a:endParaRPr lang="he-IL" sz="1400" dirty="0"/>
          </a:p>
        </p:txBody>
      </p:sp>
      <p:sp>
        <p:nvSpPr>
          <p:cNvPr id="55" name="Shape 51"/>
          <p:cNvSpPr/>
          <p:nvPr/>
        </p:nvSpPr>
        <p:spPr>
          <a:xfrm>
            <a:off x="8229600" y="4736592"/>
            <a:ext cx="3203143" cy="0"/>
          </a:xfrm>
          <a:prstGeom prst="line">
            <a:avLst/>
          </a:prstGeom>
          <a:noFill/>
          <a:ln w="9525">
            <a:solidFill>
              <a:srgbClr val="E4E0D6"/>
            </a:solidFill>
            <a:prstDash val="solid"/>
          </a:ln>
        </p:spPr>
      </p:sp>
      <p:sp>
        <p:nvSpPr>
          <p:cNvPr id="56" name="Text 52"/>
          <p:cNvSpPr txBox="1"/>
          <p:nvPr/>
        </p:nvSpPr>
        <p:spPr>
          <a:xfrm>
            <a:off x="8229600" y="4892040"/>
            <a:ext cx="3203143" cy="914400"/>
          </a:xfrm>
          <a:prstGeom prst="rect">
            <a:avLst/>
          </a:prstGeom>
          <a:noFill/>
          <a:ln/>
        </p:spPr>
        <p:txBody>
          <a:bodyPr wrap="square" lIns="0" tIns="0" rIns="0" bIns="0" rtlCol="0" anchor="t"/>
          <a:lstStyle/>
          <a:p>
            <a:pPr rtl="1" algn="r" indent="0" marL="0">
              <a:buNone/>
            </a:pPr>
            <a:r>
              <a:rPr lang="he-IL" altLang="en-US" sz="2500" dirty="0">
                <a:solidFill>
                  <a:srgbClr val="5F7368"/>
                </a:solidFill>
                <a:latin typeface="Fraunces" pitchFamily="34" charset="0"/>
                <a:ea typeface="Fraunces" pitchFamily="34" charset="-122"/>
                <a:cs typeface="Frank Ruhl Libre" pitchFamily="34" charset="-120"/>
              </a:rPr>
              <a:t>לא פסקה.</a:t>
            </a:r>
            <a:endParaRPr lang="he-IL" sz="2500" dirty="0"/>
          </a:p>
          <a:p>
            <a:pPr rtl="1" algn="r" indent="0" marL="0">
              <a:buNone/>
            </a:pPr>
            <a:r>
              <a:rPr lang="he-IL" altLang="en-US" sz="2500" dirty="0">
                <a:solidFill>
                  <a:srgbClr val="5F7368"/>
                </a:solidFill>
                <a:latin typeface="Fraunces" pitchFamily="34" charset="0"/>
                <a:ea typeface="Fraunces" pitchFamily="34" charset="-122"/>
                <a:cs typeface="Frank Ruhl Libre" pitchFamily="34" charset="-120"/>
              </a:rPr>
              <a:t>מזהה מתוך רשימה.</a:t>
            </a:r>
            <a:endParaRPr lang="he-IL" sz="2500" dirty="0"/>
          </a:p>
        </p:txBody>
      </p:sp>
      <p:sp>
        <p:nvSpPr>
          <p:cNvPr id="57" name="Text 53"/>
          <p:cNvSpPr txBox="1"/>
          <p:nvPr/>
        </p:nvSpPr>
        <p:spPr>
          <a:xfrm>
            <a:off x="6860743" y="6336792"/>
            <a:ext cx="4572000" cy="256032"/>
          </a:xfrm>
          <a:prstGeom prst="rect">
            <a:avLst/>
          </a:prstGeom>
          <a:noFill/>
          <a:ln/>
        </p:spPr>
        <p:txBody>
          <a:bodyPr wrap="square" lIns="0" tIns="0" rIns="0" bIns="0" rtlCol="0" anchor="ctr"/>
          <a:lstStyle/>
          <a:p>
            <a:pPr rtl="1" algn="r" indent="0" marL="0">
              <a:buNone/>
            </a:pPr>
            <a:r>
              <a:rPr lang="he-IL" altLang="en-US" sz="1100" dirty="0">
                <a:solidFill>
                  <a:srgbClr val="8B8F93"/>
                </a:solidFill>
                <a:latin typeface="Instrument Sans" pitchFamily="34" charset="0"/>
                <a:ea typeface="Instrument Sans" pitchFamily="34" charset="-122"/>
                <a:cs typeface="Assistant" pitchFamily="34" charset="-120"/>
              </a:rPr>
              <a:t>מתכנן</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b="1" dirty="0">
                <a:solidFill>
                  <a:srgbClr val="5F7368"/>
                </a:solidFill>
                <a:latin typeface="Instrument Sans" pitchFamily="34" charset="0"/>
                <a:ea typeface="Instrument Sans" pitchFamily="34" charset="-122"/>
                <a:cs typeface="Assistant" pitchFamily="34" charset="-120"/>
              </a:rPr>
              <a:t>Jev</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הקוד שלנו</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דפדפן</a:t>
            </a:r>
            <a:endParaRPr lang="he-IL"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11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בחירה תקינה יכולה להיות שגויה</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758952" y="1874520"/>
            <a:ext cx="10673791" cy="329184"/>
          </a:xfrm>
          <a:prstGeom prst="rect">
            <a:avLst/>
          </a:prstGeom>
          <a:noFill/>
          <a:ln/>
        </p:spPr>
        <p:txBody>
          <a:bodyPr wrap="square" lIns="0" tIns="0" rIns="0" bIns="0" rtlCol="0" anchor="ctr"/>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בדף של מלון B, הפעולות הזמינות:  </a:t>
            </a:r>
            <a:r>
              <a:rPr lang="he-IL" altLang="en-US" sz="1300" dirty="0">
                <a:solidFill>
                  <a:srgbClr val="2B3138"/>
                </a:solidFill>
                <a:latin typeface="JetBrains Mono" pitchFamily="34" charset="0"/>
                <a:ea typeface="JetBrains Mono" pitchFamily="34" charset="-122"/>
                <a:cs typeface="JetBrains Mono" pitchFamily="34" charset="-120"/>
              </a:rPr>
              <a:t>select_hotel · back_to_results · stop</a:t>
            </a:r>
            <a:endParaRPr lang="he-IL" sz="1500" dirty="0"/>
          </a:p>
        </p:txBody>
      </p:sp>
      <p:sp>
        <p:nvSpPr>
          <p:cNvPr id="9" name="Shape 5"/>
          <p:cNvSpPr/>
          <p:nvPr/>
        </p:nvSpPr>
        <p:spPr>
          <a:xfrm>
            <a:off x="6095848" y="2514600"/>
            <a:ext cx="0" cy="2240280"/>
          </a:xfrm>
          <a:prstGeom prst="line">
            <a:avLst/>
          </a:prstGeom>
          <a:noFill/>
          <a:ln w="9525">
            <a:solidFill>
              <a:srgbClr val="E4E0D6"/>
            </a:solidFill>
            <a:prstDash val="solid"/>
          </a:ln>
        </p:spPr>
      </p:sp>
      <p:sp>
        <p:nvSpPr>
          <p:cNvPr id="10" name="Text 6"/>
          <p:cNvSpPr txBox="1"/>
          <p:nvPr/>
        </p:nvSpPr>
        <p:spPr>
          <a:xfrm>
            <a:off x="6507328" y="2514600"/>
            <a:ext cx="4925416" cy="777240"/>
          </a:xfrm>
          <a:prstGeom prst="rect">
            <a:avLst/>
          </a:prstGeom>
          <a:noFill/>
          <a:ln/>
        </p:spPr>
        <p:txBody>
          <a:bodyPr wrap="square" lIns="0" tIns="0" rIns="0" bIns="0" rtlCol="0" anchor="ctr"/>
          <a:lstStyle/>
          <a:p>
            <a:pPr rtl="1" algn="r" indent="0" marL="0">
              <a:buNone/>
            </a:pPr>
            <a:r>
              <a:rPr lang="he-IL" altLang="en-US" sz="4600" dirty="0">
                <a:solidFill>
                  <a:srgbClr val="2B3138"/>
                </a:solidFill>
                <a:latin typeface="Fraunces" pitchFamily="34" charset="0"/>
                <a:ea typeface="Fraunces" pitchFamily="34" charset="-122"/>
                <a:cs typeface="Frank Ruhl Libre" pitchFamily="34" charset="-120"/>
              </a:rPr>
              <a:t>תקינה</a:t>
            </a:r>
            <a:endParaRPr lang="he-IL" sz="4600" dirty="0"/>
          </a:p>
        </p:txBody>
      </p:sp>
      <p:sp>
        <p:nvSpPr>
          <p:cNvPr id="11" name="Text 7"/>
          <p:cNvSpPr txBox="1"/>
          <p:nvPr/>
        </p:nvSpPr>
        <p:spPr>
          <a:xfrm>
            <a:off x="6507328" y="3337560"/>
            <a:ext cx="4925416" cy="347472"/>
          </a:xfrm>
          <a:prstGeom prst="rect">
            <a:avLst/>
          </a:prstGeom>
          <a:noFill/>
          <a:ln/>
        </p:spPr>
        <p:txBody>
          <a:bodyPr wrap="square" lIns="0" tIns="0" rIns="0" bIns="0" rtlCol="0" anchor="t"/>
          <a:lstStyle/>
          <a:p>
            <a:pPr rtl="1" algn="r" indent="0" marL="0">
              <a:buNone/>
            </a:pPr>
            <a:r>
              <a:rPr lang="he-IL" altLang="en-US" sz="1800" b="1" dirty="0">
                <a:solidFill>
                  <a:srgbClr val="2B3138"/>
                </a:solidFill>
                <a:latin typeface="Instrument Sans" pitchFamily="34" charset="0"/>
                <a:ea typeface="Instrument Sans" pitchFamily="34" charset="-122"/>
                <a:cs typeface="Assistant" pitchFamily="34" charset="-120"/>
              </a:rPr>
              <a:t>בחירה מתוך הרשימה</a:t>
            </a:r>
            <a:endParaRPr lang="he-IL" sz="1800" dirty="0"/>
          </a:p>
        </p:txBody>
      </p:sp>
      <p:sp>
        <p:nvSpPr>
          <p:cNvPr id="12" name="Text 8"/>
          <p:cNvSpPr txBox="1"/>
          <p:nvPr/>
        </p:nvSpPr>
        <p:spPr>
          <a:xfrm>
            <a:off x="6507328" y="3685032"/>
            <a:ext cx="4925416" cy="310896"/>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המזהה קיים ובפורמט תקין</a:t>
            </a:r>
            <a:endParaRPr lang="he-IL" sz="1500" dirty="0"/>
          </a:p>
        </p:txBody>
      </p:sp>
      <p:sp>
        <p:nvSpPr>
          <p:cNvPr id="13" name="Shape 9"/>
          <p:cNvSpPr/>
          <p:nvPr/>
        </p:nvSpPr>
        <p:spPr>
          <a:xfrm>
            <a:off x="6507328" y="4160520"/>
            <a:ext cx="4925416" cy="548640"/>
          </a:xfrm>
          <a:prstGeom prst="rect">
            <a:avLst/>
          </a:prstGeom>
          <a:solidFill>
            <a:srgbClr val="F3EDE2"/>
          </a:solidFill>
          <a:ln w="9525">
            <a:solidFill>
              <a:srgbClr val="D8D2C6"/>
            </a:solidFill>
            <a:prstDash val="solid"/>
          </a:ln>
        </p:spPr>
      </p:sp>
      <p:sp>
        <p:nvSpPr>
          <p:cNvPr id="14" name="Text 10"/>
          <p:cNvSpPr txBox="1"/>
          <p:nvPr/>
        </p:nvSpPr>
        <p:spPr>
          <a:xfrm>
            <a:off x="6735928" y="4160520"/>
            <a:ext cx="2377440" cy="548640"/>
          </a:xfrm>
          <a:prstGeom prst="rect">
            <a:avLst/>
          </a:prstGeom>
          <a:noFill/>
          <a:ln/>
        </p:spPr>
        <p:txBody>
          <a:bodyPr wrap="square" lIns="0" tIns="0" rIns="0" bIns="0" rtlCol="0" anchor="ctr"/>
          <a:lstStyle/>
          <a:p>
            <a:pPr algn="l" indent="0" marL="0">
              <a:buNone/>
            </a:pPr>
            <a:r>
              <a:rPr lang="en-US" sz="1300" dirty="0">
                <a:solidFill>
                  <a:srgbClr val="5F7368"/>
                </a:solidFill>
                <a:latin typeface="JetBrains Mono" pitchFamily="34" charset="0"/>
                <a:ea typeface="JetBrains Mono" pitchFamily="34" charset="-122"/>
                <a:cs typeface="JetBrains Mono" pitchFamily="34" charset="-120"/>
              </a:rPr>
              <a:t>choice: </a:t>
            </a:r>
            <a:r>
              <a:rPr lang="en-US" sz="1300" dirty="0">
                <a:solidFill>
                  <a:srgbClr val="2B3138"/>
                </a:solidFill>
                <a:latin typeface="JetBrains Mono" pitchFamily="34" charset="0"/>
                <a:ea typeface="JetBrains Mono" pitchFamily="34" charset="-122"/>
                <a:cs typeface="JetBrains Mono" pitchFamily="34" charset="-120"/>
              </a:rPr>
              <a:t>select_hotel</a:t>
            </a:r>
            <a:endParaRPr lang="en-US" sz="1300" dirty="0"/>
          </a:p>
        </p:txBody>
      </p:sp>
      <p:pic>
        <p:nvPicPr>
          <p:cNvPr id="15" name="Image 1" descr="/home/claude/b2/FiCheck_g.png">    </p:cNvPr>
          <p:cNvPicPr>
            <a:picLocks noChangeAspect="1"/>
          </p:cNvPicPr>
          <p:nvPr/>
        </p:nvPicPr>
        <p:blipFill>
          <a:blip r:embed="rId2"/>
          <a:stretch>
            <a:fillRect/>
          </a:stretch>
        </p:blipFill>
        <p:spPr>
          <a:xfrm>
            <a:off x="11021263" y="4297680"/>
            <a:ext cx="274320" cy="274320"/>
          </a:xfrm>
          <a:prstGeom prst="rect">
            <a:avLst/>
          </a:prstGeom>
        </p:spPr>
      </p:pic>
      <p:sp>
        <p:nvSpPr>
          <p:cNvPr id="16" name="Text 11"/>
          <p:cNvSpPr txBox="1"/>
          <p:nvPr/>
        </p:nvSpPr>
        <p:spPr>
          <a:xfrm>
            <a:off x="8884768" y="4160520"/>
            <a:ext cx="2045056" cy="548640"/>
          </a:xfrm>
          <a:prstGeom prst="rect">
            <a:avLst/>
          </a:prstGeom>
          <a:noFill/>
          <a:ln/>
        </p:spPr>
        <p:txBody>
          <a:bodyPr wrap="square" lIns="0" tIns="0" rIns="0" bIns="0" rtlCol="0" anchor="ctr"/>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המזהה קיים ברשימה</a:t>
            </a:r>
            <a:endParaRPr lang="he-IL" sz="1400" dirty="0"/>
          </a:p>
        </p:txBody>
      </p:sp>
      <p:sp>
        <p:nvSpPr>
          <p:cNvPr id="17" name="Text 12"/>
          <p:cNvSpPr txBox="1"/>
          <p:nvPr/>
        </p:nvSpPr>
        <p:spPr>
          <a:xfrm>
            <a:off x="758952" y="2514600"/>
            <a:ext cx="4925416" cy="777240"/>
          </a:xfrm>
          <a:prstGeom prst="rect">
            <a:avLst/>
          </a:prstGeom>
          <a:noFill/>
          <a:ln/>
        </p:spPr>
        <p:txBody>
          <a:bodyPr wrap="square" lIns="0" tIns="0" rIns="0" bIns="0" rtlCol="0" anchor="ctr"/>
          <a:lstStyle/>
          <a:p>
            <a:pPr rtl="1" algn="r" indent="0" marL="0">
              <a:buNone/>
            </a:pPr>
            <a:r>
              <a:rPr lang="he-IL" altLang="en-US" sz="4600" dirty="0">
                <a:solidFill>
                  <a:srgbClr val="2B3138"/>
                </a:solidFill>
                <a:latin typeface="Fraunces" pitchFamily="34" charset="0"/>
                <a:ea typeface="Fraunces" pitchFamily="34" charset="-122"/>
                <a:cs typeface="Frank Ruhl Libre" pitchFamily="34" charset="-120"/>
              </a:rPr>
              <a:t>נכונה</a:t>
            </a:r>
            <a:endParaRPr lang="he-IL" sz="4600" dirty="0"/>
          </a:p>
        </p:txBody>
      </p:sp>
      <p:sp>
        <p:nvSpPr>
          <p:cNvPr id="18" name="Text 13"/>
          <p:cNvSpPr txBox="1"/>
          <p:nvPr/>
        </p:nvSpPr>
        <p:spPr>
          <a:xfrm>
            <a:off x="758952" y="3337560"/>
            <a:ext cx="4925416" cy="347472"/>
          </a:xfrm>
          <a:prstGeom prst="rect">
            <a:avLst/>
          </a:prstGeom>
          <a:noFill/>
          <a:ln/>
        </p:spPr>
        <p:txBody>
          <a:bodyPr wrap="square" lIns="0" tIns="0" rIns="0" bIns="0" rtlCol="0" anchor="t"/>
          <a:lstStyle/>
          <a:p>
            <a:pPr rtl="1" algn="r" indent="0" marL="0">
              <a:buNone/>
            </a:pPr>
            <a:r>
              <a:rPr lang="he-IL" altLang="en-US" sz="1800" b="1" dirty="0">
                <a:solidFill>
                  <a:srgbClr val="2B3138"/>
                </a:solidFill>
                <a:latin typeface="Instrument Sans" pitchFamily="34" charset="0"/>
                <a:ea typeface="Instrument Sans" pitchFamily="34" charset="-122"/>
                <a:cs typeface="Assistant" pitchFamily="34" charset="-120"/>
              </a:rPr>
              <a:t>מתאימה למטרה</a:t>
            </a:r>
            <a:endParaRPr lang="he-IL" sz="1800" dirty="0"/>
          </a:p>
        </p:txBody>
      </p:sp>
      <p:sp>
        <p:nvSpPr>
          <p:cNvPr id="19" name="Text 14"/>
          <p:cNvSpPr txBox="1"/>
          <p:nvPr/>
        </p:nvSpPr>
        <p:spPr>
          <a:xfrm>
            <a:off x="758952" y="3685032"/>
            <a:ext cx="4925416" cy="310896"/>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וגם למצב הנוכחי</a:t>
            </a:r>
            <a:endParaRPr lang="he-IL" sz="1500" dirty="0"/>
          </a:p>
        </p:txBody>
      </p:sp>
      <p:sp>
        <p:nvSpPr>
          <p:cNvPr id="20" name="Shape 15"/>
          <p:cNvSpPr/>
          <p:nvPr/>
        </p:nvSpPr>
        <p:spPr>
          <a:xfrm>
            <a:off x="758952" y="4160520"/>
            <a:ext cx="4925416" cy="548640"/>
          </a:xfrm>
          <a:prstGeom prst="rect">
            <a:avLst/>
          </a:prstGeom>
          <a:solidFill>
            <a:srgbClr val="F3EDE2"/>
          </a:solidFill>
          <a:ln w="9525">
            <a:solidFill>
              <a:srgbClr val="D8D2C6"/>
            </a:solidFill>
            <a:prstDash val="solid"/>
          </a:ln>
        </p:spPr>
      </p:sp>
      <p:sp>
        <p:nvSpPr>
          <p:cNvPr id="21" name="Text 16"/>
          <p:cNvSpPr txBox="1"/>
          <p:nvPr/>
        </p:nvSpPr>
        <p:spPr>
          <a:xfrm>
            <a:off x="987552" y="4160520"/>
            <a:ext cx="2377440" cy="548640"/>
          </a:xfrm>
          <a:prstGeom prst="rect">
            <a:avLst/>
          </a:prstGeom>
          <a:noFill/>
          <a:ln/>
        </p:spPr>
        <p:txBody>
          <a:bodyPr wrap="square" lIns="0" tIns="0" rIns="0" bIns="0" rtlCol="0" anchor="ctr"/>
          <a:lstStyle/>
          <a:p>
            <a:pPr algn="l" indent="0" marL="0">
              <a:buNone/>
            </a:pPr>
            <a:r>
              <a:rPr lang="en-US" sz="1300" dirty="0">
                <a:solidFill>
                  <a:srgbClr val="5F7368"/>
                </a:solidFill>
                <a:latin typeface="JetBrains Mono" pitchFamily="34" charset="0"/>
                <a:ea typeface="JetBrains Mono" pitchFamily="34" charset="-122"/>
                <a:cs typeface="JetBrains Mono" pitchFamily="34" charset="-120"/>
              </a:rPr>
              <a:t>choice: </a:t>
            </a:r>
            <a:r>
              <a:rPr lang="en-US" sz="1300" dirty="0">
                <a:solidFill>
                  <a:srgbClr val="2B3138"/>
                </a:solidFill>
                <a:latin typeface="JetBrains Mono" pitchFamily="34" charset="0"/>
                <a:ea typeface="JetBrains Mono" pitchFamily="34" charset="-122"/>
                <a:cs typeface="JetBrains Mono" pitchFamily="34" charset="-120"/>
              </a:rPr>
              <a:t>select_hotel</a:t>
            </a:r>
            <a:endParaRPr lang="en-US" sz="1300" dirty="0"/>
          </a:p>
        </p:txBody>
      </p:sp>
      <p:pic>
        <p:nvPicPr>
          <p:cNvPr id="22" name="Image 2" descr="/home/claude/b2/FiX_r.png">    </p:cNvPr>
          <p:cNvPicPr>
            <a:picLocks noChangeAspect="1"/>
          </p:cNvPicPr>
          <p:nvPr/>
        </p:nvPicPr>
        <p:blipFill>
          <a:blip r:embed="rId3"/>
          <a:stretch>
            <a:fillRect/>
          </a:stretch>
        </p:blipFill>
        <p:spPr>
          <a:xfrm>
            <a:off x="5272888" y="4297680"/>
            <a:ext cx="274320" cy="274320"/>
          </a:xfrm>
          <a:prstGeom prst="rect">
            <a:avLst/>
          </a:prstGeom>
        </p:spPr>
      </p:pic>
      <p:sp>
        <p:nvSpPr>
          <p:cNvPr id="23" name="Text 17"/>
          <p:cNvSpPr txBox="1"/>
          <p:nvPr/>
        </p:nvSpPr>
        <p:spPr>
          <a:xfrm>
            <a:off x="3136392" y="4160520"/>
            <a:ext cx="2045056" cy="548640"/>
          </a:xfrm>
          <a:prstGeom prst="rect">
            <a:avLst/>
          </a:prstGeom>
          <a:noFill/>
          <a:ln/>
        </p:spPr>
        <p:txBody>
          <a:bodyPr wrap="square" lIns="0" tIns="0" rIns="0" bIns="0" rtlCol="0" anchor="ctr"/>
          <a:lstStyle/>
          <a:p>
            <a:pPr rtl="1" algn="r" indent="0" marL="0">
              <a:buNone/>
            </a:pPr>
            <a:r>
              <a:rPr lang="he-IL" altLang="en-US" sz="1400" b="1" dirty="0">
                <a:solidFill>
                  <a:srgbClr val="A6423F"/>
                </a:solidFill>
                <a:latin typeface="Instrument Sans" pitchFamily="34" charset="0"/>
                <a:ea typeface="Instrument Sans" pitchFamily="34" charset="-122"/>
                <a:cs typeface="Assistant" pitchFamily="34" charset="-120"/>
              </a:rPr>
              <a:t>אבל מלון B לא נגיש</a:t>
            </a:r>
            <a:endParaRPr lang="he-IL" sz="1400" dirty="0"/>
          </a:p>
        </p:txBody>
      </p:sp>
      <p:sp>
        <p:nvSpPr>
          <p:cNvPr id="24" name="Shape 18"/>
          <p:cNvSpPr/>
          <p:nvPr/>
        </p:nvSpPr>
        <p:spPr>
          <a:xfrm>
            <a:off x="758952" y="5029200"/>
            <a:ext cx="10673791" cy="0"/>
          </a:xfrm>
          <a:prstGeom prst="line">
            <a:avLst/>
          </a:prstGeom>
          <a:noFill/>
          <a:ln w="9525">
            <a:solidFill>
              <a:srgbClr val="E4E0D6"/>
            </a:solidFill>
            <a:prstDash val="solid"/>
          </a:ln>
        </p:spPr>
      </p:sp>
      <p:sp>
        <p:nvSpPr>
          <p:cNvPr id="25" name="Text 19"/>
          <p:cNvSpPr txBox="1"/>
          <p:nvPr/>
        </p:nvSpPr>
        <p:spPr>
          <a:xfrm>
            <a:off x="758952" y="5166360"/>
            <a:ext cx="10673791" cy="502920"/>
          </a:xfrm>
          <a:prstGeom prst="rect">
            <a:avLst/>
          </a:prstGeom>
          <a:noFill/>
          <a:ln/>
        </p:spPr>
        <p:txBody>
          <a:bodyPr wrap="square" lIns="0" tIns="0" rIns="0" bIns="0" rtlCol="0" anchor="ctr"/>
          <a:lstStyle/>
          <a:p>
            <a:pPr rtl="1" algn="r" indent="0" marL="0">
              <a:buNone/>
            </a:pPr>
            <a:r>
              <a:rPr lang="he-IL" altLang="en-US" sz="2500" dirty="0">
                <a:solidFill>
                  <a:srgbClr val="2B3138"/>
                </a:solidFill>
                <a:latin typeface="Fraunces" pitchFamily="34" charset="0"/>
                <a:ea typeface="Fraunces" pitchFamily="34" charset="-122"/>
                <a:cs typeface="Frank Ruhl Libre" pitchFamily="34" charset="-120"/>
              </a:rPr>
              <a:t>גם confidence גבוה לא מחליף בדיקה.</a:t>
            </a:r>
            <a:endParaRPr lang="he-IL" sz="2500" dirty="0"/>
          </a:p>
        </p:txBody>
      </p:sp>
      <p:sp>
        <p:nvSpPr>
          <p:cNvPr id="26" name="Text 20"/>
          <p:cNvSpPr txBox="1"/>
          <p:nvPr/>
        </p:nvSpPr>
        <p:spPr>
          <a:xfrm>
            <a:off x="758952" y="5687568"/>
            <a:ext cx="10673791" cy="320040"/>
          </a:xfrm>
          <a:prstGeom prst="rect">
            <a:avLst/>
          </a:prstGeom>
          <a:noFill/>
          <a:ln/>
        </p:spPr>
        <p:txBody>
          <a:bodyPr wrap="square" lIns="0" tIns="0" rIns="0" bIns="0" rtlCol="0" anchor="t"/>
          <a:lstStyle/>
          <a:p>
            <a:pPr rtl="1" algn="r" indent="0" marL="0">
              <a:buNone/>
            </a:pPr>
            <a:r>
              <a:rPr lang="he-IL" altLang="en-US" sz="1500" dirty="0">
                <a:solidFill>
                  <a:srgbClr val="5A6067"/>
                </a:solidFill>
                <a:latin typeface="Instrument Sans" pitchFamily="34" charset="0"/>
                <a:ea typeface="Instrument Sans" pitchFamily="34" charset="-122"/>
                <a:cs typeface="Assistant" pitchFamily="34" charset="-120"/>
              </a:rPr>
              <a:t>ביטחון גבוה אומר שהמודל בטוח, לא שהוא צודק.</a:t>
            </a:r>
            <a:endParaRPr lang="he-IL" sz="1500" dirty="0"/>
          </a:p>
        </p:txBody>
      </p:sp>
      <p:sp>
        <p:nvSpPr>
          <p:cNvPr id="27" name="Text 21"/>
          <p:cNvSpPr txBox="1"/>
          <p:nvPr/>
        </p:nvSpPr>
        <p:spPr>
          <a:xfrm>
            <a:off x="6860743" y="6336792"/>
            <a:ext cx="4572000" cy="256032"/>
          </a:xfrm>
          <a:prstGeom prst="rect">
            <a:avLst/>
          </a:prstGeom>
          <a:noFill/>
          <a:ln/>
        </p:spPr>
        <p:txBody>
          <a:bodyPr wrap="square" lIns="0" tIns="0" rIns="0" bIns="0" rtlCol="0" anchor="ctr"/>
          <a:lstStyle/>
          <a:p>
            <a:pPr rtl="1" algn="r" indent="0" marL="0">
              <a:buNone/>
            </a:pPr>
            <a:r>
              <a:rPr lang="he-IL" altLang="en-US" sz="1100" dirty="0">
                <a:solidFill>
                  <a:srgbClr val="8B8F93"/>
                </a:solidFill>
                <a:latin typeface="Instrument Sans" pitchFamily="34" charset="0"/>
                <a:ea typeface="Instrument Sans" pitchFamily="34" charset="-122"/>
                <a:cs typeface="Assistant" pitchFamily="34" charset="-120"/>
              </a:rPr>
              <a:t>מתכנן</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b="1" dirty="0">
                <a:solidFill>
                  <a:srgbClr val="5F7368"/>
                </a:solidFill>
                <a:latin typeface="Instrument Sans" pitchFamily="34" charset="0"/>
                <a:ea typeface="Instrument Sans" pitchFamily="34" charset="-122"/>
                <a:cs typeface="Assistant" pitchFamily="34" charset="-120"/>
              </a:rPr>
              <a:t>Jev</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הקוד שלנו</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דפדפן</a:t>
            </a:r>
            <a:endParaRPr lang="he-IL" sz="11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de 12">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12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איפה AWS בתמונה?</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Shape 4"/>
          <p:cNvSpPr/>
          <p:nvPr/>
        </p:nvSpPr>
        <p:spPr>
          <a:xfrm>
            <a:off x="9101023" y="2103120"/>
            <a:ext cx="2331720" cy="2011680"/>
          </a:xfrm>
          <a:prstGeom prst="rect">
            <a:avLst/>
          </a:prstGeom>
          <a:solidFill>
            <a:srgbClr val="FAF6EF"/>
          </a:solidFill>
          <a:ln w="9525">
            <a:solidFill>
              <a:srgbClr val="D8D2C6"/>
            </a:solidFill>
            <a:prstDash val="solid"/>
          </a:ln>
        </p:spPr>
      </p:sp>
      <p:sp>
        <p:nvSpPr>
          <p:cNvPr id="9" name="Text 5"/>
          <p:cNvSpPr txBox="1"/>
          <p:nvPr/>
        </p:nvSpPr>
        <p:spPr>
          <a:xfrm>
            <a:off x="9329623" y="2286000"/>
            <a:ext cx="1874520" cy="274320"/>
          </a:xfrm>
          <a:prstGeom prst="rect">
            <a:avLst/>
          </a:prstGeom>
          <a:noFill/>
          <a:ln/>
        </p:spPr>
        <p:txBody>
          <a:bodyPr wrap="square" lIns="0" tIns="0" rIns="0" bIns="0" rtlCol="0" anchor="t"/>
          <a:lstStyle/>
          <a:p>
            <a:pPr rtl="1" algn="r" indent="0" marL="0">
              <a:buNone/>
            </a:pPr>
            <a:r>
              <a:rPr lang="he-IL" altLang="en-US" sz="1300" b="1" dirty="0">
                <a:solidFill>
                  <a:srgbClr val="5F7368"/>
                </a:solidFill>
                <a:latin typeface="Instrument Sans" pitchFamily="34" charset="0"/>
                <a:ea typeface="Instrument Sans" pitchFamily="34" charset="-122"/>
                <a:cs typeface="Assistant" pitchFamily="34" charset="-120"/>
              </a:rPr>
              <a:t>מתכנן</a:t>
            </a:r>
            <a:endParaRPr lang="he-IL" sz="1300" dirty="0"/>
          </a:p>
        </p:txBody>
      </p:sp>
      <p:sp>
        <p:nvSpPr>
          <p:cNvPr id="10" name="Shape 6"/>
          <p:cNvSpPr/>
          <p:nvPr/>
        </p:nvSpPr>
        <p:spPr>
          <a:xfrm>
            <a:off x="9302191" y="2286000"/>
            <a:ext cx="502920" cy="256032"/>
          </a:xfrm>
          <a:prstGeom prst="rect">
            <a:avLst/>
          </a:prstGeom>
          <a:solidFill>
            <a:srgbClr val="FAF6EF"/>
          </a:solidFill>
          <a:ln w="9525">
            <a:solidFill>
              <a:srgbClr val="5F7368"/>
            </a:solidFill>
            <a:prstDash val="solid"/>
          </a:ln>
        </p:spPr>
      </p:sp>
      <p:sp>
        <p:nvSpPr>
          <p:cNvPr id="11" name="Text 7"/>
          <p:cNvSpPr txBox="1"/>
          <p:nvPr/>
        </p:nvSpPr>
        <p:spPr>
          <a:xfrm>
            <a:off x="9302191" y="2286000"/>
            <a:ext cx="502920" cy="256032"/>
          </a:xfrm>
          <a:prstGeom prst="rect">
            <a:avLst/>
          </a:prstGeom>
          <a:noFill/>
          <a:ln/>
        </p:spPr>
        <p:txBody>
          <a:bodyPr wrap="square" lIns="0" tIns="0" rIns="0" bIns="0" rtlCol="0" anchor="ctr"/>
          <a:lstStyle/>
          <a:p>
            <a:pPr algn="ctr" indent="0" marL="0">
              <a:buNone/>
            </a:pPr>
            <a:r>
              <a:rPr lang="en-US" sz="950" b="1" dirty="0">
                <a:solidFill>
                  <a:srgbClr val="5F7368"/>
                </a:solidFill>
                <a:latin typeface="Instrument Sans" pitchFamily="34" charset="0"/>
                <a:ea typeface="Instrument Sans" pitchFamily="34" charset="-122"/>
                <a:cs typeface="Assistant" pitchFamily="34" charset="-120"/>
              </a:rPr>
              <a:t>AWS</a:t>
            </a:r>
            <a:endParaRPr lang="en-US" sz="950" dirty="0"/>
          </a:p>
        </p:txBody>
      </p:sp>
      <p:sp>
        <p:nvSpPr>
          <p:cNvPr id="12" name="Text 8"/>
          <p:cNvSpPr txBox="1"/>
          <p:nvPr/>
        </p:nvSpPr>
        <p:spPr>
          <a:xfrm>
            <a:off x="9329623" y="2633472"/>
            <a:ext cx="1874520" cy="566928"/>
          </a:xfrm>
          <a:prstGeom prst="rect">
            <a:avLst/>
          </a:prstGeom>
          <a:noFill/>
          <a:ln/>
        </p:spPr>
        <p:txBody>
          <a:bodyPr wrap="square" lIns="0" tIns="0" rIns="0" bIns="0" rtlCol="0" anchor="t"/>
          <a:lstStyle/>
          <a:p>
            <a:pPr algn="r" indent="0" marL="0">
              <a:buNone/>
            </a:pPr>
            <a:r>
              <a:rPr lang="en-US" sz="1500" b="1" dirty="0">
                <a:solidFill>
                  <a:srgbClr val="2B3138"/>
                </a:solidFill>
                <a:latin typeface="Instrument Sans" pitchFamily="34" charset="0"/>
                <a:ea typeface="Instrument Sans" pitchFamily="34" charset="-122"/>
                <a:cs typeface="Assistant" pitchFamily="34" charset="-120"/>
              </a:rPr>
              <a:t>Strands  ·  Bedrock</a:t>
            </a:r>
            <a:endParaRPr lang="en-US" sz="1500" dirty="0"/>
          </a:p>
        </p:txBody>
      </p:sp>
      <p:sp>
        <p:nvSpPr>
          <p:cNvPr id="13" name="Text 9"/>
          <p:cNvSpPr txBox="1"/>
          <p:nvPr/>
        </p:nvSpPr>
        <p:spPr>
          <a:xfrm>
            <a:off x="9329623" y="3273552"/>
            <a:ext cx="1874520" cy="320040"/>
          </a:xfrm>
          <a:prstGeom prst="rect">
            <a:avLst/>
          </a:prstGeom>
          <a:noFill/>
          <a:ln/>
        </p:spPr>
        <p:txBody>
          <a:bodyPr wrap="square" lIns="0" tIns="0" rIns="0" bIns="0" rtlCol="0" anchor="t"/>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מה המטרה עכשיו</a:t>
            </a:r>
            <a:endParaRPr lang="he-IL" sz="1500" dirty="0"/>
          </a:p>
        </p:txBody>
      </p:sp>
      <p:sp>
        <p:nvSpPr>
          <p:cNvPr id="14" name="Text 10"/>
          <p:cNvSpPr txBox="1"/>
          <p:nvPr/>
        </p:nvSpPr>
        <p:spPr>
          <a:xfrm>
            <a:off x="9329623" y="3621024"/>
            <a:ext cx="1874520" cy="365760"/>
          </a:xfrm>
          <a:prstGeom prst="rect">
            <a:avLst/>
          </a:prstGeom>
          <a:noFill/>
          <a:ln/>
        </p:spPr>
        <p:txBody>
          <a:bodyPr wrap="square" lIns="0" tIns="0" rIns="0" bIns="0" rtlCol="0" anchor="t"/>
          <a:lstStyle/>
          <a:p>
            <a:pPr rtl="1" algn="r" indent="0" marL="0">
              <a:buNone/>
            </a:pPr>
            <a:r>
              <a:rPr lang="he-IL" altLang="en-US" sz="1200" dirty="0">
                <a:solidFill>
                  <a:srgbClr val="5A6067"/>
                </a:solidFill>
                <a:latin typeface="Instrument Sans" pitchFamily="34" charset="0"/>
                <a:ea typeface="Instrument Sans" pitchFamily="34" charset="-122"/>
                <a:cs typeface="Assistant" pitchFamily="34" charset="-120"/>
              </a:rPr>
              <a:t>LLM שמנהל את תת־המשימה</a:t>
            </a:r>
            <a:endParaRPr lang="he-IL" sz="1200" dirty="0"/>
          </a:p>
        </p:txBody>
      </p:sp>
      <p:sp>
        <p:nvSpPr>
          <p:cNvPr id="15" name="Text 11"/>
          <p:cNvSpPr txBox="1"/>
          <p:nvPr/>
        </p:nvSpPr>
        <p:spPr>
          <a:xfrm>
            <a:off x="8652053" y="2103120"/>
            <a:ext cx="448970" cy="20116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16" name="Shape 12"/>
          <p:cNvSpPr/>
          <p:nvPr/>
        </p:nvSpPr>
        <p:spPr>
          <a:xfrm>
            <a:off x="6320333" y="2103120"/>
            <a:ext cx="2331720" cy="2011680"/>
          </a:xfrm>
          <a:prstGeom prst="rect">
            <a:avLst/>
          </a:prstGeom>
          <a:solidFill>
            <a:srgbClr val="F3EDE2"/>
          </a:solidFill>
          <a:ln w="15875">
            <a:solidFill>
              <a:srgbClr val="5F7368"/>
            </a:solidFill>
            <a:prstDash val="solid"/>
          </a:ln>
        </p:spPr>
      </p:sp>
      <p:sp>
        <p:nvSpPr>
          <p:cNvPr id="17" name="Text 13"/>
          <p:cNvSpPr txBox="1"/>
          <p:nvPr/>
        </p:nvSpPr>
        <p:spPr>
          <a:xfrm>
            <a:off x="6548933" y="2286000"/>
            <a:ext cx="1874520" cy="274320"/>
          </a:xfrm>
          <a:prstGeom prst="rect">
            <a:avLst/>
          </a:prstGeom>
          <a:noFill/>
          <a:ln/>
        </p:spPr>
        <p:txBody>
          <a:bodyPr wrap="square" lIns="0" tIns="0" rIns="0" bIns="0" rtlCol="0" anchor="t"/>
          <a:lstStyle/>
          <a:p>
            <a:pPr rtl="1" algn="r" indent="0" marL="0">
              <a:buNone/>
            </a:pPr>
            <a:r>
              <a:rPr lang="he-IL" altLang="en-US" sz="1300" b="1" dirty="0">
                <a:solidFill>
                  <a:srgbClr val="5F7368"/>
                </a:solidFill>
                <a:latin typeface="Instrument Sans" pitchFamily="34" charset="0"/>
                <a:ea typeface="Instrument Sans" pitchFamily="34" charset="-122"/>
                <a:cs typeface="Assistant" pitchFamily="34" charset="-120"/>
              </a:rPr>
              <a:t>בוחר</a:t>
            </a:r>
            <a:endParaRPr lang="he-IL" sz="1300" dirty="0"/>
          </a:p>
        </p:txBody>
      </p:sp>
      <p:sp>
        <p:nvSpPr>
          <p:cNvPr id="18" name="Text 14"/>
          <p:cNvSpPr txBox="1"/>
          <p:nvPr/>
        </p:nvSpPr>
        <p:spPr>
          <a:xfrm>
            <a:off x="6548933" y="2633472"/>
            <a:ext cx="1874520" cy="566928"/>
          </a:xfrm>
          <a:prstGeom prst="rect">
            <a:avLst/>
          </a:prstGeom>
          <a:noFill/>
          <a:ln/>
        </p:spPr>
        <p:txBody>
          <a:bodyPr wrap="square" lIns="0" tIns="0" rIns="0" bIns="0" rtlCol="0" anchor="t"/>
          <a:lstStyle/>
          <a:p>
            <a:pPr algn="r" indent="0" marL="0">
              <a:buNone/>
            </a:pPr>
            <a:r>
              <a:rPr lang="en-US" sz="1500" b="1" dirty="0">
                <a:solidFill>
                  <a:srgbClr val="2B3138"/>
                </a:solidFill>
                <a:latin typeface="Instrument Sans" pitchFamily="34" charset="0"/>
                <a:ea typeface="Instrument Sans" pitchFamily="34" charset="-122"/>
                <a:cs typeface="Assistant" pitchFamily="34" charset="-120"/>
              </a:rPr>
              <a:t>Jev</a:t>
            </a:r>
            <a:endParaRPr lang="en-US" sz="1500" dirty="0"/>
          </a:p>
        </p:txBody>
      </p:sp>
      <p:sp>
        <p:nvSpPr>
          <p:cNvPr id="19" name="Text 15"/>
          <p:cNvSpPr txBox="1"/>
          <p:nvPr/>
        </p:nvSpPr>
        <p:spPr>
          <a:xfrm>
            <a:off x="6548933" y="3273552"/>
            <a:ext cx="1874520" cy="320040"/>
          </a:xfrm>
          <a:prstGeom prst="rect">
            <a:avLst/>
          </a:prstGeom>
          <a:noFill/>
          <a:ln/>
        </p:spPr>
        <p:txBody>
          <a:bodyPr wrap="square" lIns="0" tIns="0" rIns="0" bIns="0" rtlCol="0" anchor="t"/>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איזו פעולה עכשיו</a:t>
            </a:r>
            <a:endParaRPr lang="he-IL" sz="1500" dirty="0"/>
          </a:p>
        </p:txBody>
      </p:sp>
      <p:sp>
        <p:nvSpPr>
          <p:cNvPr id="20" name="Text 16"/>
          <p:cNvSpPr txBox="1"/>
          <p:nvPr/>
        </p:nvSpPr>
        <p:spPr>
          <a:xfrm>
            <a:off x="6548933" y="3621024"/>
            <a:ext cx="1874520" cy="365760"/>
          </a:xfrm>
          <a:prstGeom prst="rect">
            <a:avLst/>
          </a:prstGeom>
          <a:noFill/>
          <a:ln/>
        </p:spPr>
        <p:txBody>
          <a:bodyPr wrap="square" lIns="0" tIns="0" rIns="0" bIns="0" rtlCol="0" anchor="t"/>
          <a:lstStyle/>
          <a:p>
            <a:pPr rtl="1" algn="r" indent="0" marL="0">
              <a:buNone/>
            </a:pPr>
            <a:r>
              <a:rPr lang="he-IL" altLang="en-US" sz="1200" dirty="0">
                <a:solidFill>
                  <a:srgbClr val="5A6067"/>
                </a:solidFill>
                <a:latin typeface="Instrument Sans" pitchFamily="34" charset="0"/>
                <a:ea typeface="Instrument Sans" pitchFamily="34" charset="-122"/>
                <a:cs typeface="Assistant" pitchFamily="34" charset="-120"/>
              </a:rPr>
              <a:t>מודל בחירה של TypeSafe AI</a:t>
            </a:r>
            <a:endParaRPr lang="he-IL" sz="1200" dirty="0"/>
          </a:p>
        </p:txBody>
      </p:sp>
      <p:sp>
        <p:nvSpPr>
          <p:cNvPr id="21" name="Text 17"/>
          <p:cNvSpPr txBox="1"/>
          <p:nvPr/>
        </p:nvSpPr>
        <p:spPr>
          <a:xfrm>
            <a:off x="5871362" y="2103120"/>
            <a:ext cx="448970" cy="20116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2" name="Shape 18"/>
          <p:cNvSpPr/>
          <p:nvPr/>
        </p:nvSpPr>
        <p:spPr>
          <a:xfrm>
            <a:off x="3539642" y="2103120"/>
            <a:ext cx="2331720" cy="2011680"/>
          </a:xfrm>
          <a:prstGeom prst="rect">
            <a:avLst/>
          </a:prstGeom>
          <a:solidFill>
            <a:srgbClr val="FAF6EF"/>
          </a:solidFill>
          <a:ln w="9525">
            <a:solidFill>
              <a:srgbClr val="D8D2C6"/>
            </a:solidFill>
            <a:prstDash val="solid"/>
          </a:ln>
        </p:spPr>
      </p:sp>
      <p:sp>
        <p:nvSpPr>
          <p:cNvPr id="23" name="Text 19"/>
          <p:cNvSpPr txBox="1"/>
          <p:nvPr/>
        </p:nvSpPr>
        <p:spPr>
          <a:xfrm>
            <a:off x="3768242" y="2286000"/>
            <a:ext cx="1874520" cy="274320"/>
          </a:xfrm>
          <a:prstGeom prst="rect">
            <a:avLst/>
          </a:prstGeom>
          <a:noFill/>
          <a:ln/>
        </p:spPr>
        <p:txBody>
          <a:bodyPr wrap="square" lIns="0" tIns="0" rIns="0" bIns="0" rtlCol="0" anchor="t"/>
          <a:lstStyle/>
          <a:p>
            <a:pPr rtl="1" algn="r" indent="0" marL="0">
              <a:buNone/>
            </a:pPr>
            <a:r>
              <a:rPr lang="he-IL" altLang="en-US" sz="1300" b="1" dirty="0">
                <a:solidFill>
                  <a:srgbClr val="5F7368"/>
                </a:solidFill>
                <a:latin typeface="Instrument Sans" pitchFamily="34" charset="0"/>
                <a:ea typeface="Instrument Sans" pitchFamily="34" charset="-122"/>
                <a:cs typeface="Assistant" pitchFamily="34" charset="-120"/>
              </a:rPr>
              <a:t>מבצע</a:t>
            </a:r>
            <a:endParaRPr lang="he-IL" sz="1300" dirty="0"/>
          </a:p>
        </p:txBody>
      </p:sp>
      <p:sp>
        <p:nvSpPr>
          <p:cNvPr id="24" name="Text 20"/>
          <p:cNvSpPr txBox="1"/>
          <p:nvPr/>
        </p:nvSpPr>
        <p:spPr>
          <a:xfrm>
            <a:off x="3768242" y="2633472"/>
            <a:ext cx="1874520" cy="566928"/>
          </a:xfrm>
          <a:prstGeom prst="rect">
            <a:avLst/>
          </a:prstGeom>
          <a:noFill/>
          <a:ln/>
        </p:spPr>
        <p:txBody>
          <a:bodyPr wrap="square" lIns="0" tIns="0" rIns="0" bIns="0" rtlCol="0" anchor="t"/>
          <a:lstStyle/>
          <a:p>
            <a:pPr rtl="1" algn="r" indent="0" marL="0">
              <a:buNone/>
            </a:pPr>
            <a:r>
              <a:rPr lang="he-IL" altLang="en-US" sz="1500" b="1" dirty="0">
                <a:solidFill>
                  <a:srgbClr val="2B3138"/>
                </a:solidFill>
                <a:latin typeface="Instrument Sans" pitchFamily="34" charset="0"/>
                <a:ea typeface="Instrument Sans" pitchFamily="34" charset="-122"/>
                <a:cs typeface="Assistant" pitchFamily="34" charset="-120"/>
              </a:rPr>
              <a:t>הקוד שלנו</a:t>
            </a:r>
            <a:endParaRPr lang="he-IL" sz="1500" dirty="0"/>
          </a:p>
        </p:txBody>
      </p:sp>
      <p:sp>
        <p:nvSpPr>
          <p:cNvPr id="25" name="Text 21"/>
          <p:cNvSpPr txBox="1"/>
          <p:nvPr/>
        </p:nvSpPr>
        <p:spPr>
          <a:xfrm>
            <a:off x="3768242" y="3273552"/>
            <a:ext cx="1874520" cy="320040"/>
          </a:xfrm>
          <a:prstGeom prst="rect">
            <a:avLst/>
          </a:prstGeom>
          <a:noFill/>
          <a:ln/>
        </p:spPr>
        <p:txBody>
          <a:bodyPr wrap="square" lIns="0" tIns="0" rIns="0" bIns="0" rtlCol="0" anchor="t"/>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מאמת ולוחץ</a:t>
            </a:r>
            <a:endParaRPr lang="he-IL" sz="1500" dirty="0"/>
          </a:p>
        </p:txBody>
      </p:sp>
      <p:sp>
        <p:nvSpPr>
          <p:cNvPr id="26" name="Text 22"/>
          <p:cNvSpPr txBox="1"/>
          <p:nvPr/>
        </p:nvSpPr>
        <p:spPr>
          <a:xfrm>
            <a:off x="3768242" y="3621024"/>
            <a:ext cx="1874520" cy="365760"/>
          </a:xfrm>
          <a:prstGeom prst="rect">
            <a:avLst/>
          </a:prstGeom>
          <a:noFill/>
          <a:ln/>
        </p:spPr>
        <p:txBody>
          <a:bodyPr wrap="square" lIns="0" tIns="0" rIns="0" bIns="0" rtlCol="0" anchor="t"/>
          <a:lstStyle/>
          <a:p>
            <a:pPr rtl="1" algn="r" indent="0" marL="0">
              <a:buNone/>
            </a:pPr>
            <a:r>
              <a:rPr lang="he-IL" altLang="en-US" sz="1200" dirty="0">
                <a:solidFill>
                  <a:srgbClr val="5A6067"/>
                </a:solidFill>
                <a:latin typeface="Instrument Sans" pitchFamily="34" charset="0"/>
                <a:ea typeface="Instrument Sans" pitchFamily="34" charset="-122"/>
                <a:cs typeface="Assistant" pitchFamily="34" charset="-120"/>
              </a:rPr>
              <a:t>מפעיל את Playwright, הנהג</a:t>
            </a:r>
            <a:endParaRPr lang="he-IL" sz="1200" dirty="0"/>
          </a:p>
        </p:txBody>
      </p:sp>
      <p:sp>
        <p:nvSpPr>
          <p:cNvPr id="27" name="Text 23"/>
          <p:cNvSpPr txBox="1"/>
          <p:nvPr/>
        </p:nvSpPr>
        <p:spPr>
          <a:xfrm>
            <a:off x="3090672" y="2103120"/>
            <a:ext cx="448970" cy="20116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8" name="Shape 24"/>
          <p:cNvSpPr/>
          <p:nvPr/>
        </p:nvSpPr>
        <p:spPr>
          <a:xfrm>
            <a:off x="758952" y="2103120"/>
            <a:ext cx="2331720" cy="2011680"/>
          </a:xfrm>
          <a:prstGeom prst="rect">
            <a:avLst/>
          </a:prstGeom>
          <a:solidFill>
            <a:srgbClr val="FAF6EF"/>
          </a:solidFill>
          <a:ln w="9525">
            <a:solidFill>
              <a:srgbClr val="D8D2C6"/>
            </a:solidFill>
            <a:prstDash val="solid"/>
          </a:ln>
        </p:spPr>
      </p:sp>
      <p:sp>
        <p:nvSpPr>
          <p:cNvPr id="29" name="Text 25"/>
          <p:cNvSpPr txBox="1"/>
          <p:nvPr/>
        </p:nvSpPr>
        <p:spPr>
          <a:xfrm>
            <a:off x="987552" y="2286000"/>
            <a:ext cx="1874520" cy="274320"/>
          </a:xfrm>
          <a:prstGeom prst="rect">
            <a:avLst/>
          </a:prstGeom>
          <a:noFill/>
          <a:ln/>
        </p:spPr>
        <p:txBody>
          <a:bodyPr wrap="square" lIns="0" tIns="0" rIns="0" bIns="0" rtlCol="0" anchor="t"/>
          <a:lstStyle/>
          <a:p>
            <a:pPr rtl="1" algn="r" indent="0" marL="0">
              <a:buNone/>
            </a:pPr>
            <a:r>
              <a:rPr lang="he-IL" altLang="en-US" sz="1300" b="1" dirty="0">
                <a:solidFill>
                  <a:srgbClr val="5F7368"/>
                </a:solidFill>
                <a:latin typeface="Instrument Sans" pitchFamily="34" charset="0"/>
                <a:ea typeface="Instrument Sans" pitchFamily="34" charset="-122"/>
                <a:cs typeface="Assistant" pitchFamily="34" charset="-120"/>
              </a:rPr>
              <a:t>דפדפן</a:t>
            </a:r>
            <a:endParaRPr lang="he-IL" sz="1300" dirty="0"/>
          </a:p>
        </p:txBody>
      </p:sp>
      <p:sp>
        <p:nvSpPr>
          <p:cNvPr id="30" name="Shape 26"/>
          <p:cNvSpPr/>
          <p:nvPr/>
        </p:nvSpPr>
        <p:spPr>
          <a:xfrm>
            <a:off x="960120" y="2286000"/>
            <a:ext cx="502920" cy="256032"/>
          </a:xfrm>
          <a:prstGeom prst="rect">
            <a:avLst/>
          </a:prstGeom>
          <a:solidFill>
            <a:srgbClr val="FAF6EF"/>
          </a:solidFill>
          <a:ln w="9525">
            <a:solidFill>
              <a:srgbClr val="5F7368"/>
            </a:solidFill>
            <a:prstDash val="solid"/>
          </a:ln>
        </p:spPr>
      </p:sp>
      <p:sp>
        <p:nvSpPr>
          <p:cNvPr id="31" name="Text 27"/>
          <p:cNvSpPr txBox="1"/>
          <p:nvPr/>
        </p:nvSpPr>
        <p:spPr>
          <a:xfrm>
            <a:off x="960120" y="2286000"/>
            <a:ext cx="502920" cy="256032"/>
          </a:xfrm>
          <a:prstGeom prst="rect">
            <a:avLst/>
          </a:prstGeom>
          <a:noFill/>
          <a:ln/>
        </p:spPr>
        <p:txBody>
          <a:bodyPr wrap="square" lIns="0" tIns="0" rIns="0" bIns="0" rtlCol="0" anchor="ctr"/>
          <a:lstStyle/>
          <a:p>
            <a:pPr algn="ctr" indent="0" marL="0">
              <a:buNone/>
            </a:pPr>
            <a:r>
              <a:rPr lang="en-US" sz="950" b="1" dirty="0">
                <a:solidFill>
                  <a:srgbClr val="5F7368"/>
                </a:solidFill>
                <a:latin typeface="Instrument Sans" pitchFamily="34" charset="0"/>
                <a:ea typeface="Instrument Sans" pitchFamily="34" charset="-122"/>
                <a:cs typeface="Assistant" pitchFamily="34" charset="-120"/>
              </a:rPr>
              <a:t>AWS</a:t>
            </a:r>
            <a:endParaRPr lang="en-US" sz="950" dirty="0"/>
          </a:p>
        </p:txBody>
      </p:sp>
      <p:sp>
        <p:nvSpPr>
          <p:cNvPr id="32" name="Text 28"/>
          <p:cNvSpPr txBox="1"/>
          <p:nvPr/>
        </p:nvSpPr>
        <p:spPr>
          <a:xfrm>
            <a:off x="987552" y="2633472"/>
            <a:ext cx="1874520" cy="566928"/>
          </a:xfrm>
          <a:prstGeom prst="rect">
            <a:avLst/>
          </a:prstGeom>
          <a:noFill/>
          <a:ln/>
        </p:spPr>
        <p:txBody>
          <a:bodyPr wrap="square" lIns="0" tIns="0" rIns="0" bIns="0" rtlCol="0" anchor="t"/>
          <a:lstStyle/>
          <a:p>
            <a:pPr algn="r" indent="0" marL="0">
              <a:buNone/>
            </a:pPr>
            <a:r>
              <a:rPr lang="en-US" sz="1500" b="1" dirty="0">
                <a:solidFill>
                  <a:srgbClr val="2B3138"/>
                </a:solidFill>
                <a:latin typeface="Instrument Sans" pitchFamily="34" charset="0"/>
                <a:ea typeface="Instrument Sans" pitchFamily="34" charset="-122"/>
                <a:cs typeface="Assistant" pitchFamily="34" charset="-120"/>
              </a:rPr>
              <a:t>AgentCore Browser</a:t>
            </a:r>
            <a:endParaRPr lang="en-US" sz="1500" dirty="0"/>
          </a:p>
        </p:txBody>
      </p:sp>
      <p:sp>
        <p:nvSpPr>
          <p:cNvPr id="33" name="Text 29"/>
          <p:cNvSpPr txBox="1"/>
          <p:nvPr/>
        </p:nvSpPr>
        <p:spPr>
          <a:xfrm>
            <a:off x="987552" y="3273552"/>
            <a:ext cx="1874520" cy="320040"/>
          </a:xfrm>
          <a:prstGeom prst="rect">
            <a:avLst/>
          </a:prstGeom>
          <a:noFill/>
          <a:ln/>
        </p:spPr>
        <p:txBody>
          <a:bodyPr wrap="square" lIns="0" tIns="0" rIns="0" bIns="0" rtlCol="0" anchor="t"/>
          <a:lstStyle/>
          <a:p>
            <a:pPr rtl="1" algn="r" indent="0" marL="0">
              <a:buNone/>
            </a:pPr>
            <a:r>
              <a:rPr lang="he-IL" altLang="en-US" sz="1500" dirty="0">
                <a:solidFill>
                  <a:srgbClr val="2B3138"/>
                </a:solidFill>
                <a:latin typeface="Instrument Sans" pitchFamily="34" charset="0"/>
                <a:ea typeface="Instrument Sans" pitchFamily="34" charset="-122"/>
                <a:cs typeface="Assistant" pitchFamily="34" charset="-120"/>
              </a:rPr>
              <a:t>דפדפן מנוהל בענן</a:t>
            </a:r>
            <a:endParaRPr lang="he-IL" sz="1500" dirty="0"/>
          </a:p>
        </p:txBody>
      </p:sp>
      <p:sp>
        <p:nvSpPr>
          <p:cNvPr id="34" name="Text 30"/>
          <p:cNvSpPr txBox="1"/>
          <p:nvPr/>
        </p:nvSpPr>
        <p:spPr>
          <a:xfrm>
            <a:off x="987552" y="3621024"/>
            <a:ext cx="1874520" cy="365760"/>
          </a:xfrm>
          <a:prstGeom prst="rect">
            <a:avLst/>
          </a:prstGeom>
          <a:noFill/>
          <a:ln/>
        </p:spPr>
        <p:txBody>
          <a:bodyPr wrap="square" lIns="0" tIns="0" rIns="0" bIns="0" rtlCol="0" anchor="t"/>
          <a:lstStyle/>
          <a:p>
            <a:pPr rtl="1" algn="r" indent="0" marL="0">
              <a:buNone/>
            </a:pPr>
            <a:r>
              <a:rPr lang="he-IL" altLang="en-US" sz="1200" dirty="0">
                <a:solidFill>
                  <a:srgbClr val="5A6067"/>
                </a:solidFill>
                <a:latin typeface="Instrument Sans" pitchFamily="34" charset="0"/>
                <a:ea typeface="Instrument Sans" pitchFamily="34" charset="-122"/>
                <a:cs typeface="Assistant" pitchFamily="34" charset="-120"/>
              </a:rPr>
              <a:t>הרכב. Live View לצפייה חיה</a:t>
            </a:r>
            <a:endParaRPr lang="he-IL" sz="1200" dirty="0"/>
          </a:p>
        </p:txBody>
      </p:sp>
      <p:sp>
        <p:nvSpPr>
          <p:cNvPr id="35" name="Text 31"/>
          <p:cNvSpPr txBox="1"/>
          <p:nvPr/>
        </p:nvSpPr>
        <p:spPr>
          <a:xfrm>
            <a:off x="758952" y="4251960"/>
            <a:ext cx="10673791" cy="292608"/>
          </a:xfrm>
          <a:prstGeom prst="rect">
            <a:avLst/>
          </a:prstGeom>
          <a:noFill/>
          <a:ln/>
        </p:spPr>
        <p:txBody>
          <a:bodyPr wrap="square" lIns="0" tIns="0" rIns="0" bIns="0" rtlCol="0" anchor="t"/>
          <a:lstStyle/>
          <a:p>
            <a:pPr rtl="1" algn="r" indent="0" marL="0">
              <a:buNone/>
            </a:pPr>
            <a:r>
              <a:rPr lang="he-IL" altLang="en-US" sz="1300" dirty="0">
                <a:solidFill>
                  <a:srgbClr val="8B8F93"/>
                </a:solidFill>
                <a:latin typeface="Instrument Sans" pitchFamily="34" charset="0"/>
                <a:ea typeface="Instrument Sans" pitchFamily="34" charset="-122"/>
                <a:cs typeface="Assistant" pitchFamily="34" charset="-120"/>
              </a:rPr>
              <a:t>המצב החדש חוזר ל-Jev. בדמו: find_hotel אחד, בלי חזרה אוטומטית למתכנן.</a:t>
            </a:r>
            <a:endParaRPr lang="he-IL" sz="1300" dirty="0"/>
          </a:p>
        </p:txBody>
      </p:sp>
      <p:sp>
        <p:nvSpPr>
          <p:cNvPr id="36" name="Shape 32"/>
          <p:cNvSpPr/>
          <p:nvPr/>
        </p:nvSpPr>
        <p:spPr>
          <a:xfrm>
            <a:off x="758952" y="4572000"/>
            <a:ext cx="10673791" cy="685800"/>
          </a:xfrm>
          <a:prstGeom prst="rect">
            <a:avLst/>
          </a:prstGeom>
          <a:solidFill>
            <a:srgbClr val="F3EDE2"/>
          </a:solidFill>
          <a:ln/>
        </p:spPr>
      </p:sp>
      <p:sp>
        <p:nvSpPr>
          <p:cNvPr id="37" name="Shape 33"/>
          <p:cNvSpPr/>
          <p:nvPr/>
        </p:nvSpPr>
        <p:spPr>
          <a:xfrm>
            <a:off x="11414455" y="4572000"/>
            <a:ext cx="0" cy="685800"/>
          </a:xfrm>
          <a:prstGeom prst="line">
            <a:avLst/>
          </a:prstGeom>
          <a:noFill/>
          <a:ln w="38100">
            <a:solidFill>
              <a:srgbClr val="8FA396"/>
            </a:solidFill>
            <a:prstDash val="solid"/>
          </a:ln>
        </p:spPr>
      </p:sp>
      <p:sp>
        <p:nvSpPr>
          <p:cNvPr id="38" name="Text 34"/>
          <p:cNvSpPr txBox="1"/>
          <p:nvPr/>
        </p:nvSpPr>
        <p:spPr>
          <a:xfrm>
            <a:off x="1078992" y="4572000"/>
            <a:ext cx="10033711" cy="685800"/>
          </a:xfrm>
          <a:prstGeom prst="rect">
            <a:avLst/>
          </a:prstGeom>
          <a:noFill/>
          <a:ln/>
        </p:spPr>
        <p:txBody>
          <a:bodyPr wrap="square" lIns="0" tIns="0" rIns="0" bIns="0" rtlCol="0" anchor="ctr"/>
          <a:lstStyle/>
          <a:p>
            <a:pPr rtl="1" algn="r" indent="0" marL="0">
              <a:buNone/>
            </a:pPr>
            <a:r>
              <a:rPr lang="he-IL" altLang="en-US" sz="1600" b="1" dirty="0">
                <a:solidFill>
                  <a:srgbClr val="5F7368"/>
                </a:solidFill>
                <a:latin typeface="Instrument Sans" pitchFamily="34" charset="0"/>
                <a:ea typeface="Instrument Sans" pitchFamily="34" charset="-122"/>
                <a:cs typeface="Assistant" pitchFamily="34" charset="-120"/>
              </a:rPr>
              <a:t>איפה הדפדפן רץ? </a:t>
            </a:r>
            <a:r>
              <a:rPr lang="he-IL" altLang="en-US" sz="1600" dirty="0">
                <a:solidFill>
                  <a:srgbClr val="2B3138"/>
                </a:solidFill>
                <a:latin typeface="Instrument Sans" pitchFamily="34" charset="0"/>
                <a:ea typeface="Instrument Sans" pitchFamily="34" charset="-122"/>
                <a:cs typeface="Assistant" pitchFamily="34" charset="-120"/>
              </a:rPr>
              <a:t>Playwright הוא הנהג, AgentCore Browser הוא הרכב, ו-Live View מראה לקהל את הדפדפן בזמן אמת.</a:t>
            </a:r>
            <a:endParaRPr lang="he-IL" sz="1600" dirty="0"/>
          </a:p>
        </p:txBody>
      </p:sp>
      <p:sp>
        <p:nvSpPr>
          <p:cNvPr id="39" name="Text 35"/>
          <p:cNvSpPr txBox="1"/>
          <p:nvPr/>
        </p:nvSpPr>
        <p:spPr>
          <a:xfrm>
            <a:off x="758952" y="5394960"/>
            <a:ext cx="10673791" cy="457200"/>
          </a:xfrm>
          <a:prstGeom prst="rect">
            <a:avLst/>
          </a:prstGeom>
          <a:noFill/>
          <a:ln/>
        </p:spPr>
        <p:txBody>
          <a:bodyPr wrap="square" lIns="0" tIns="0" rIns="0" bIns="0" rtlCol="0" anchor="ctr"/>
          <a:lstStyle/>
          <a:p>
            <a:pPr rtl="1" algn="r" indent="0" marL="0">
              <a:buNone/>
            </a:pPr>
            <a:r>
              <a:rPr lang="he-IL" altLang="en-US" sz="2500" dirty="0">
                <a:solidFill>
                  <a:srgbClr val="2B3138"/>
                </a:solidFill>
                <a:latin typeface="Fraunces" pitchFamily="34" charset="0"/>
                <a:ea typeface="Fraunces" pitchFamily="34" charset="-122"/>
                <a:cs typeface="Frank Ruhl Libre" pitchFamily="34" charset="-120"/>
              </a:rPr>
              <a:t>Jev בוחר. הקוד בודק ומבצע.</a:t>
            </a:r>
            <a:endParaRPr lang="he-IL" sz="2500" dirty="0"/>
          </a:p>
        </p:txBody>
      </p:sp>
      <p:sp>
        <p:nvSpPr>
          <p:cNvPr id="40" name="Text 36"/>
          <p:cNvSpPr txBox="1"/>
          <p:nvPr/>
        </p:nvSpPr>
        <p:spPr>
          <a:xfrm>
            <a:off x="758952" y="5870448"/>
            <a:ext cx="10673791"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המסלול החי אופציונלי ולא נבדק כאן</a:t>
            </a:r>
            <a:endParaRPr lang="he-IL"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3">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13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בין הבחירה ללחיצה</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Shape 4"/>
          <p:cNvSpPr/>
          <p:nvPr/>
        </p:nvSpPr>
        <p:spPr>
          <a:xfrm>
            <a:off x="758952" y="2103120"/>
            <a:ext cx="7040880" cy="3099816"/>
          </a:xfrm>
          <a:prstGeom prst="rect">
            <a:avLst/>
          </a:prstGeom>
          <a:solidFill>
            <a:srgbClr val="F3EDE2"/>
          </a:solidFill>
          <a:ln w="9525">
            <a:solidFill>
              <a:srgbClr val="D8D2C6"/>
            </a:solidFill>
            <a:prstDash val="solid"/>
          </a:ln>
        </p:spPr>
      </p:sp>
      <p:sp>
        <p:nvSpPr>
          <p:cNvPr id="9" name="Text 5"/>
          <p:cNvSpPr txBox="1"/>
          <p:nvPr/>
        </p:nvSpPr>
        <p:spPr>
          <a:xfrm>
            <a:off x="987552" y="2212848"/>
            <a:ext cx="2743200" cy="219456"/>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TypeScript</a:t>
            </a:r>
            <a:endParaRPr lang="en-US" sz="1000" dirty="0"/>
          </a:p>
        </p:txBody>
      </p:sp>
      <p:sp>
        <p:nvSpPr>
          <p:cNvPr id="10" name="Shape 6"/>
          <p:cNvSpPr/>
          <p:nvPr/>
        </p:nvSpPr>
        <p:spPr>
          <a:xfrm>
            <a:off x="758952" y="2487168"/>
            <a:ext cx="7040880" cy="0"/>
          </a:xfrm>
          <a:prstGeom prst="line">
            <a:avLst/>
          </a:prstGeom>
          <a:noFill/>
          <a:ln w="9525">
            <a:solidFill>
              <a:srgbClr val="D8D2C6"/>
            </a:solidFill>
            <a:prstDash val="solid"/>
          </a:ln>
        </p:spPr>
      </p:sp>
      <p:sp>
        <p:nvSpPr>
          <p:cNvPr id="11" name="Text 7"/>
          <p:cNvSpPr txBox="1"/>
          <p:nvPr/>
        </p:nvSpPr>
        <p:spPr>
          <a:xfrm>
            <a:off x="868680" y="2514600"/>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1</a:t>
            </a:r>
            <a:endParaRPr lang="en-US" sz="945" dirty="0"/>
          </a:p>
        </p:txBody>
      </p:sp>
      <p:sp>
        <p:nvSpPr>
          <p:cNvPr id="12" name="Text 8"/>
          <p:cNvSpPr txBox="1"/>
          <p:nvPr/>
        </p:nvSpPr>
        <p:spPr>
          <a:xfrm>
            <a:off x="1335024" y="2514600"/>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await presenter.checkpoint("before_click", id);</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13" name="Shape 9"/>
          <p:cNvSpPr/>
          <p:nvPr/>
        </p:nvSpPr>
        <p:spPr>
          <a:xfrm>
            <a:off x="768096" y="2825496"/>
            <a:ext cx="7022592" cy="310896"/>
          </a:xfrm>
          <a:prstGeom prst="rect">
            <a:avLst/>
          </a:prstGeom>
          <a:solidFill>
            <a:srgbClr val="E9E1D2"/>
          </a:solidFill>
          <a:ln/>
        </p:spPr>
      </p:sp>
      <p:sp>
        <p:nvSpPr>
          <p:cNvPr id="14" name="Text 10"/>
          <p:cNvSpPr txBox="1"/>
          <p:nvPr/>
        </p:nvSpPr>
        <p:spPr>
          <a:xfrm>
            <a:off x="868680" y="2825496"/>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2</a:t>
            </a:r>
            <a:endParaRPr lang="en-US" sz="945" dirty="0"/>
          </a:p>
        </p:txBody>
      </p:sp>
      <p:sp>
        <p:nvSpPr>
          <p:cNvPr id="15" name="Text 11"/>
          <p:cNvSpPr txBox="1"/>
          <p:nvPr/>
        </p:nvSpPr>
        <p:spPr>
          <a:xfrm>
            <a:off x="1335024" y="2825496"/>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if (decisionRevision !== presenter.revision) return;</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5F736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5A6067"/>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16" name="Text 12"/>
          <p:cNvSpPr txBox="1"/>
          <p:nvPr/>
        </p:nvSpPr>
        <p:spPr>
          <a:xfrm>
            <a:off x="868680" y="3136392"/>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3</a:t>
            </a:r>
            <a:endParaRPr lang="en-US" sz="945" dirty="0"/>
          </a:p>
        </p:txBody>
      </p:sp>
      <p:sp>
        <p:nvSpPr>
          <p:cNvPr id="17" name="Text 13"/>
          <p:cNvSpPr txBox="1"/>
          <p:nvPr/>
        </p:nvSpPr>
        <p:spPr>
          <a:xfrm>
            <a:off x="868680" y="3447288"/>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4</a:t>
            </a:r>
            <a:endParaRPr lang="en-US" sz="945" dirty="0"/>
          </a:p>
        </p:txBody>
      </p:sp>
      <p:sp>
        <p:nvSpPr>
          <p:cNvPr id="18" name="Text 14"/>
          <p:cNvSpPr txBox="1"/>
          <p:nvPr/>
        </p:nvSpPr>
        <p:spPr>
          <a:xfrm>
            <a:off x="1335024" y="3447288"/>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const fresh = await readState(browser);</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5F736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19" name="Text 15"/>
          <p:cNvSpPr txBox="1"/>
          <p:nvPr/>
        </p:nvSpPr>
        <p:spPr>
          <a:xfrm>
            <a:off x="868680" y="3758184"/>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5</a:t>
            </a:r>
            <a:endParaRPr lang="en-US" sz="945" dirty="0"/>
          </a:p>
        </p:txBody>
      </p:sp>
      <p:sp>
        <p:nvSpPr>
          <p:cNvPr id="20" name="Text 16"/>
          <p:cNvSpPr txBox="1"/>
          <p:nvPr/>
        </p:nvSpPr>
        <p:spPr>
          <a:xfrm>
            <a:off x="1335024" y="3758184"/>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const action = registry.get(id);</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21" name="Shape 17"/>
          <p:cNvSpPr/>
          <p:nvPr/>
        </p:nvSpPr>
        <p:spPr>
          <a:xfrm>
            <a:off x="768096" y="4069080"/>
            <a:ext cx="7022592" cy="310896"/>
          </a:xfrm>
          <a:prstGeom prst="rect">
            <a:avLst/>
          </a:prstGeom>
          <a:solidFill>
            <a:srgbClr val="E9E1D2"/>
          </a:solidFill>
          <a:ln/>
        </p:spPr>
      </p:sp>
      <p:sp>
        <p:nvSpPr>
          <p:cNvPr id="22" name="Text 18"/>
          <p:cNvSpPr txBox="1"/>
          <p:nvPr/>
        </p:nvSpPr>
        <p:spPr>
          <a:xfrm>
            <a:off x="868680" y="4069080"/>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6</a:t>
            </a:r>
            <a:endParaRPr lang="en-US" sz="945" dirty="0"/>
          </a:p>
        </p:txBody>
      </p:sp>
      <p:sp>
        <p:nvSpPr>
          <p:cNvPr id="23" name="Text 19"/>
          <p:cNvSpPr txBox="1"/>
          <p:nvPr/>
        </p:nvSpPr>
        <p:spPr>
          <a:xfrm>
            <a:off x="1335024" y="4069080"/>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if (!action?.allowed(fresh).ok) return;</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5F736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24" name="Shape 20"/>
          <p:cNvSpPr/>
          <p:nvPr/>
        </p:nvSpPr>
        <p:spPr>
          <a:xfrm>
            <a:off x="768096" y="4379976"/>
            <a:ext cx="7022592" cy="310896"/>
          </a:xfrm>
          <a:prstGeom prst="rect">
            <a:avLst/>
          </a:prstGeom>
          <a:solidFill>
            <a:srgbClr val="E9E1D2"/>
          </a:solidFill>
          <a:ln/>
        </p:spPr>
      </p:sp>
      <p:sp>
        <p:nvSpPr>
          <p:cNvPr id="25" name="Text 21"/>
          <p:cNvSpPr txBox="1"/>
          <p:nvPr/>
        </p:nvSpPr>
        <p:spPr>
          <a:xfrm>
            <a:off x="868680" y="4379976"/>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7</a:t>
            </a:r>
            <a:endParaRPr lang="en-US" sz="945" dirty="0"/>
          </a:p>
        </p:txBody>
      </p:sp>
      <p:sp>
        <p:nvSpPr>
          <p:cNvPr id="26" name="Text 22"/>
          <p:cNvSpPr txBox="1"/>
          <p:nvPr/>
        </p:nvSpPr>
        <p:spPr>
          <a:xfrm>
            <a:off x="1335024" y="4379976"/>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await action.run(browser);</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27" name="Text 23"/>
          <p:cNvSpPr txBox="1"/>
          <p:nvPr/>
        </p:nvSpPr>
        <p:spPr>
          <a:xfrm>
            <a:off x="868680" y="4690872"/>
            <a:ext cx="256032" cy="310896"/>
          </a:xfrm>
          <a:prstGeom prst="rect">
            <a:avLst/>
          </a:prstGeom>
          <a:noFill/>
          <a:ln/>
        </p:spPr>
        <p:txBody>
          <a:bodyPr wrap="square" lIns="0" tIns="0" rIns="0" bIns="0" rtlCol="0" anchor="ctr"/>
          <a:lstStyle/>
          <a:p>
            <a:pPr algn="r" indent="0" marL="0">
              <a:buNone/>
            </a:pPr>
            <a:r>
              <a:rPr lang="en-US" sz="945" dirty="0">
                <a:solidFill>
                  <a:srgbClr val="8B8F93"/>
                </a:solidFill>
                <a:latin typeface="JetBrains Mono" pitchFamily="34" charset="0"/>
                <a:ea typeface="JetBrains Mono" pitchFamily="34" charset="-122"/>
                <a:cs typeface="JetBrains Mono" pitchFamily="34" charset="-120"/>
              </a:rPr>
              <a:t>8</a:t>
            </a:r>
            <a:endParaRPr lang="en-US" sz="945" dirty="0"/>
          </a:p>
        </p:txBody>
      </p:sp>
      <p:sp>
        <p:nvSpPr>
          <p:cNvPr id="28" name="Text 24"/>
          <p:cNvSpPr txBox="1"/>
          <p:nvPr/>
        </p:nvSpPr>
        <p:spPr>
          <a:xfrm>
            <a:off x="1335024" y="4690872"/>
            <a:ext cx="6236208" cy="310896"/>
          </a:xfrm>
          <a:prstGeom prst="rect">
            <a:avLst/>
          </a:prstGeom>
          <a:noFill/>
          <a:ln/>
        </p:spPr>
        <p:txBody>
          <a:bodyPr wrap="square" lIns="0" tIns="0" rIns="0" bIns="0" rtlCol="0" anchor="ctr"/>
          <a:lstStyle/>
          <a:p>
            <a:pPr algn="l" indent="0" marL="0">
              <a:buNone/>
            </a:pPr>
            <a:r>
              <a:rPr lang="en-US" sz="1350" dirty="0">
                <a:solidFill>
                  <a:srgbClr val="5F7368"/>
                </a:solidFill>
                <a:latin typeface="JetBrains Mono" pitchFamily="34" charset="0"/>
                <a:ea typeface="JetBrains Mono" pitchFamily="34" charset="-122"/>
                <a:cs typeface="JetBrains Mono" pitchFamily="34" charset="-120"/>
              </a:rPr>
              <a:t>return await readState(browser);</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5F736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r>
              <a:rPr lang="en-US" sz="1350" dirty="0">
                <a:solidFill>
                  <a:srgbClr val="2B3138"/>
                </a:solidFill>
                <a:latin typeface="JetBrains Mono" pitchFamily="34" charset="0"/>
                <a:ea typeface="JetBrains Mono" pitchFamily="34" charset="-122"/>
                <a:cs typeface="JetBrains Mono" pitchFamily="34" charset="-120"/>
              </a:rPr>
              <a:t/>
            </a:r>
            <a:r>
              <a:rPr lang="en-US" sz="1350" dirty="0">
                <a:solidFill>
                  <a:srgbClr val="8B8F93"/>
                </a:solidFill>
                <a:latin typeface="JetBrains Mono" pitchFamily="34" charset="0"/>
                <a:ea typeface="JetBrains Mono" pitchFamily="34" charset="-122"/>
                <a:cs typeface="JetBrains Mono" pitchFamily="34" charset="-120"/>
              </a:rPr>
              <a:t/>
            </a:r>
            <a:endParaRPr lang="en-US" sz="1350" dirty="0"/>
          </a:p>
        </p:txBody>
      </p:sp>
      <p:sp>
        <p:nvSpPr>
          <p:cNvPr id="29" name="Text 25"/>
          <p:cNvSpPr txBox="1"/>
          <p:nvPr/>
        </p:nvSpPr>
        <p:spPr>
          <a:xfrm>
            <a:off x="758952" y="5276088"/>
            <a:ext cx="7040880" cy="274320"/>
          </a:xfrm>
          <a:prstGeom prst="rect">
            <a:avLst/>
          </a:prstGeom>
          <a:noFill/>
          <a:ln/>
        </p:spPr>
        <p:txBody>
          <a:bodyPr wrap="square" lIns="0" tIns="0" rIns="0" bIns="0" rtlCol="0" anchor="t"/>
          <a:lstStyle/>
          <a:p>
            <a:pPr rtl="1" algn="r" indent="0" marL="0">
              <a:buNone/>
            </a:pPr>
            <a:r>
              <a:rPr lang="he-IL" altLang="en-US" sz="1200" dirty="0">
                <a:solidFill>
                  <a:srgbClr val="8B8F93"/>
                </a:solidFill>
                <a:latin typeface="Instrument Sans" pitchFamily="34" charset="0"/>
                <a:ea typeface="Instrument Sans" pitchFamily="34" charset="-122"/>
                <a:cs typeface="Assistant" pitchFamily="34" charset="-120"/>
              </a:rPr>
              <a:t>loop.ts ו-executor.ts, מקוצר</a:t>
            </a:r>
            <a:endParaRPr lang="he-IL" sz="1200" dirty="0"/>
          </a:p>
        </p:txBody>
      </p:sp>
      <p:sp>
        <p:nvSpPr>
          <p:cNvPr id="30" name="Shape 26"/>
          <p:cNvSpPr/>
          <p:nvPr/>
        </p:nvSpPr>
        <p:spPr>
          <a:xfrm>
            <a:off x="7388352" y="2862072"/>
            <a:ext cx="237744" cy="237744"/>
          </a:xfrm>
          <a:prstGeom prst="rect">
            <a:avLst/>
          </a:prstGeom>
          <a:solidFill>
            <a:srgbClr val="5F7368"/>
          </a:solidFill>
          <a:ln/>
        </p:spPr>
      </p:sp>
      <p:sp>
        <p:nvSpPr>
          <p:cNvPr id="31" name="Text 27"/>
          <p:cNvSpPr txBox="1"/>
          <p:nvPr/>
        </p:nvSpPr>
        <p:spPr>
          <a:xfrm>
            <a:off x="7388352" y="2862072"/>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1</a:t>
            </a:r>
            <a:endParaRPr lang="en-US" sz="1050" dirty="0"/>
          </a:p>
        </p:txBody>
      </p:sp>
      <p:sp>
        <p:nvSpPr>
          <p:cNvPr id="32" name="Shape 28"/>
          <p:cNvSpPr/>
          <p:nvPr/>
        </p:nvSpPr>
        <p:spPr>
          <a:xfrm>
            <a:off x="7388352" y="4105656"/>
            <a:ext cx="237744" cy="237744"/>
          </a:xfrm>
          <a:prstGeom prst="rect">
            <a:avLst/>
          </a:prstGeom>
          <a:solidFill>
            <a:srgbClr val="5F7368"/>
          </a:solidFill>
          <a:ln/>
        </p:spPr>
      </p:sp>
      <p:sp>
        <p:nvSpPr>
          <p:cNvPr id="33" name="Text 29"/>
          <p:cNvSpPr txBox="1"/>
          <p:nvPr/>
        </p:nvSpPr>
        <p:spPr>
          <a:xfrm>
            <a:off x="7388352" y="4105656"/>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2</a:t>
            </a:r>
            <a:endParaRPr lang="en-US" sz="1050" dirty="0"/>
          </a:p>
        </p:txBody>
      </p:sp>
      <p:sp>
        <p:nvSpPr>
          <p:cNvPr id="34" name="Shape 30"/>
          <p:cNvSpPr/>
          <p:nvPr/>
        </p:nvSpPr>
        <p:spPr>
          <a:xfrm>
            <a:off x="7388352" y="4416552"/>
            <a:ext cx="237744" cy="237744"/>
          </a:xfrm>
          <a:prstGeom prst="rect">
            <a:avLst/>
          </a:prstGeom>
          <a:solidFill>
            <a:srgbClr val="5F7368"/>
          </a:solidFill>
          <a:ln/>
        </p:spPr>
      </p:sp>
      <p:sp>
        <p:nvSpPr>
          <p:cNvPr id="35" name="Text 31"/>
          <p:cNvSpPr txBox="1"/>
          <p:nvPr/>
        </p:nvSpPr>
        <p:spPr>
          <a:xfrm>
            <a:off x="7388352" y="4416552"/>
            <a:ext cx="237744" cy="237744"/>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3</a:t>
            </a:r>
            <a:endParaRPr lang="en-US" sz="1050" dirty="0"/>
          </a:p>
        </p:txBody>
      </p:sp>
      <p:sp>
        <p:nvSpPr>
          <p:cNvPr id="36" name="Shape 32"/>
          <p:cNvSpPr/>
          <p:nvPr/>
        </p:nvSpPr>
        <p:spPr>
          <a:xfrm>
            <a:off x="11158423" y="2167128"/>
            <a:ext cx="274320" cy="274320"/>
          </a:xfrm>
          <a:prstGeom prst="rect">
            <a:avLst/>
          </a:prstGeom>
          <a:solidFill>
            <a:srgbClr val="5F7368"/>
          </a:solidFill>
          <a:ln/>
        </p:spPr>
      </p:sp>
      <p:sp>
        <p:nvSpPr>
          <p:cNvPr id="37" name="Text 33"/>
          <p:cNvSpPr txBox="1"/>
          <p:nvPr/>
        </p:nvSpPr>
        <p:spPr>
          <a:xfrm>
            <a:off x="11158423" y="21671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1</a:t>
            </a:r>
            <a:endParaRPr lang="en-US" sz="1050" dirty="0"/>
          </a:p>
        </p:txBody>
      </p:sp>
      <p:sp>
        <p:nvSpPr>
          <p:cNvPr id="38" name="Text 34"/>
          <p:cNvSpPr txBox="1"/>
          <p:nvPr/>
        </p:nvSpPr>
        <p:spPr>
          <a:xfrm>
            <a:off x="8229600" y="21031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העולם השתנה?</a:t>
            </a:r>
            <a:endParaRPr lang="he-IL" sz="1900" dirty="0"/>
          </a:p>
        </p:txBody>
      </p:sp>
      <p:sp>
        <p:nvSpPr>
          <p:cNvPr id="39" name="Text 35"/>
          <p:cNvSpPr txBox="1"/>
          <p:nvPr/>
        </p:nvSpPr>
        <p:spPr>
          <a:xfrm>
            <a:off x="8229600" y="25054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ממתינים ומוודאים את גרסת ההחלטה</a:t>
            </a:r>
            <a:endParaRPr lang="he-IL" sz="1400" dirty="0"/>
          </a:p>
        </p:txBody>
      </p:sp>
      <p:sp>
        <p:nvSpPr>
          <p:cNvPr id="40" name="Shape 36"/>
          <p:cNvSpPr/>
          <p:nvPr/>
        </p:nvSpPr>
        <p:spPr>
          <a:xfrm>
            <a:off x="8229600" y="2907792"/>
            <a:ext cx="3203143" cy="0"/>
          </a:xfrm>
          <a:prstGeom prst="line">
            <a:avLst/>
          </a:prstGeom>
          <a:noFill/>
          <a:ln w="9525">
            <a:solidFill>
              <a:srgbClr val="E4E0D6"/>
            </a:solidFill>
            <a:prstDash val="solid"/>
          </a:ln>
        </p:spPr>
      </p:sp>
      <p:sp>
        <p:nvSpPr>
          <p:cNvPr id="41" name="Shape 37"/>
          <p:cNvSpPr/>
          <p:nvPr/>
        </p:nvSpPr>
        <p:spPr>
          <a:xfrm>
            <a:off x="11158423" y="3081528"/>
            <a:ext cx="274320" cy="274320"/>
          </a:xfrm>
          <a:prstGeom prst="rect">
            <a:avLst/>
          </a:prstGeom>
          <a:solidFill>
            <a:srgbClr val="5F7368"/>
          </a:solidFill>
          <a:ln/>
        </p:spPr>
      </p:sp>
      <p:sp>
        <p:nvSpPr>
          <p:cNvPr id="42" name="Text 38"/>
          <p:cNvSpPr txBox="1"/>
          <p:nvPr/>
        </p:nvSpPr>
        <p:spPr>
          <a:xfrm>
            <a:off x="11158423" y="30815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2</a:t>
            </a:r>
            <a:endParaRPr lang="en-US" sz="1050" dirty="0"/>
          </a:p>
        </p:txBody>
      </p:sp>
      <p:sp>
        <p:nvSpPr>
          <p:cNvPr id="43" name="Text 39"/>
          <p:cNvSpPr txBox="1"/>
          <p:nvPr/>
        </p:nvSpPr>
        <p:spPr>
          <a:xfrm>
            <a:off x="8229600" y="30175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התנאים עדיין מתקיימים?</a:t>
            </a:r>
            <a:endParaRPr lang="he-IL" sz="1900" dirty="0"/>
          </a:p>
        </p:txBody>
      </p:sp>
      <p:sp>
        <p:nvSpPr>
          <p:cNvPr id="44" name="Text 40"/>
          <p:cNvSpPr txBox="1"/>
          <p:nvPr/>
        </p:nvSpPr>
        <p:spPr>
          <a:xfrm>
            <a:off x="8229600" y="34198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הבדיקה קוראת את התקציב העדכני</a:t>
            </a:r>
            <a:endParaRPr lang="he-IL" sz="1400" dirty="0"/>
          </a:p>
        </p:txBody>
      </p:sp>
      <p:sp>
        <p:nvSpPr>
          <p:cNvPr id="45" name="Shape 41"/>
          <p:cNvSpPr/>
          <p:nvPr/>
        </p:nvSpPr>
        <p:spPr>
          <a:xfrm>
            <a:off x="8229600" y="3822192"/>
            <a:ext cx="3203143" cy="0"/>
          </a:xfrm>
          <a:prstGeom prst="line">
            <a:avLst/>
          </a:prstGeom>
          <a:noFill/>
          <a:ln w="9525">
            <a:solidFill>
              <a:srgbClr val="E4E0D6"/>
            </a:solidFill>
            <a:prstDash val="solid"/>
          </a:ln>
        </p:spPr>
      </p:sp>
      <p:sp>
        <p:nvSpPr>
          <p:cNvPr id="46" name="Shape 42"/>
          <p:cNvSpPr/>
          <p:nvPr/>
        </p:nvSpPr>
        <p:spPr>
          <a:xfrm>
            <a:off x="11158423" y="3995928"/>
            <a:ext cx="274320" cy="274320"/>
          </a:xfrm>
          <a:prstGeom prst="rect">
            <a:avLst/>
          </a:prstGeom>
          <a:solidFill>
            <a:srgbClr val="5F7368"/>
          </a:solidFill>
          <a:ln/>
        </p:spPr>
      </p:sp>
      <p:sp>
        <p:nvSpPr>
          <p:cNvPr id="47" name="Text 43"/>
          <p:cNvSpPr txBox="1"/>
          <p:nvPr/>
        </p:nvSpPr>
        <p:spPr>
          <a:xfrm>
            <a:off x="11158423" y="3995928"/>
            <a:ext cx="274320" cy="274320"/>
          </a:xfrm>
          <a:prstGeom prst="rect">
            <a:avLst/>
          </a:prstGeom>
          <a:noFill/>
          <a:ln/>
        </p:spPr>
        <p:txBody>
          <a:bodyPr wrap="square" lIns="0" tIns="0" rIns="0" bIns="0" rtlCol="0" anchor="ctr"/>
          <a:lstStyle/>
          <a:p>
            <a:pPr algn="ctr" indent="0" marL="0">
              <a:buNone/>
            </a:pPr>
            <a:r>
              <a:rPr lang="en-US" sz="1050" b="1" dirty="0">
                <a:solidFill>
                  <a:srgbClr val="FAF6EF"/>
                </a:solidFill>
                <a:latin typeface="Instrument Sans" pitchFamily="34" charset="0"/>
                <a:ea typeface="Instrument Sans" pitchFamily="34" charset="-122"/>
                <a:cs typeface="Assistant" pitchFamily="34" charset="-120"/>
              </a:rPr>
              <a:t>3</a:t>
            </a:r>
            <a:endParaRPr lang="en-US" sz="1050" dirty="0"/>
          </a:p>
        </p:txBody>
      </p:sp>
      <p:sp>
        <p:nvSpPr>
          <p:cNvPr id="48" name="Text 44"/>
          <p:cNvSpPr txBox="1"/>
          <p:nvPr/>
        </p:nvSpPr>
        <p:spPr>
          <a:xfrm>
            <a:off x="8229600" y="3931920"/>
            <a:ext cx="2745943" cy="384048"/>
          </a:xfrm>
          <a:prstGeom prst="rect">
            <a:avLst/>
          </a:prstGeom>
          <a:noFill/>
          <a:ln/>
        </p:spPr>
        <p:txBody>
          <a:bodyPr wrap="square" lIns="0" tIns="0" rIns="0" bIns="0" rtlCol="0" anchor="ctr"/>
          <a:lstStyle/>
          <a:p>
            <a:pPr rtl="1" algn="r" indent="0" marL="0">
              <a:buNone/>
            </a:pPr>
            <a:r>
              <a:rPr lang="he-IL" altLang="en-US" sz="1900" b="1" dirty="0">
                <a:solidFill>
                  <a:srgbClr val="2B3138"/>
                </a:solidFill>
                <a:latin typeface="Instrument Sans" pitchFamily="34" charset="0"/>
                <a:ea typeface="Instrument Sans" pitchFamily="34" charset="-122"/>
                <a:cs typeface="Assistant" pitchFamily="34" charset="-120"/>
              </a:rPr>
              <a:t>רק אז לוחצים</a:t>
            </a:r>
            <a:endParaRPr lang="he-IL" sz="1900" dirty="0"/>
          </a:p>
        </p:txBody>
      </p:sp>
      <p:sp>
        <p:nvSpPr>
          <p:cNvPr id="49" name="Text 45"/>
          <p:cNvSpPr txBox="1"/>
          <p:nvPr/>
        </p:nvSpPr>
        <p:spPr>
          <a:xfrm>
            <a:off x="8229600" y="4334256"/>
            <a:ext cx="2745943"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ומיד קוראים את התוצאה</a:t>
            </a:r>
            <a:endParaRPr lang="he-IL" sz="1400" dirty="0"/>
          </a:p>
        </p:txBody>
      </p:sp>
      <p:sp>
        <p:nvSpPr>
          <p:cNvPr id="50" name="Shape 46"/>
          <p:cNvSpPr/>
          <p:nvPr/>
        </p:nvSpPr>
        <p:spPr>
          <a:xfrm>
            <a:off x="758952" y="5532120"/>
            <a:ext cx="10673791" cy="685800"/>
          </a:xfrm>
          <a:prstGeom prst="rect">
            <a:avLst/>
          </a:prstGeom>
          <a:solidFill>
            <a:srgbClr val="F3EDE2"/>
          </a:solidFill>
          <a:ln/>
        </p:spPr>
      </p:sp>
      <p:sp>
        <p:nvSpPr>
          <p:cNvPr id="51" name="Shape 47"/>
          <p:cNvSpPr/>
          <p:nvPr/>
        </p:nvSpPr>
        <p:spPr>
          <a:xfrm>
            <a:off x="11414455" y="5532120"/>
            <a:ext cx="0" cy="685800"/>
          </a:xfrm>
          <a:prstGeom prst="line">
            <a:avLst/>
          </a:prstGeom>
          <a:noFill/>
          <a:ln w="38100">
            <a:solidFill>
              <a:srgbClr val="8FA396"/>
            </a:solidFill>
            <a:prstDash val="solid"/>
          </a:ln>
        </p:spPr>
      </p:sp>
      <p:sp>
        <p:nvSpPr>
          <p:cNvPr id="52" name="Text 48"/>
          <p:cNvSpPr txBox="1"/>
          <p:nvPr/>
        </p:nvSpPr>
        <p:spPr>
          <a:xfrm>
            <a:off x="1078992" y="5532120"/>
            <a:ext cx="10033711" cy="685800"/>
          </a:xfrm>
          <a:prstGeom prst="rect">
            <a:avLst/>
          </a:prstGeom>
          <a:noFill/>
          <a:ln/>
        </p:spPr>
        <p:txBody>
          <a:bodyPr wrap="square" lIns="0" tIns="0" rIns="0" bIns="0" rtlCol="0" anchor="ctr"/>
          <a:lstStyle/>
          <a:p>
            <a:pPr rtl="1" algn="r" indent="0" marL="0">
              <a:buNone/>
            </a:pPr>
            <a:r>
              <a:rPr lang="he-IL" altLang="en-US" sz="1700" dirty="0">
                <a:solidFill>
                  <a:srgbClr val="2B3138"/>
                </a:solidFill>
                <a:latin typeface="Instrument Sans" pitchFamily="34" charset="0"/>
                <a:ea typeface="Instrument Sans" pitchFamily="34" charset="-122"/>
                <a:cs typeface="Assistant" pitchFamily="34" charset="-120"/>
              </a:rPr>
              <a:t>פעולה משמעותית, כמו הזמנה, </a:t>
            </a:r>
            <a:r>
              <a:rPr lang="he-IL" altLang="en-US" sz="1700" b="1" dirty="0">
                <a:solidFill>
                  <a:srgbClr val="5F7368"/>
                </a:solidFill>
                <a:latin typeface="Instrument Sans" pitchFamily="34" charset="0"/>
                <a:ea typeface="Instrument Sans" pitchFamily="34" charset="-122"/>
                <a:cs typeface="Assistant" pitchFamily="34" charset="-120"/>
              </a:rPr>
              <a:t>נבדקת סופית בצד השרת.</a:t>
            </a:r>
            <a:endParaRPr lang="he-IL" sz="1700" dirty="0"/>
          </a:p>
        </p:txBody>
      </p:sp>
      <p:sp>
        <p:nvSpPr>
          <p:cNvPr id="53" name="Text 49"/>
          <p:cNvSpPr txBox="1"/>
          <p:nvPr/>
        </p:nvSpPr>
        <p:spPr>
          <a:xfrm>
            <a:off x="6860743" y="6336792"/>
            <a:ext cx="4572000" cy="256032"/>
          </a:xfrm>
          <a:prstGeom prst="rect">
            <a:avLst/>
          </a:prstGeom>
          <a:noFill/>
          <a:ln/>
        </p:spPr>
        <p:txBody>
          <a:bodyPr wrap="square" lIns="0" tIns="0" rIns="0" bIns="0" rtlCol="0" anchor="ctr"/>
          <a:lstStyle/>
          <a:p>
            <a:pPr rtl="1" algn="r" indent="0" marL="0">
              <a:buNone/>
            </a:pPr>
            <a:r>
              <a:rPr lang="he-IL" altLang="en-US" sz="1100" dirty="0">
                <a:solidFill>
                  <a:srgbClr val="8B8F93"/>
                </a:solidFill>
                <a:latin typeface="Instrument Sans" pitchFamily="34" charset="0"/>
                <a:ea typeface="Instrument Sans" pitchFamily="34" charset="-122"/>
                <a:cs typeface="Assistant" pitchFamily="34" charset="-120"/>
              </a:rPr>
              <a:t>מתכנן</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Jev</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b="1" dirty="0">
                <a:solidFill>
                  <a:srgbClr val="5F7368"/>
                </a:solidFill>
                <a:latin typeface="Instrument Sans" pitchFamily="34" charset="0"/>
                <a:ea typeface="Instrument Sans" pitchFamily="34" charset="-122"/>
                <a:cs typeface="Assistant" pitchFamily="34" charset="-120"/>
              </a:rPr>
              <a:t>הקוד שלנו</a:t>
            </a:r>
            <a:r>
              <a:rPr lang="he-IL" altLang="en-US" sz="1100" dirty="0">
                <a:solidFill>
                  <a:srgbClr val="D8D2C6"/>
                </a:solidFill>
                <a:latin typeface="Instrument Sans" pitchFamily="34" charset="0"/>
                <a:ea typeface="Instrument Sans" pitchFamily="34" charset="-122"/>
                <a:cs typeface="Assistant" pitchFamily="34" charset="-120"/>
              </a:rPr>
              <a:t>   ·   </a:t>
            </a:r>
            <a:r>
              <a:rPr lang="he-IL" altLang="en-US" sz="1100" dirty="0">
                <a:solidFill>
                  <a:srgbClr val="8B8F93"/>
                </a:solidFill>
                <a:latin typeface="Instrument Sans" pitchFamily="34" charset="0"/>
                <a:ea typeface="Instrument Sans" pitchFamily="34" charset="-122"/>
                <a:cs typeface="Assistant" pitchFamily="34" charset="-120"/>
              </a:rPr>
              <a:t>דפדפן</a:t>
            </a:r>
            <a:endParaRPr lang="he-IL" sz="11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Slide 14">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14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600" dirty="0">
                <a:solidFill>
                  <a:srgbClr val="2B3138"/>
                </a:solidFill>
                <a:latin typeface="Fraunces" pitchFamily="34" charset="0"/>
                <a:ea typeface="Fraunces" pitchFamily="34" charset="-122"/>
                <a:cs typeface="Frank Ruhl Libre" pitchFamily="34" charset="-120"/>
              </a:rPr>
              <a:t>אותה ריצה. ההחלטה הישנה נדחית.</a:t>
            </a:r>
            <a:endParaRPr lang="he-IL" sz="36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8278063" y="2103120"/>
            <a:ext cx="3154680" cy="502920"/>
          </a:xfrm>
          <a:prstGeom prst="rect">
            <a:avLst/>
          </a:prstGeom>
          <a:noFill/>
          <a:ln/>
        </p:spPr>
        <p:txBody>
          <a:bodyPr wrap="square" lIns="0" tIns="0" rIns="0" bIns="0" rtlCol="0" anchor="t"/>
          <a:lstStyle/>
          <a:p>
            <a:pPr algn="r" indent="0" marL="0">
              <a:buNone/>
            </a:pPr>
            <a:r>
              <a:rPr lang="en-US" sz="3000" i="1" dirty="0">
                <a:solidFill>
                  <a:srgbClr val="5F7368"/>
                </a:solidFill>
                <a:latin typeface="Fraunces" pitchFamily="34" charset="0"/>
                <a:ea typeface="Fraunces" pitchFamily="34" charset="-122"/>
                <a:cs typeface="Frank Ruhl Libre" pitchFamily="34" charset="-120"/>
              </a:rPr>
              <a:t>01</a:t>
            </a:r>
            <a:endParaRPr lang="en-US" sz="3000" dirty="0"/>
          </a:p>
        </p:txBody>
      </p:sp>
      <p:sp>
        <p:nvSpPr>
          <p:cNvPr id="9" name="Text 5"/>
          <p:cNvSpPr txBox="1"/>
          <p:nvPr/>
        </p:nvSpPr>
        <p:spPr>
          <a:xfrm>
            <a:off x="8278063" y="2670048"/>
            <a:ext cx="3154680" cy="292608"/>
          </a:xfrm>
          <a:prstGeom prst="rect">
            <a:avLst/>
          </a:prstGeom>
          <a:noFill/>
          <a:ln/>
        </p:spPr>
        <p:txBody>
          <a:bodyPr wrap="square" lIns="0" tIns="0" rIns="0" bIns="0" rtlCol="0" anchor="t"/>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השינוי</a:t>
            </a:r>
            <a:endParaRPr lang="he-IL" sz="1400" dirty="0"/>
          </a:p>
        </p:txBody>
      </p:sp>
      <p:sp>
        <p:nvSpPr>
          <p:cNvPr id="10" name="Text 6"/>
          <p:cNvSpPr txBox="1"/>
          <p:nvPr/>
        </p:nvSpPr>
        <p:spPr>
          <a:xfrm>
            <a:off x="8278063" y="2999232"/>
            <a:ext cx="3154680" cy="438912"/>
          </a:xfrm>
          <a:prstGeom prst="rect">
            <a:avLst/>
          </a:prstGeom>
          <a:noFill/>
          <a:ln/>
        </p:spPr>
        <p:txBody>
          <a:bodyPr wrap="square" lIns="0" tIns="0" rIns="0" bIns="0" rtlCol="0" anchor="t"/>
          <a:lstStyle/>
          <a:p>
            <a:pPr rtl="1" algn="r" indent="0" marL="0">
              <a:buNone/>
            </a:pPr>
            <a:r>
              <a:rPr lang="he-IL" altLang="en-US" sz="2100" b="1" dirty="0">
                <a:solidFill>
                  <a:srgbClr val="A6423F"/>
                </a:solidFill>
                <a:latin typeface="Instrument Sans" pitchFamily="34" charset="0"/>
                <a:ea typeface="Instrument Sans" pitchFamily="34" charset="-122"/>
                <a:cs typeface="Assistant" pitchFamily="34" charset="-120"/>
              </a:rPr>
              <a:t>A התמלא לפני הלחיצה</a:t>
            </a:r>
            <a:endParaRPr lang="he-IL" sz="2100" dirty="0"/>
          </a:p>
        </p:txBody>
      </p:sp>
      <p:sp>
        <p:nvSpPr>
          <p:cNvPr id="11" name="Shape 7"/>
          <p:cNvSpPr/>
          <p:nvPr/>
        </p:nvSpPr>
        <p:spPr>
          <a:xfrm>
            <a:off x="8278063" y="3566160"/>
            <a:ext cx="3154680" cy="694944"/>
          </a:xfrm>
          <a:prstGeom prst="rect">
            <a:avLst/>
          </a:prstGeom>
          <a:solidFill>
            <a:srgbClr val="F3EDE2"/>
          </a:solidFill>
          <a:ln w="9525">
            <a:solidFill>
              <a:srgbClr val="D8D2C6"/>
            </a:solidFill>
            <a:prstDash val="solid"/>
          </a:ln>
        </p:spPr>
      </p:sp>
      <p:sp>
        <p:nvSpPr>
          <p:cNvPr id="12" name="Text 8"/>
          <p:cNvSpPr txBox="1"/>
          <p:nvPr/>
        </p:nvSpPr>
        <p:spPr>
          <a:xfrm>
            <a:off x="8506663" y="3767328"/>
            <a:ext cx="2697480" cy="292608"/>
          </a:xfrm>
          <a:prstGeom prst="rect">
            <a:avLst/>
          </a:prstGeom>
          <a:noFill/>
          <a:ln/>
        </p:spPr>
        <p:txBody>
          <a:bodyPr wrap="square" lIns="0" tIns="0" rIns="0" bIns="0" rtlCol="0" anchor="ctr"/>
          <a:lstStyle/>
          <a:p>
            <a:pPr algn="l" indent="0" marL="0">
              <a:buNone/>
            </a:pPr>
            <a:r>
              <a:rPr lang="en-US" sz="1250" dirty="0">
                <a:solidFill>
                  <a:srgbClr val="5F7368"/>
                </a:solidFill>
                <a:latin typeface="JetBrains Mono" pitchFamily="34" charset="0"/>
                <a:ea typeface="JetBrains Mono" pitchFamily="34" charset="-122"/>
                <a:cs typeface="JetBrains Mono" pitchFamily="34" charset="-120"/>
              </a:rPr>
              <a:t>hotel_A</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sold_out</a:t>
            </a:r>
            <a:endParaRPr lang="en-US" sz="1250" dirty="0"/>
          </a:p>
        </p:txBody>
      </p:sp>
      <p:sp>
        <p:nvSpPr>
          <p:cNvPr id="13" name="Text 9"/>
          <p:cNvSpPr txBox="1"/>
          <p:nvPr/>
        </p:nvSpPr>
        <p:spPr>
          <a:xfrm>
            <a:off x="7673188" y="2926080"/>
            <a:ext cx="604876" cy="54864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14" name="Text 10"/>
          <p:cNvSpPr txBox="1"/>
          <p:nvPr/>
        </p:nvSpPr>
        <p:spPr>
          <a:xfrm>
            <a:off x="4518508" y="2103120"/>
            <a:ext cx="3154680" cy="502920"/>
          </a:xfrm>
          <a:prstGeom prst="rect">
            <a:avLst/>
          </a:prstGeom>
          <a:noFill/>
          <a:ln/>
        </p:spPr>
        <p:txBody>
          <a:bodyPr wrap="square" lIns="0" tIns="0" rIns="0" bIns="0" rtlCol="0" anchor="t"/>
          <a:lstStyle/>
          <a:p>
            <a:pPr algn="r" indent="0" marL="0">
              <a:buNone/>
            </a:pPr>
            <a:r>
              <a:rPr lang="en-US" sz="3000" i="1" dirty="0">
                <a:solidFill>
                  <a:srgbClr val="5F7368"/>
                </a:solidFill>
                <a:latin typeface="Fraunces" pitchFamily="34" charset="0"/>
                <a:ea typeface="Fraunces" pitchFamily="34" charset="-122"/>
                <a:cs typeface="Frank Ruhl Libre" pitchFamily="34" charset="-120"/>
              </a:rPr>
              <a:t>02</a:t>
            </a:r>
            <a:endParaRPr lang="en-US" sz="3000" dirty="0"/>
          </a:p>
        </p:txBody>
      </p:sp>
      <p:sp>
        <p:nvSpPr>
          <p:cNvPr id="15" name="Text 11"/>
          <p:cNvSpPr txBox="1"/>
          <p:nvPr/>
        </p:nvSpPr>
        <p:spPr>
          <a:xfrm>
            <a:off x="4518508" y="2670048"/>
            <a:ext cx="3154680" cy="292608"/>
          </a:xfrm>
          <a:prstGeom prst="rect">
            <a:avLst/>
          </a:prstGeom>
          <a:noFill/>
          <a:ln/>
        </p:spPr>
        <p:txBody>
          <a:bodyPr wrap="square" lIns="0" tIns="0" rIns="0" bIns="0" rtlCol="0" anchor="t"/>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הבדיקה</a:t>
            </a:r>
            <a:endParaRPr lang="he-IL" sz="1400" dirty="0"/>
          </a:p>
        </p:txBody>
      </p:sp>
      <p:sp>
        <p:nvSpPr>
          <p:cNvPr id="16" name="Text 12"/>
          <p:cNvSpPr txBox="1"/>
          <p:nvPr/>
        </p:nvSpPr>
        <p:spPr>
          <a:xfrm>
            <a:off x="4518508" y="2999232"/>
            <a:ext cx="3154680" cy="438912"/>
          </a:xfrm>
          <a:prstGeom prst="rect">
            <a:avLst/>
          </a:prstGeom>
          <a:noFill/>
          <a:ln/>
        </p:spPr>
        <p:txBody>
          <a:bodyPr wrap="square" lIns="0" tIns="0" rIns="0" bIns="0" rtlCol="0" anchor="t"/>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דחייה לפני לחיצה</a:t>
            </a:r>
            <a:endParaRPr lang="he-IL" sz="2100" dirty="0"/>
          </a:p>
        </p:txBody>
      </p:sp>
      <p:sp>
        <p:nvSpPr>
          <p:cNvPr id="17" name="Shape 13"/>
          <p:cNvSpPr/>
          <p:nvPr/>
        </p:nvSpPr>
        <p:spPr>
          <a:xfrm>
            <a:off x="4518508" y="3566160"/>
            <a:ext cx="3154680" cy="694944"/>
          </a:xfrm>
          <a:prstGeom prst="rect">
            <a:avLst/>
          </a:prstGeom>
          <a:solidFill>
            <a:srgbClr val="F3EDE2"/>
          </a:solidFill>
          <a:ln w="9525">
            <a:solidFill>
              <a:srgbClr val="D8D2C6"/>
            </a:solidFill>
            <a:prstDash val="solid"/>
          </a:ln>
        </p:spPr>
      </p:sp>
      <p:sp>
        <p:nvSpPr>
          <p:cNvPr id="18" name="Text 14"/>
          <p:cNvSpPr txBox="1"/>
          <p:nvPr/>
        </p:nvSpPr>
        <p:spPr>
          <a:xfrm>
            <a:off x="4747108" y="3767328"/>
            <a:ext cx="2697480" cy="292608"/>
          </a:xfrm>
          <a:prstGeom prst="rect">
            <a:avLst/>
          </a:prstGeom>
          <a:noFill/>
          <a:ln/>
        </p:spPr>
        <p:txBody>
          <a:bodyPr wrap="square" lIns="0" tIns="0" rIns="0" bIns="0" rtlCol="0" anchor="ctr"/>
          <a:lstStyle/>
          <a:p>
            <a:pPr algn="l" indent="0" marL="0">
              <a:buNone/>
            </a:pPr>
            <a:r>
              <a:rPr lang="en-US" sz="1250" dirty="0">
                <a:solidFill>
                  <a:srgbClr val="5F7368"/>
                </a:solidFill>
                <a:latin typeface="JetBrains Mono" pitchFamily="34" charset="0"/>
                <a:ea typeface="JetBrains Mono" pitchFamily="34" charset="-122"/>
                <a:cs typeface="JetBrains Mono" pitchFamily="34" charset="-120"/>
              </a:rPr>
              <a:t>code: world_changed</a:t>
            </a:r>
            <a:r>
              <a:rPr lang="en-US" sz="1250" dirty="0">
                <a:solidFill>
                  <a:srgbClr val="8B8F93"/>
                </a:solidFill>
                <a:latin typeface="JetBrains Mono" pitchFamily="34" charset="0"/>
                <a:ea typeface="JetBrains Mono" pitchFamily="34" charset="-122"/>
                <a:cs typeface="JetBrains Mono" pitchFamily="34" charset="-120"/>
              </a:rPr>
              <a:t/>
            </a:r>
            <a:r>
              <a:rPr lang="en-US" sz="1250" dirty="0">
                <a:solidFill>
                  <a:srgbClr val="2B3138"/>
                </a:solidFill>
                <a:latin typeface="JetBrains Mono" pitchFamily="34" charset="0"/>
                <a:ea typeface="JetBrains Mono" pitchFamily="34" charset="-122"/>
                <a:cs typeface="JetBrains Mono" pitchFamily="34" charset="-120"/>
              </a:rPr>
              <a:t/>
            </a:r>
            <a:endParaRPr lang="en-US" sz="1250" dirty="0"/>
          </a:p>
        </p:txBody>
      </p:sp>
      <p:sp>
        <p:nvSpPr>
          <p:cNvPr id="19" name="Text 15"/>
          <p:cNvSpPr txBox="1"/>
          <p:nvPr/>
        </p:nvSpPr>
        <p:spPr>
          <a:xfrm>
            <a:off x="3913632" y="2926080"/>
            <a:ext cx="604876" cy="54864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0" name="Text 16"/>
          <p:cNvSpPr txBox="1"/>
          <p:nvPr/>
        </p:nvSpPr>
        <p:spPr>
          <a:xfrm>
            <a:off x="758952" y="2103120"/>
            <a:ext cx="3154680" cy="502920"/>
          </a:xfrm>
          <a:prstGeom prst="rect">
            <a:avLst/>
          </a:prstGeom>
          <a:noFill/>
          <a:ln/>
        </p:spPr>
        <p:txBody>
          <a:bodyPr wrap="square" lIns="0" tIns="0" rIns="0" bIns="0" rtlCol="0" anchor="t"/>
          <a:lstStyle/>
          <a:p>
            <a:pPr algn="r" indent="0" marL="0">
              <a:buNone/>
            </a:pPr>
            <a:r>
              <a:rPr lang="en-US" sz="3000" i="1" dirty="0">
                <a:solidFill>
                  <a:srgbClr val="5F7368"/>
                </a:solidFill>
                <a:latin typeface="Fraunces" pitchFamily="34" charset="0"/>
                <a:ea typeface="Fraunces" pitchFamily="34" charset="-122"/>
                <a:cs typeface="Frank Ruhl Libre" pitchFamily="34" charset="-120"/>
              </a:rPr>
              <a:t>03</a:t>
            </a:r>
            <a:endParaRPr lang="en-US" sz="3000" dirty="0"/>
          </a:p>
        </p:txBody>
      </p:sp>
      <p:sp>
        <p:nvSpPr>
          <p:cNvPr id="21" name="Text 17"/>
          <p:cNvSpPr txBox="1"/>
          <p:nvPr/>
        </p:nvSpPr>
        <p:spPr>
          <a:xfrm>
            <a:off x="758952" y="2670048"/>
            <a:ext cx="3154680" cy="292608"/>
          </a:xfrm>
          <a:prstGeom prst="rect">
            <a:avLst/>
          </a:prstGeom>
          <a:noFill/>
          <a:ln/>
        </p:spPr>
        <p:txBody>
          <a:bodyPr wrap="square" lIns="0" tIns="0" rIns="0" bIns="0" rtlCol="0" anchor="t"/>
          <a:lstStyle/>
          <a:p>
            <a:pPr rtl="1" algn="r" indent="0" marL="0">
              <a:buNone/>
            </a:pPr>
            <a:r>
              <a:rPr lang="he-IL" altLang="en-US" sz="1400" b="1" dirty="0">
                <a:solidFill>
                  <a:srgbClr val="5F7368"/>
                </a:solidFill>
                <a:latin typeface="Instrument Sans" pitchFamily="34" charset="0"/>
                <a:ea typeface="Instrument Sans" pitchFamily="34" charset="-122"/>
                <a:cs typeface="Assistant" pitchFamily="34" charset="-120"/>
              </a:rPr>
              <a:t>סיבוב שני</a:t>
            </a:r>
            <a:endParaRPr lang="he-IL" sz="1400" dirty="0"/>
          </a:p>
        </p:txBody>
      </p:sp>
      <p:sp>
        <p:nvSpPr>
          <p:cNvPr id="22" name="Text 18"/>
          <p:cNvSpPr txBox="1"/>
          <p:nvPr/>
        </p:nvSpPr>
        <p:spPr>
          <a:xfrm>
            <a:off x="758952" y="2999232"/>
            <a:ext cx="3154680" cy="438912"/>
          </a:xfrm>
          <a:prstGeom prst="rect">
            <a:avLst/>
          </a:prstGeom>
          <a:noFill/>
          <a:ln/>
        </p:spPr>
        <p:txBody>
          <a:bodyPr wrap="square" lIns="0" tIns="0" rIns="0" bIns="0" rtlCol="0" anchor="t"/>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מלון C נגיש ובתקציב</a:t>
            </a:r>
            <a:endParaRPr lang="he-IL" sz="2100" dirty="0"/>
          </a:p>
        </p:txBody>
      </p:sp>
      <p:sp>
        <p:nvSpPr>
          <p:cNvPr id="23" name="Shape 19"/>
          <p:cNvSpPr/>
          <p:nvPr/>
        </p:nvSpPr>
        <p:spPr>
          <a:xfrm>
            <a:off x="758952" y="3566160"/>
            <a:ext cx="3154680" cy="1572768"/>
          </a:xfrm>
          <a:prstGeom prst="rect">
            <a:avLst/>
          </a:prstGeom>
          <a:solidFill>
            <a:srgbClr val="F3EDE2"/>
          </a:solidFill>
          <a:ln w="9525">
            <a:solidFill>
              <a:srgbClr val="D8D2C6"/>
            </a:solidFill>
            <a:prstDash val="solid"/>
          </a:ln>
        </p:spPr>
      </p:sp>
      <p:sp>
        <p:nvSpPr>
          <p:cNvPr id="24" name="Text 20"/>
          <p:cNvSpPr txBox="1"/>
          <p:nvPr/>
        </p:nvSpPr>
        <p:spPr>
          <a:xfrm>
            <a:off x="987552" y="3767328"/>
            <a:ext cx="2697480" cy="292608"/>
          </a:xfrm>
          <a:prstGeom prst="rect">
            <a:avLst/>
          </a:prstGeom>
          <a:noFill/>
          <a:ln/>
        </p:spPr>
        <p:txBody>
          <a:bodyPr wrap="square" lIns="0" tIns="0" rIns="0" bIns="0" rtlCol="0" anchor="ctr"/>
          <a:lstStyle/>
          <a:p>
            <a:pPr algn="l" indent="0" marL="0">
              <a:buNone/>
            </a:pPr>
            <a:r>
              <a:rPr lang="en-US" sz="1250" dirty="0">
                <a:solidFill>
                  <a:srgbClr val="5F7368"/>
                </a:solidFill>
                <a:latin typeface="JetBrains Mono" pitchFamily="34" charset="0"/>
                <a:ea typeface="JetBrains Mono" pitchFamily="34" charset="-122"/>
                <a:cs typeface="JetBrains Mono" pitchFamily="34" charset="-120"/>
              </a:rPr>
              <a:t>choice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open_hotel_C</a:t>
            </a:r>
            <a:endParaRPr lang="en-US" sz="1250" dirty="0"/>
          </a:p>
        </p:txBody>
      </p:sp>
      <p:sp>
        <p:nvSpPr>
          <p:cNvPr id="25" name="Text 21"/>
          <p:cNvSpPr txBox="1"/>
          <p:nvPr/>
        </p:nvSpPr>
        <p:spPr>
          <a:xfrm>
            <a:off x="987552" y="4059936"/>
            <a:ext cx="2697480" cy="292608"/>
          </a:xfrm>
          <a:prstGeom prst="rect">
            <a:avLst/>
          </a:prstGeom>
          <a:noFill/>
          <a:ln/>
        </p:spPr>
        <p:txBody>
          <a:bodyPr wrap="square" lIns="0" tIns="0" rIns="0" bIns="0" rtlCol="0" anchor="ctr"/>
          <a:lstStyle/>
          <a:p>
            <a:pPr algn="l" indent="0" marL="0">
              <a:buNone/>
            </a:pPr>
            <a:r>
              <a:rPr lang="en-US" sz="1250" dirty="0">
                <a:solidFill>
                  <a:srgbClr val="5F7368"/>
                </a:solidFill>
                <a:latin typeface="JetBrains Mono" pitchFamily="34" charset="0"/>
                <a:ea typeface="JetBrains Mono" pitchFamily="34" charset="-122"/>
                <a:cs typeface="JetBrains Mono" pitchFamily="34" charset="-120"/>
              </a:rPr>
              <a:t>hotel_C</a:t>
            </a:r>
            <a:r>
              <a:rPr lang="en-US" sz="1250" dirty="0">
                <a:solidFill>
                  <a:srgbClr val="8B8F93"/>
                </a:solidFill>
                <a:latin typeface="JetBrains Mono" pitchFamily="34" charset="0"/>
                <a:ea typeface="JetBrains Mono" pitchFamily="34" charset="-122"/>
                <a:cs typeface="JetBrains Mono" pitchFamily="34" charset="-120"/>
              </a:rPr>
              <a:t>:</a:t>
            </a:r>
            <a:endParaRPr lang="en-US" sz="1250" dirty="0"/>
          </a:p>
        </p:txBody>
      </p:sp>
      <p:sp>
        <p:nvSpPr>
          <p:cNvPr id="26" name="Text 22"/>
          <p:cNvSpPr txBox="1"/>
          <p:nvPr/>
        </p:nvSpPr>
        <p:spPr>
          <a:xfrm>
            <a:off x="987552" y="4352544"/>
            <a:ext cx="2697480" cy="292608"/>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accessible</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true</a:t>
            </a:r>
            <a:endParaRPr lang="en-US" sz="1250" dirty="0"/>
          </a:p>
        </p:txBody>
      </p:sp>
      <p:sp>
        <p:nvSpPr>
          <p:cNvPr id="27" name="Text 23"/>
          <p:cNvSpPr txBox="1"/>
          <p:nvPr/>
        </p:nvSpPr>
        <p:spPr>
          <a:xfrm>
            <a:off x="987552" y="4645152"/>
            <a:ext cx="2697480" cy="292608"/>
          </a:xfrm>
          <a:prstGeom prst="rect">
            <a:avLst/>
          </a:prstGeom>
          <a:noFill/>
          <a:ln/>
        </p:spPr>
        <p:txBody>
          <a:bodyPr wrap="square" lIns="0" tIns="0" rIns="0" bIns="0" rtlCol="0" anchor="ctr"/>
          <a:lstStyle/>
          <a:p>
            <a:pPr algn="l" indent="0" marL="0">
              <a:buNone/>
            </a:pPr>
            <a:r>
              <a:rPr lang="en-US" sz="1250" dirty="0">
                <a:solidFill>
                  <a:srgbClr val="8B8F93"/>
                </a:solidFill>
                <a:latin typeface="JetBrains Mono" pitchFamily="34" charset="0"/>
                <a:ea typeface="JetBrains Mono" pitchFamily="34" charset="-122"/>
                <a:cs typeface="JetBrains Mono" pitchFamily="34" charset="-120"/>
              </a:rPr>
              <a:t>  </a:t>
            </a:r>
            <a:r>
              <a:rPr lang="en-US" sz="1250" dirty="0">
                <a:solidFill>
                  <a:srgbClr val="5F7368"/>
                </a:solidFill>
                <a:latin typeface="JetBrains Mono" pitchFamily="34" charset="0"/>
                <a:ea typeface="JetBrains Mono" pitchFamily="34" charset="-122"/>
                <a:cs typeface="JetBrains Mono" pitchFamily="34" charset="-120"/>
              </a:rPr>
              <a:t>total_eur</a:t>
            </a:r>
            <a:r>
              <a:rPr lang="en-US" sz="1250" dirty="0">
                <a:solidFill>
                  <a:srgbClr val="8B8F93"/>
                </a:solidFill>
                <a:latin typeface="JetBrains Mono" pitchFamily="34" charset="0"/>
                <a:ea typeface="JetBrains Mono" pitchFamily="34" charset="-122"/>
                <a:cs typeface="JetBrains Mono" pitchFamily="34" charset="-120"/>
              </a:rPr>
              <a:t>:</a:t>
            </a:r>
            <a:r>
              <a:rPr lang="en-US" sz="1250" dirty="0">
                <a:solidFill>
                  <a:srgbClr val="2B3138"/>
                </a:solidFill>
                <a:latin typeface="JetBrains Mono" pitchFamily="34" charset="0"/>
                <a:ea typeface="JetBrains Mono" pitchFamily="34" charset="-122"/>
                <a:cs typeface="JetBrains Mono" pitchFamily="34" charset="-120"/>
              </a:rPr>
              <a:t> 590</a:t>
            </a:r>
            <a:endParaRPr lang="en-US" sz="1250" dirty="0"/>
          </a:p>
        </p:txBody>
      </p:sp>
      <p:sp>
        <p:nvSpPr>
          <p:cNvPr id="28" name="Shape 24"/>
          <p:cNvSpPr/>
          <p:nvPr/>
        </p:nvSpPr>
        <p:spPr>
          <a:xfrm>
            <a:off x="758952" y="5349240"/>
            <a:ext cx="10673791" cy="640080"/>
          </a:xfrm>
          <a:prstGeom prst="rect">
            <a:avLst/>
          </a:prstGeom>
          <a:solidFill>
            <a:srgbClr val="F3EDE2"/>
          </a:solidFill>
          <a:ln/>
        </p:spPr>
      </p:sp>
      <p:sp>
        <p:nvSpPr>
          <p:cNvPr id="29" name="Shape 25"/>
          <p:cNvSpPr/>
          <p:nvPr/>
        </p:nvSpPr>
        <p:spPr>
          <a:xfrm>
            <a:off x="11414455" y="5349240"/>
            <a:ext cx="0" cy="640080"/>
          </a:xfrm>
          <a:prstGeom prst="line">
            <a:avLst/>
          </a:prstGeom>
          <a:noFill/>
          <a:ln w="38100">
            <a:solidFill>
              <a:srgbClr val="8FA396"/>
            </a:solidFill>
            <a:prstDash val="solid"/>
          </a:ln>
        </p:spPr>
      </p:sp>
      <p:sp>
        <p:nvSpPr>
          <p:cNvPr id="30" name="Text 26"/>
          <p:cNvSpPr txBox="1"/>
          <p:nvPr/>
        </p:nvSpPr>
        <p:spPr>
          <a:xfrm>
            <a:off x="1078992" y="5349240"/>
            <a:ext cx="10033711" cy="640080"/>
          </a:xfrm>
          <a:prstGeom prst="rect">
            <a:avLst/>
          </a:prstGeom>
          <a:noFill/>
          <a:ln/>
        </p:spPr>
        <p:txBody>
          <a:bodyPr wrap="square" lIns="0" tIns="0" rIns="0" bIns="0" rtlCol="0" anchor="ctr"/>
          <a:lstStyle/>
          <a:p>
            <a:pPr rtl="1" algn="r" indent="0" marL="0">
              <a:buNone/>
            </a:pPr>
            <a:r>
              <a:rPr lang="he-IL" altLang="en-US" sz="1800" b="1" dirty="0">
                <a:solidFill>
                  <a:srgbClr val="5F7368"/>
                </a:solidFill>
                <a:latin typeface="Instrument Sans" pitchFamily="34" charset="0"/>
                <a:ea typeface="Instrument Sans" pitchFamily="34" charset="-122"/>
                <a:cs typeface="Assistant" pitchFamily="34" charset="-120"/>
              </a:rPr>
              <a:t>לפני שחושפים: </a:t>
            </a:r>
            <a:r>
              <a:rPr lang="he-IL" altLang="en-US" sz="1800" dirty="0">
                <a:solidFill>
                  <a:srgbClr val="2B3138"/>
                </a:solidFill>
                <a:latin typeface="Instrument Sans" pitchFamily="34" charset="0"/>
                <a:ea typeface="Instrument Sans" pitchFamily="34" charset="-122"/>
                <a:cs typeface="Assistant" pitchFamily="34" charset="-120"/>
              </a:rPr>
              <a:t>מי רוצה לנחש את הצעד הבא?</a:t>
            </a:r>
            <a:endParaRPr lang="he-IL" sz="1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Slide 15">
    <p:bg>
      <p:bgPr>
        <a:solidFill>
          <a:srgbClr val="FAF6EF"/>
        </a:solidFill>
      </p:bgPr>
    </p:bg>
    <p:spTree>
      <p:nvGrpSpPr>
        <p:cNvPr id="1" name=""/>
        <p:cNvGrpSpPr/>
        <p:nvPr/>
      </p:nvGrpSpPr>
      <p:grpSpPr>
        <a:xfrm>
          <a:off x="0" y="0"/>
          <a:ext cx="0" cy="0"/>
          <a:chOff x="0" y="0"/>
          <a:chExt cx="0" cy="0"/>
        </a:xfrm>
      </p:grpSpPr>
      <p:pic>
        <p:nvPicPr>
          <p:cNvPr id="3" name="Image 0" descr="/home/claude/b2/image5.jpg">    </p:cNvPr>
          <p:cNvPicPr>
            <a:picLocks noChangeAspect="1"/>
          </p:cNvPicPr>
          <p:nvPr/>
        </p:nvPicPr>
        <p:blipFill>
          <a:blip r:embed="rId1"/>
          <a:stretch>
            <a:fillRect/>
          </a:stretch>
        </p:blipFill>
        <p:spPr>
          <a:xfrm>
            <a:off x="0" y="0"/>
            <a:ext cx="12191695" cy="6858000"/>
          </a:xfrm>
          <a:prstGeom prst="rect">
            <a:avLst/>
          </a:prstGeom>
        </p:spPr>
      </p:pic>
      <p:pic>
        <p:nvPicPr>
          <p:cNvPr id="4" name="Image 1" descr="/home/claude/b2/icon.png">    </p:cNvPr>
          <p:cNvPicPr>
            <a:picLocks noChangeAspect="1"/>
          </p:cNvPicPr>
          <p:nvPr/>
        </p:nvPicPr>
        <p:blipFill>
          <a:blip r:embed="rId2"/>
          <a:stretch>
            <a:fillRect/>
          </a:stretch>
        </p:blipFill>
        <p:spPr>
          <a:xfrm>
            <a:off x="11121847" y="329184"/>
            <a:ext cx="310896" cy="310896"/>
          </a:xfrm>
          <a:prstGeom prst="rect">
            <a:avLst/>
          </a:prstGeom>
        </p:spPr>
      </p:pic>
      <p:sp>
        <p:nvSpPr>
          <p:cNvPr id="5"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6" name="Text 1"/>
          <p:cNvSpPr txBox="1"/>
          <p:nvPr/>
        </p:nvSpPr>
        <p:spPr>
          <a:xfrm>
            <a:off x="10061143" y="6336792"/>
            <a:ext cx="1371600" cy="256032"/>
          </a:xfrm>
          <a:prstGeom prst="rect">
            <a:avLst/>
          </a:prstGeom>
          <a:noFill/>
          <a:ln/>
        </p:spPr>
        <p:txBody>
          <a:bodyPr wrap="square" lIns="0" tIns="0" rIns="0" bIns="0" rtlCol="0" anchor="ctr"/>
          <a:lstStyle/>
          <a:p>
            <a:pPr algn="r" indent="0" marL="0">
              <a:buNone/>
            </a:pPr>
            <a:r>
              <a:rPr lang="en-US" sz="1000" dirty="0">
                <a:solidFill>
                  <a:srgbClr val="8B8F93"/>
                </a:solidFill>
                <a:latin typeface="Instrument Sans" pitchFamily="34" charset="0"/>
                <a:ea typeface="Instrument Sans" pitchFamily="34" charset="-122"/>
                <a:cs typeface="Assistant" pitchFamily="34" charset="-120"/>
              </a:rPr>
              <a:t>15 / 21</a:t>
            </a:r>
            <a:endParaRPr lang="en-US" sz="1000" dirty="0"/>
          </a:p>
        </p:txBody>
      </p:sp>
      <p:sp>
        <p:nvSpPr>
          <p:cNvPr id="7" name="Text 2"/>
          <p:cNvSpPr txBox="1"/>
          <p:nvPr/>
        </p:nvSpPr>
        <p:spPr>
          <a:xfrm>
            <a:off x="6035040" y="1188720"/>
            <a:ext cx="5397703" cy="1417320"/>
          </a:xfrm>
          <a:prstGeom prst="rect">
            <a:avLst/>
          </a:prstGeom>
          <a:noFill/>
          <a:ln/>
        </p:spPr>
        <p:txBody>
          <a:bodyPr wrap="square" lIns="0" tIns="0" rIns="0" bIns="0" rtlCol="0" anchor="t"/>
          <a:lstStyle/>
          <a:p>
            <a:pPr rtl="1" algn="r" indent="0" marL="0">
              <a:lnSpc>
                <a:spcPct val="98000"/>
              </a:lnSpc>
              <a:buNone/>
            </a:pPr>
            <a:r>
              <a:rPr lang="he-IL" altLang="en-US" sz="4200" dirty="0">
                <a:solidFill>
                  <a:srgbClr val="2B3138"/>
                </a:solidFill>
                <a:latin typeface="Fraunces" pitchFamily="34" charset="0"/>
                <a:ea typeface="Fraunces" pitchFamily="34" charset="-122"/>
                <a:cs typeface="Frank Ruhl Libre" pitchFamily="34" charset="-120"/>
              </a:rPr>
              <a:t>אין מלון שעומד</a:t>
            </a:r>
            <a:endParaRPr lang="he-IL" sz="4200" dirty="0"/>
          </a:p>
          <a:p>
            <a:pPr rtl="1" algn="r" indent="0" marL="0">
              <a:lnSpc>
                <a:spcPct val="98000"/>
              </a:lnSpc>
              <a:buNone/>
            </a:pPr>
            <a:r>
              <a:rPr lang="he-IL" altLang="en-US" sz="4200" dirty="0">
                <a:solidFill>
                  <a:srgbClr val="2B3138"/>
                </a:solidFill>
                <a:latin typeface="Fraunces" pitchFamily="34" charset="0"/>
                <a:ea typeface="Fraunces" pitchFamily="34" charset="-122"/>
                <a:cs typeface="Frank Ruhl Libre" pitchFamily="34" charset="-120"/>
              </a:rPr>
              <a:t>בכל התנאים</a:t>
            </a:r>
            <a:endParaRPr lang="he-IL" sz="4200" dirty="0"/>
          </a:p>
        </p:txBody>
      </p:sp>
      <p:sp>
        <p:nvSpPr>
          <p:cNvPr id="8" name="Shape 3"/>
          <p:cNvSpPr/>
          <p:nvPr/>
        </p:nvSpPr>
        <p:spPr>
          <a:xfrm>
            <a:off x="6035040" y="2834640"/>
            <a:ext cx="5397703" cy="0"/>
          </a:xfrm>
          <a:prstGeom prst="line">
            <a:avLst/>
          </a:prstGeom>
          <a:noFill/>
          <a:ln w="9525">
            <a:solidFill>
              <a:srgbClr val="E4E0D6"/>
            </a:solidFill>
            <a:prstDash val="solid"/>
          </a:ln>
        </p:spPr>
      </p:sp>
      <p:sp>
        <p:nvSpPr>
          <p:cNvPr id="9" name="Text 4"/>
          <p:cNvSpPr txBox="1"/>
          <p:nvPr/>
        </p:nvSpPr>
        <p:spPr>
          <a:xfrm>
            <a:off x="8872423" y="2971800"/>
            <a:ext cx="2560320" cy="914400"/>
          </a:xfrm>
          <a:prstGeom prst="rect">
            <a:avLst/>
          </a:prstGeom>
          <a:noFill/>
          <a:ln/>
        </p:spPr>
        <p:txBody>
          <a:bodyPr wrap="square" lIns="0" tIns="0" rIns="0" bIns="0" rtlCol="0" anchor="ctr"/>
          <a:lstStyle/>
          <a:p>
            <a:pPr algn="r" indent="0" marL="0">
              <a:buNone/>
            </a:pPr>
            <a:r>
              <a:rPr lang="en-US" sz="6000" dirty="0">
                <a:solidFill>
                  <a:srgbClr val="2B3138"/>
                </a:solidFill>
                <a:latin typeface="Fraunces" pitchFamily="34" charset="0"/>
                <a:ea typeface="Fraunces" pitchFamily="34" charset="-122"/>
                <a:cs typeface="Frank Ruhl Libre" pitchFamily="34" charset="-120"/>
              </a:rPr>
              <a:t>€500</a:t>
            </a:r>
            <a:endParaRPr lang="en-US" sz="6000" dirty="0"/>
          </a:p>
        </p:txBody>
      </p:sp>
      <p:sp>
        <p:nvSpPr>
          <p:cNvPr id="10" name="Text 5"/>
          <p:cNvSpPr txBox="1"/>
          <p:nvPr/>
        </p:nvSpPr>
        <p:spPr>
          <a:xfrm>
            <a:off x="6035040" y="2971800"/>
            <a:ext cx="2654503" cy="914400"/>
          </a:xfrm>
          <a:prstGeom prst="rect">
            <a:avLst/>
          </a:prstGeom>
          <a:noFill/>
          <a:ln/>
        </p:spPr>
        <p:txBody>
          <a:bodyPr wrap="square" lIns="0" tIns="0" rIns="0" bIns="0" rtlCol="0" anchor="ctr"/>
          <a:lstStyle/>
          <a:p>
            <a:pPr rtl="1" algn="r" indent="0" marL="0">
              <a:buNone/>
            </a:pPr>
            <a:r>
              <a:rPr lang="he-IL" altLang="en-US" sz="1900" dirty="0">
                <a:solidFill>
                  <a:srgbClr val="5A6067"/>
                </a:solidFill>
                <a:latin typeface="Instrument Sans" pitchFamily="34" charset="0"/>
                <a:ea typeface="Instrument Sans" pitchFamily="34" charset="-122"/>
                <a:cs typeface="Assistant" pitchFamily="34" charset="-120"/>
              </a:rPr>
              <a:t>+ נגישות: חובה</a:t>
            </a:r>
            <a:endParaRPr lang="he-IL" sz="1900" dirty="0"/>
          </a:p>
        </p:txBody>
      </p:sp>
      <p:sp>
        <p:nvSpPr>
          <p:cNvPr id="11" name="Shape 6"/>
          <p:cNvSpPr/>
          <p:nvPr/>
        </p:nvSpPr>
        <p:spPr>
          <a:xfrm>
            <a:off x="6035040" y="4023360"/>
            <a:ext cx="5397703" cy="0"/>
          </a:xfrm>
          <a:prstGeom prst="line">
            <a:avLst/>
          </a:prstGeom>
          <a:noFill/>
          <a:ln w="9525">
            <a:solidFill>
              <a:srgbClr val="E4E0D6"/>
            </a:solidFill>
            <a:prstDash val="solid"/>
          </a:ln>
        </p:spPr>
      </p:sp>
      <p:sp>
        <p:nvSpPr>
          <p:cNvPr id="12" name="Text 7"/>
          <p:cNvSpPr txBox="1"/>
          <p:nvPr/>
        </p:nvSpPr>
        <p:spPr>
          <a:xfrm>
            <a:off x="6035040" y="4206240"/>
            <a:ext cx="5397703" cy="502920"/>
          </a:xfrm>
          <a:prstGeom prst="rect">
            <a:avLst/>
          </a:prstGeom>
          <a:noFill/>
          <a:ln/>
        </p:spPr>
        <p:txBody>
          <a:bodyPr wrap="square" lIns="0" tIns="0" rIns="0" bIns="0" rtlCol="0" anchor="t"/>
          <a:lstStyle/>
          <a:p>
            <a:pPr rtl="1" algn="r" indent="0" marL="0">
              <a:buNone/>
            </a:pPr>
            <a:r>
              <a:rPr lang="he-IL" altLang="en-US" sz="3000" dirty="0">
                <a:solidFill>
                  <a:srgbClr val="2B3138"/>
                </a:solidFill>
                <a:latin typeface="Fraunces" pitchFamily="34" charset="0"/>
                <a:ea typeface="Fraunces" pitchFamily="34" charset="-122"/>
                <a:cs typeface="Frank Ruhl Libre" pitchFamily="34" charset="-120"/>
              </a:rPr>
              <a:t>הסוכן ממתין.</a:t>
            </a:r>
            <a:endParaRPr lang="he-IL" sz="3000" dirty="0"/>
          </a:p>
        </p:txBody>
      </p:sp>
      <p:sp>
        <p:nvSpPr>
          <p:cNvPr id="13" name="Text 8"/>
          <p:cNvSpPr txBox="1"/>
          <p:nvPr/>
        </p:nvSpPr>
        <p:spPr>
          <a:xfrm>
            <a:off x="6035040" y="4709160"/>
            <a:ext cx="5397703" cy="502920"/>
          </a:xfrm>
          <a:prstGeom prst="rect">
            <a:avLst/>
          </a:prstGeom>
          <a:noFill/>
          <a:ln/>
        </p:spPr>
        <p:txBody>
          <a:bodyPr wrap="square" lIns="0" tIns="0" rIns="0" bIns="0" rtlCol="0" anchor="t"/>
          <a:lstStyle/>
          <a:p>
            <a:pPr rtl="1" algn="r" indent="0" marL="0">
              <a:buNone/>
            </a:pPr>
            <a:r>
              <a:rPr lang="he-IL" altLang="en-US" sz="3000" dirty="0">
                <a:solidFill>
                  <a:srgbClr val="2B3138"/>
                </a:solidFill>
                <a:latin typeface="Fraunces" pitchFamily="34" charset="0"/>
                <a:ea typeface="Fraunces" pitchFamily="34" charset="-122"/>
                <a:cs typeface="Frank Ruhl Libre" pitchFamily="34" charset="-120"/>
              </a:rPr>
              <a:t>משחזרים תקציב באותה ריצה.</a:t>
            </a:r>
            <a:endParaRPr lang="he-IL" sz="3000" dirty="0"/>
          </a:p>
        </p:txBody>
      </p:sp>
      <p:sp>
        <p:nvSpPr>
          <p:cNvPr id="14" name="Shape 9"/>
          <p:cNvSpPr/>
          <p:nvPr/>
        </p:nvSpPr>
        <p:spPr>
          <a:xfrm>
            <a:off x="6035040" y="5440680"/>
            <a:ext cx="5397703" cy="685800"/>
          </a:xfrm>
          <a:prstGeom prst="rect">
            <a:avLst/>
          </a:prstGeom>
          <a:solidFill>
            <a:srgbClr val="F3EDE2"/>
          </a:solidFill>
          <a:ln/>
        </p:spPr>
      </p:sp>
      <p:sp>
        <p:nvSpPr>
          <p:cNvPr id="15" name="Shape 10"/>
          <p:cNvSpPr/>
          <p:nvPr/>
        </p:nvSpPr>
        <p:spPr>
          <a:xfrm>
            <a:off x="11414455" y="5440680"/>
            <a:ext cx="0" cy="685800"/>
          </a:xfrm>
          <a:prstGeom prst="line">
            <a:avLst/>
          </a:prstGeom>
          <a:noFill/>
          <a:ln w="38100">
            <a:solidFill>
              <a:srgbClr val="8FA396"/>
            </a:solidFill>
            <a:prstDash val="solid"/>
          </a:ln>
        </p:spPr>
      </p:sp>
      <p:sp>
        <p:nvSpPr>
          <p:cNvPr id="16" name="Text 11"/>
          <p:cNvSpPr txBox="1"/>
          <p:nvPr/>
        </p:nvSpPr>
        <p:spPr>
          <a:xfrm>
            <a:off x="6355080" y="5440680"/>
            <a:ext cx="4757623" cy="685800"/>
          </a:xfrm>
          <a:prstGeom prst="rect">
            <a:avLst/>
          </a:prstGeom>
          <a:noFill/>
          <a:ln/>
        </p:spPr>
        <p:txBody>
          <a:bodyPr wrap="square" lIns="0" tIns="0" rIns="0" bIns="0" rtlCol="0" anchor="ctr"/>
          <a:lstStyle/>
          <a:p>
            <a:pPr rtl="1" algn="r" indent="0" marL="0">
              <a:buNone/>
            </a:pPr>
            <a:r>
              <a:rPr lang="he-IL" altLang="en-US" sz="1600" b="1" dirty="0">
                <a:solidFill>
                  <a:srgbClr val="5F7368"/>
                </a:solidFill>
                <a:latin typeface="Instrument Sans" pitchFamily="34" charset="0"/>
                <a:ea typeface="Instrument Sans" pitchFamily="34" charset="-122"/>
                <a:cs typeface="Assistant" pitchFamily="34" charset="-120"/>
              </a:rPr>
              <a:t>בטרמינל: budget 600 ואז run</a:t>
            </a:r>
            <a:r>
              <a:rPr lang="he-IL" altLang="en-US" sz="1600" dirty="0">
                <a:solidFill>
                  <a:srgbClr val="2B3138"/>
                </a:solidFill>
                <a:latin typeface="Instrument Sans" pitchFamily="34" charset="0"/>
                <a:ea typeface="Instrument Sans" pitchFamily="34" charset="-122"/>
                <a:cs typeface="Assistant" pitchFamily="34" charset="-120"/>
              </a:rPr>
              <a:t/>
            </a:r>
            <a:endParaRPr lang="he-IL"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Slide 16">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16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מה נשאר באחריותנו?</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10792663" y="2286000"/>
            <a:ext cx="64008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01</a:t>
            </a:r>
            <a:endParaRPr lang="en-US" sz="2200" dirty="0"/>
          </a:p>
        </p:txBody>
      </p:sp>
      <p:sp>
        <p:nvSpPr>
          <p:cNvPr id="9" name="Text 5"/>
          <p:cNvSpPr txBox="1"/>
          <p:nvPr/>
        </p:nvSpPr>
        <p:spPr>
          <a:xfrm>
            <a:off x="6370168" y="2286000"/>
            <a:ext cx="4239616" cy="41148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מצב אמין</a:t>
            </a:r>
            <a:endParaRPr lang="he-IL" sz="2100" dirty="0"/>
          </a:p>
        </p:txBody>
      </p:sp>
      <p:sp>
        <p:nvSpPr>
          <p:cNvPr id="10" name="Text 6"/>
          <p:cNvSpPr txBox="1"/>
          <p:nvPr/>
        </p:nvSpPr>
        <p:spPr>
          <a:xfrm>
            <a:off x="6370168" y="2724912"/>
            <a:ext cx="4239616"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מידע קצר ועדכני מתוך האתר</a:t>
            </a:r>
            <a:endParaRPr lang="he-IL" sz="1600" dirty="0"/>
          </a:p>
        </p:txBody>
      </p:sp>
      <p:sp>
        <p:nvSpPr>
          <p:cNvPr id="11" name="Text 7"/>
          <p:cNvSpPr txBox="1"/>
          <p:nvPr/>
        </p:nvSpPr>
        <p:spPr>
          <a:xfrm>
            <a:off x="5181448" y="2286000"/>
            <a:ext cx="64008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02</a:t>
            </a:r>
            <a:endParaRPr lang="en-US" sz="2200" dirty="0"/>
          </a:p>
        </p:txBody>
      </p:sp>
      <p:sp>
        <p:nvSpPr>
          <p:cNvPr id="12" name="Text 8"/>
          <p:cNvSpPr txBox="1"/>
          <p:nvPr/>
        </p:nvSpPr>
        <p:spPr>
          <a:xfrm>
            <a:off x="758952" y="2286000"/>
            <a:ext cx="4239616" cy="41148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פעולות מוגדרות</a:t>
            </a:r>
            <a:endParaRPr lang="he-IL" sz="2100" dirty="0"/>
          </a:p>
        </p:txBody>
      </p:sp>
      <p:sp>
        <p:nvSpPr>
          <p:cNvPr id="13" name="Text 9"/>
          <p:cNvSpPr txBox="1"/>
          <p:nvPr/>
        </p:nvSpPr>
        <p:spPr>
          <a:xfrm>
            <a:off x="758952" y="2724912"/>
            <a:ext cx="4239616"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רק מה שאפשר לבצע כרגע</a:t>
            </a:r>
            <a:endParaRPr lang="he-IL" sz="1600" dirty="0"/>
          </a:p>
        </p:txBody>
      </p:sp>
      <p:sp>
        <p:nvSpPr>
          <p:cNvPr id="14" name="Shape 10"/>
          <p:cNvSpPr/>
          <p:nvPr/>
        </p:nvSpPr>
        <p:spPr>
          <a:xfrm>
            <a:off x="6370168" y="3429000"/>
            <a:ext cx="5062576" cy="0"/>
          </a:xfrm>
          <a:prstGeom prst="line">
            <a:avLst/>
          </a:prstGeom>
          <a:noFill/>
          <a:ln w="9525">
            <a:solidFill>
              <a:srgbClr val="E4E0D6"/>
            </a:solidFill>
            <a:prstDash val="solid"/>
          </a:ln>
        </p:spPr>
      </p:sp>
      <p:sp>
        <p:nvSpPr>
          <p:cNvPr id="15" name="Text 11"/>
          <p:cNvSpPr txBox="1"/>
          <p:nvPr/>
        </p:nvSpPr>
        <p:spPr>
          <a:xfrm>
            <a:off x="10792663" y="3611880"/>
            <a:ext cx="64008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03</a:t>
            </a:r>
            <a:endParaRPr lang="en-US" sz="2200" dirty="0"/>
          </a:p>
        </p:txBody>
      </p:sp>
      <p:sp>
        <p:nvSpPr>
          <p:cNvPr id="16" name="Text 12"/>
          <p:cNvSpPr txBox="1"/>
          <p:nvPr/>
        </p:nvSpPr>
        <p:spPr>
          <a:xfrm>
            <a:off x="6370168" y="3611880"/>
            <a:ext cx="4239616" cy="41148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תנאים בקוד</a:t>
            </a:r>
            <a:endParaRPr lang="he-IL" sz="2100" dirty="0"/>
          </a:p>
        </p:txBody>
      </p:sp>
      <p:sp>
        <p:nvSpPr>
          <p:cNvPr id="17" name="Text 13"/>
          <p:cNvSpPr txBox="1"/>
          <p:nvPr/>
        </p:nvSpPr>
        <p:spPr>
          <a:xfrm>
            <a:off x="6370168" y="4050792"/>
            <a:ext cx="4239616"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תקציב, נגישות והרשאות</a:t>
            </a:r>
            <a:endParaRPr lang="he-IL" sz="1600" dirty="0"/>
          </a:p>
        </p:txBody>
      </p:sp>
      <p:sp>
        <p:nvSpPr>
          <p:cNvPr id="18" name="Shape 14"/>
          <p:cNvSpPr/>
          <p:nvPr/>
        </p:nvSpPr>
        <p:spPr>
          <a:xfrm>
            <a:off x="758952" y="3429000"/>
            <a:ext cx="5062576" cy="0"/>
          </a:xfrm>
          <a:prstGeom prst="line">
            <a:avLst/>
          </a:prstGeom>
          <a:noFill/>
          <a:ln w="9525">
            <a:solidFill>
              <a:srgbClr val="E4E0D6"/>
            </a:solidFill>
            <a:prstDash val="solid"/>
          </a:ln>
        </p:spPr>
      </p:sp>
      <p:sp>
        <p:nvSpPr>
          <p:cNvPr id="19" name="Text 15"/>
          <p:cNvSpPr txBox="1"/>
          <p:nvPr/>
        </p:nvSpPr>
        <p:spPr>
          <a:xfrm>
            <a:off x="5181448" y="3611880"/>
            <a:ext cx="640080" cy="41148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04</a:t>
            </a:r>
            <a:endParaRPr lang="en-US" sz="2200" dirty="0"/>
          </a:p>
        </p:txBody>
      </p:sp>
      <p:sp>
        <p:nvSpPr>
          <p:cNvPr id="20" name="Text 16"/>
          <p:cNvSpPr txBox="1"/>
          <p:nvPr/>
        </p:nvSpPr>
        <p:spPr>
          <a:xfrm>
            <a:off x="758952" y="3611880"/>
            <a:ext cx="4239616" cy="41148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דרך לעצור</a:t>
            </a:r>
            <a:endParaRPr lang="he-IL" sz="2100" dirty="0"/>
          </a:p>
        </p:txBody>
      </p:sp>
      <p:sp>
        <p:nvSpPr>
          <p:cNvPr id="21" name="Text 17"/>
          <p:cNvSpPr txBox="1"/>
          <p:nvPr/>
        </p:nvSpPr>
        <p:spPr>
          <a:xfrm>
            <a:off x="758952" y="4050792"/>
            <a:ext cx="4239616"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כשאין התאמה, התקדמות או הרשאה</a:t>
            </a:r>
            <a:endParaRPr lang="he-IL" sz="1600" dirty="0"/>
          </a:p>
        </p:txBody>
      </p:sp>
      <p:sp>
        <p:nvSpPr>
          <p:cNvPr id="22" name="Shape 18"/>
          <p:cNvSpPr/>
          <p:nvPr/>
        </p:nvSpPr>
        <p:spPr>
          <a:xfrm>
            <a:off x="758952" y="4983480"/>
            <a:ext cx="10673791" cy="685800"/>
          </a:xfrm>
          <a:prstGeom prst="rect">
            <a:avLst/>
          </a:prstGeom>
          <a:solidFill>
            <a:srgbClr val="F3EDE2"/>
          </a:solidFill>
          <a:ln/>
        </p:spPr>
      </p:sp>
      <p:sp>
        <p:nvSpPr>
          <p:cNvPr id="23" name="Shape 19"/>
          <p:cNvSpPr/>
          <p:nvPr/>
        </p:nvSpPr>
        <p:spPr>
          <a:xfrm>
            <a:off x="11414455" y="4983480"/>
            <a:ext cx="0" cy="685800"/>
          </a:xfrm>
          <a:prstGeom prst="line">
            <a:avLst/>
          </a:prstGeom>
          <a:noFill/>
          <a:ln w="38100">
            <a:solidFill>
              <a:srgbClr val="8FA396"/>
            </a:solidFill>
            <a:prstDash val="solid"/>
          </a:ln>
        </p:spPr>
      </p:sp>
      <p:sp>
        <p:nvSpPr>
          <p:cNvPr id="24" name="Text 20"/>
          <p:cNvSpPr txBox="1"/>
          <p:nvPr/>
        </p:nvSpPr>
        <p:spPr>
          <a:xfrm>
            <a:off x="1078992" y="4983480"/>
            <a:ext cx="10033711" cy="685800"/>
          </a:xfrm>
          <a:prstGeom prst="rect">
            <a:avLst/>
          </a:prstGeom>
          <a:noFill/>
          <a:ln/>
        </p:spPr>
        <p:txBody>
          <a:bodyPr wrap="square" lIns="0" tIns="0" rIns="0" bIns="0" rtlCol="0" anchor="ctr"/>
          <a:lstStyle/>
          <a:p>
            <a:pPr rtl="1" algn="r" indent="0" marL="0">
              <a:buNone/>
            </a:pPr>
            <a:r>
              <a:rPr lang="he-IL" altLang="en-US" sz="1700" dirty="0">
                <a:solidFill>
                  <a:srgbClr val="2B3138"/>
                </a:solidFill>
                <a:latin typeface="Instrument Sans" pitchFamily="34" charset="0"/>
                <a:ea typeface="Instrument Sans" pitchFamily="34" charset="-122"/>
                <a:cs typeface="Assistant" pitchFamily="34" charset="-120"/>
              </a:rPr>
              <a:t>טקסט באתר יכול לנסות להנחות את המודל (prompt injection). </a:t>
            </a:r>
            <a:r>
              <a:rPr lang="he-IL" altLang="en-US" sz="1700" b="1" dirty="0">
                <a:solidFill>
                  <a:srgbClr val="5F7368"/>
                </a:solidFill>
                <a:latin typeface="Instrument Sans" pitchFamily="34" charset="0"/>
                <a:ea typeface="Instrument Sans" pitchFamily="34" charset="-122"/>
                <a:cs typeface="Assistant" pitchFamily="34" charset="-120"/>
              </a:rPr>
              <a:t>הוא מידע, לא הרשאה.</a:t>
            </a:r>
            <a:endParaRPr lang="he-IL"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17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מה אפשר לנסות מחר?</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8240573" y="2103120"/>
            <a:ext cx="3192170" cy="457200"/>
          </a:xfrm>
          <a:prstGeom prst="rect">
            <a:avLst/>
          </a:prstGeom>
          <a:noFill/>
          <a:ln/>
        </p:spPr>
        <p:txBody>
          <a:bodyPr wrap="square" lIns="0" tIns="0" rIns="0" bIns="0" rtlCol="0" anchor="t"/>
          <a:lstStyle/>
          <a:p>
            <a:pPr algn="r" indent="0" marL="0">
              <a:buNone/>
            </a:pPr>
            <a:r>
              <a:rPr lang="en-US" sz="2600" i="1" dirty="0">
                <a:solidFill>
                  <a:srgbClr val="5F7368"/>
                </a:solidFill>
                <a:latin typeface="Fraunces" pitchFamily="34" charset="0"/>
                <a:ea typeface="Fraunces" pitchFamily="34" charset="-122"/>
                <a:cs typeface="Frank Ruhl Libre" pitchFamily="34" charset="-120"/>
              </a:rPr>
              <a:t>01</a:t>
            </a:r>
            <a:endParaRPr lang="en-US" sz="2600" dirty="0"/>
          </a:p>
        </p:txBody>
      </p:sp>
      <p:sp>
        <p:nvSpPr>
          <p:cNvPr id="9" name="Text 5"/>
          <p:cNvSpPr txBox="1"/>
          <p:nvPr/>
        </p:nvSpPr>
        <p:spPr>
          <a:xfrm>
            <a:off x="8240573" y="2606040"/>
            <a:ext cx="3192170" cy="411480"/>
          </a:xfrm>
          <a:prstGeom prst="rect">
            <a:avLst/>
          </a:prstGeom>
          <a:noFill/>
          <a:ln/>
        </p:spPr>
        <p:txBody>
          <a:bodyPr wrap="square" lIns="0" tIns="0" rIns="0" bIns="0" rtlCol="0" anchor="t"/>
          <a:lstStyle/>
          <a:p>
            <a:pPr rtl="1" algn="r" indent="0" marL="0">
              <a:buNone/>
            </a:pPr>
            <a:r>
              <a:rPr lang="he-IL" altLang="en-US" sz="2200" b="1" dirty="0">
                <a:solidFill>
                  <a:srgbClr val="2B3138"/>
                </a:solidFill>
                <a:latin typeface="Instrument Sans" pitchFamily="34" charset="0"/>
                <a:ea typeface="Instrument Sans" pitchFamily="34" charset="-122"/>
                <a:cs typeface="Assistant" pitchFamily="34" charset="-120"/>
              </a:rPr>
              <a:t>מסך אחד</a:t>
            </a:r>
            <a:endParaRPr lang="he-IL" sz="2200" dirty="0"/>
          </a:p>
        </p:txBody>
      </p:sp>
      <p:sp>
        <p:nvSpPr>
          <p:cNvPr id="10" name="Text 6"/>
          <p:cNvSpPr txBox="1"/>
          <p:nvPr/>
        </p:nvSpPr>
        <p:spPr>
          <a:xfrm>
            <a:off x="8240573" y="3063240"/>
            <a:ext cx="3192170"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משימה קטנה באתר שבשליטתכם</a:t>
            </a:r>
            <a:endParaRPr lang="he-IL" sz="1600" dirty="0"/>
          </a:p>
        </p:txBody>
      </p:sp>
      <p:sp>
        <p:nvSpPr>
          <p:cNvPr id="11" name="Shape 7"/>
          <p:cNvSpPr/>
          <p:nvPr/>
        </p:nvSpPr>
        <p:spPr>
          <a:xfrm>
            <a:off x="7874813" y="2103120"/>
            <a:ext cx="0" cy="1417320"/>
          </a:xfrm>
          <a:prstGeom prst="line">
            <a:avLst/>
          </a:prstGeom>
          <a:noFill/>
          <a:ln w="9525">
            <a:solidFill>
              <a:srgbClr val="E4E0D6"/>
            </a:solidFill>
            <a:prstDash val="solid"/>
          </a:ln>
        </p:spPr>
      </p:sp>
      <p:sp>
        <p:nvSpPr>
          <p:cNvPr id="12" name="Text 8"/>
          <p:cNvSpPr txBox="1"/>
          <p:nvPr/>
        </p:nvSpPr>
        <p:spPr>
          <a:xfrm>
            <a:off x="4682642" y="2103120"/>
            <a:ext cx="2826410" cy="457200"/>
          </a:xfrm>
          <a:prstGeom prst="rect">
            <a:avLst/>
          </a:prstGeom>
          <a:noFill/>
          <a:ln/>
        </p:spPr>
        <p:txBody>
          <a:bodyPr wrap="square" lIns="0" tIns="0" rIns="0" bIns="0" rtlCol="0" anchor="t"/>
          <a:lstStyle/>
          <a:p>
            <a:pPr algn="r" indent="0" marL="0">
              <a:buNone/>
            </a:pPr>
            <a:r>
              <a:rPr lang="en-US" sz="2600" i="1" dirty="0">
                <a:solidFill>
                  <a:srgbClr val="5F7368"/>
                </a:solidFill>
                <a:latin typeface="Fraunces" pitchFamily="34" charset="0"/>
                <a:ea typeface="Fraunces" pitchFamily="34" charset="-122"/>
                <a:cs typeface="Frank Ruhl Libre" pitchFamily="34" charset="-120"/>
              </a:rPr>
              <a:t>02</a:t>
            </a:r>
            <a:endParaRPr lang="en-US" sz="2600" dirty="0"/>
          </a:p>
        </p:txBody>
      </p:sp>
      <p:sp>
        <p:nvSpPr>
          <p:cNvPr id="13" name="Text 9"/>
          <p:cNvSpPr txBox="1"/>
          <p:nvPr/>
        </p:nvSpPr>
        <p:spPr>
          <a:xfrm>
            <a:off x="4682642" y="2606040"/>
            <a:ext cx="2826410" cy="411480"/>
          </a:xfrm>
          <a:prstGeom prst="rect">
            <a:avLst/>
          </a:prstGeom>
          <a:noFill/>
          <a:ln/>
        </p:spPr>
        <p:txBody>
          <a:bodyPr wrap="square" lIns="0" tIns="0" rIns="0" bIns="0" rtlCol="0" anchor="t"/>
          <a:lstStyle/>
          <a:p>
            <a:pPr rtl="1" algn="r" indent="0" marL="0">
              <a:buNone/>
            </a:pPr>
            <a:r>
              <a:rPr lang="he-IL" altLang="en-US" sz="2200" b="1" dirty="0">
                <a:solidFill>
                  <a:srgbClr val="2B3138"/>
                </a:solidFill>
                <a:latin typeface="Instrument Sans" pitchFamily="34" charset="0"/>
                <a:ea typeface="Instrument Sans" pitchFamily="34" charset="-122"/>
                <a:cs typeface="Assistant" pitchFamily="34" charset="-120"/>
              </a:rPr>
              <a:t>כמה פעולות</a:t>
            </a:r>
            <a:endParaRPr lang="he-IL" sz="2200" dirty="0"/>
          </a:p>
        </p:txBody>
      </p:sp>
      <p:sp>
        <p:nvSpPr>
          <p:cNvPr id="14" name="Text 10"/>
          <p:cNvSpPr txBox="1"/>
          <p:nvPr/>
        </p:nvSpPr>
        <p:spPr>
          <a:xfrm>
            <a:off x="4682642" y="3063240"/>
            <a:ext cx="2826410"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בחירה מתוך רשימה קצרה</a:t>
            </a:r>
            <a:endParaRPr lang="he-IL" sz="1600" dirty="0"/>
          </a:p>
        </p:txBody>
      </p:sp>
      <p:sp>
        <p:nvSpPr>
          <p:cNvPr id="15" name="Shape 11"/>
          <p:cNvSpPr/>
          <p:nvPr/>
        </p:nvSpPr>
        <p:spPr>
          <a:xfrm>
            <a:off x="4316882" y="2103120"/>
            <a:ext cx="0" cy="1417320"/>
          </a:xfrm>
          <a:prstGeom prst="line">
            <a:avLst/>
          </a:prstGeom>
          <a:noFill/>
          <a:ln w="9525">
            <a:solidFill>
              <a:srgbClr val="E4E0D6"/>
            </a:solidFill>
            <a:prstDash val="solid"/>
          </a:ln>
        </p:spPr>
      </p:sp>
      <p:sp>
        <p:nvSpPr>
          <p:cNvPr id="16" name="Text 12"/>
          <p:cNvSpPr txBox="1"/>
          <p:nvPr/>
        </p:nvSpPr>
        <p:spPr>
          <a:xfrm>
            <a:off x="1124712" y="2103120"/>
            <a:ext cx="2826410" cy="457200"/>
          </a:xfrm>
          <a:prstGeom prst="rect">
            <a:avLst/>
          </a:prstGeom>
          <a:noFill/>
          <a:ln/>
        </p:spPr>
        <p:txBody>
          <a:bodyPr wrap="square" lIns="0" tIns="0" rIns="0" bIns="0" rtlCol="0" anchor="t"/>
          <a:lstStyle/>
          <a:p>
            <a:pPr algn="r" indent="0" marL="0">
              <a:buNone/>
            </a:pPr>
            <a:r>
              <a:rPr lang="en-US" sz="2600" i="1" dirty="0">
                <a:solidFill>
                  <a:srgbClr val="5F7368"/>
                </a:solidFill>
                <a:latin typeface="Fraunces" pitchFamily="34" charset="0"/>
                <a:ea typeface="Fraunces" pitchFamily="34" charset="-122"/>
                <a:cs typeface="Frank Ruhl Libre" pitchFamily="34" charset="-120"/>
              </a:rPr>
              <a:t>03</a:t>
            </a:r>
            <a:endParaRPr lang="en-US" sz="2600" dirty="0"/>
          </a:p>
        </p:txBody>
      </p:sp>
      <p:sp>
        <p:nvSpPr>
          <p:cNvPr id="17" name="Text 13"/>
          <p:cNvSpPr txBox="1"/>
          <p:nvPr/>
        </p:nvSpPr>
        <p:spPr>
          <a:xfrm>
            <a:off x="1124712" y="2606040"/>
            <a:ext cx="2826410" cy="411480"/>
          </a:xfrm>
          <a:prstGeom prst="rect">
            <a:avLst/>
          </a:prstGeom>
          <a:noFill/>
          <a:ln/>
        </p:spPr>
        <p:txBody>
          <a:bodyPr wrap="square" lIns="0" tIns="0" rIns="0" bIns="0" rtlCol="0" anchor="t"/>
          <a:lstStyle/>
          <a:p>
            <a:pPr rtl="1" algn="r" indent="0" marL="0">
              <a:buNone/>
            </a:pPr>
            <a:r>
              <a:rPr lang="he-IL" altLang="en-US" sz="2200" b="1" dirty="0">
                <a:solidFill>
                  <a:srgbClr val="2B3138"/>
                </a:solidFill>
                <a:latin typeface="Instrument Sans" pitchFamily="34" charset="0"/>
                <a:ea typeface="Instrument Sans" pitchFamily="34" charset="-122"/>
                <a:cs typeface="Assistant" pitchFamily="34" charset="-120"/>
              </a:rPr>
              <a:t>לולאה אחת</a:t>
            </a:r>
            <a:endParaRPr lang="he-IL" sz="2200" dirty="0"/>
          </a:p>
        </p:txBody>
      </p:sp>
      <p:sp>
        <p:nvSpPr>
          <p:cNvPr id="18" name="Text 14"/>
          <p:cNvSpPr txBox="1"/>
          <p:nvPr/>
        </p:nvSpPr>
        <p:spPr>
          <a:xfrm>
            <a:off x="1124712" y="3063240"/>
            <a:ext cx="2826410" cy="347472"/>
          </a:xfrm>
          <a:prstGeom prst="rect">
            <a:avLst/>
          </a:prstGeom>
          <a:noFill/>
          <a:ln/>
        </p:spPr>
        <p:txBody>
          <a:bodyPr wrap="square" lIns="0" tIns="0" rIns="0" bIns="0" rtlCol="0" anchor="t"/>
          <a:lstStyle/>
          <a:p>
            <a:pPr rtl="1" algn="r" indent="0" marL="0">
              <a:buNone/>
            </a:pPr>
            <a:r>
              <a:rPr lang="he-IL" altLang="en-US" sz="1600" dirty="0">
                <a:solidFill>
                  <a:srgbClr val="5A6067"/>
                </a:solidFill>
                <a:latin typeface="Instrument Sans" pitchFamily="34" charset="0"/>
                <a:ea typeface="Instrument Sans" pitchFamily="34" charset="-122"/>
                <a:cs typeface="Assistant" pitchFamily="34" charset="-120"/>
              </a:rPr>
              <a:t>רואה, בוחר, פועל, בודק</a:t>
            </a:r>
            <a:endParaRPr lang="he-IL" sz="1600" dirty="0"/>
          </a:p>
        </p:txBody>
      </p:sp>
      <p:sp>
        <p:nvSpPr>
          <p:cNvPr id="19" name="Shape 15"/>
          <p:cNvSpPr/>
          <p:nvPr/>
        </p:nvSpPr>
        <p:spPr>
          <a:xfrm>
            <a:off x="758952" y="3840480"/>
            <a:ext cx="10673791" cy="0"/>
          </a:xfrm>
          <a:prstGeom prst="line">
            <a:avLst/>
          </a:prstGeom>
          <a:noFill/>
          <a:ln w="9525">
            <a:solidFill>
              <a:srgbClr val="E4E0D6"/>
            </a:solidFill>
            <a:prstDash val="solid"/>
          </a:ln>
        </p:spPr>
      </p:sp>
      <p:sp>
        <p:nvSpPr>
          <p:cNvPr id="20" name="Shape 16"/>
          <p:cNvSpPr/>
          <p:nvPr/>
        </p:nvSpPr>
        <p:spPr>
          <a:xfrm>
            <a:off x="9073591" y="4206240"/>
            <a:ext cx="2359152" cy="640080"/>
          </a:xfrm>
          <a:prstGeom prst="rect">
            <a:avLst/>
          </a:prstGeom>
          <a:solidFill>
            <a:srgbClr val="FAF6EF"/>
          </a:solidFill>
          <a:ln w="9525">
            <a:solidFill>
              <a:srgbClr val="D8D2C6"/>
            </a:solidFill>
            <a:prstDash val="solid"/>
          </a:ln>
        </p:spPr>
      </p:sp>
      <p:sp>
        <p:nvSpPr>
          <p:cNvPr id="21" name="Text 17"/>
          <p:cNvSpPr txBox="1"/>
          <p:nvPr/>
        </p:nvSpPr>
        <p:spPr>
          <a:xfrm>
            <a:off x="9073591" y="4206240"/>
            <a:ext cx="2359152" cy="640080"/>
          </a:xfrm>
          <a:prstGeom prst="rect">
            <a:avLst/>
          </a:prstGeom>
          <a:noFill/>
          <a:ln/>
        </p:spPr>
        <p:txBody>
          <a:bodyPr wrap="square" lIns="0" tIns="0" rIns="0" bIns="0" rtlCol="0" anchor="ctr"/>
          <a:lstStyle/>
          <a:p>
            <a:pPr algn="ctr" indent="0" marL="0">
              <a:buNone/>
            </a:pPr>
            <a:r>
              <a:rPr lang="en-US" sz="1500" dirty="0">
                <a:solidFill>
                  <a:srgbClr val="2B3138"/>
                </a:solidFill>
                <a:latin typeface="Instrument Sans" pitchFamily="34" charset="0"/>
                <a:ea typeface="Instrument Sans" pitchFamily="34" charset="-122"/>
                <a:cs typeface="Assistant" pitchFamily="34" charset="-120"/>
              </a:rPr>
              <a:t>Playwright</a:t>
            </a:r>
            <a:endParaRPr lang="en-US" sz="1500" dirty="0"/>
          </a:p>
        </p:txBody>
      </p:sp>
      <p:sp>
        <p:nvSpPr>
          <p:cNvPr id="22" name="Text 18"/>
          <p:cNvSpPr txBox="1"/>
          <p:nvPr/>
        </p:nvSpPr>
        <p:spPr>
          <a:xfrm>
            <a:off x="8662111" y="4206240"/>
            <a:ext cx="411480" cy="6400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3" name="Shape 19"/>
          <p:cNvSpPr/>
          <p:nvPr/>
        </p:nvSpPr>
        <p:spPr>
          <a:xfrm>
            <a:off x="6302959" y="4206240"/>
            <a:ext cx="2359152" cy="640080"/>
          </a:xfrm>
          <a:prstGeom prst="rect">
            <a:avLst/>
          </a:prstGeom>
          <a:solidFill>
            <a:srgbClr val="FAF6EF"/>
          </a:solidFill>
          <a:ln w="9525">
            <a:solidFill>
              <a:srgbClr val="D8D2C6"/>
            </a:solidFill>
            <a:prstDash val="solid"/>
          </a:ln>
        </p:spPr>
      </p:sp>
      <p:sp>
        <p:nvSpPr>
          <p:cNvPr id="24" name="Text 20"/>
          <p:cNvSpPr txBox="1"/>
          <p:nvPr/>
        </p:nvSpPr>
        <p:spPr>
          <a:xfrm>
            <a:off x="6302959" y="4206240"/>
            <a:ext cx="2359152" cy="640080"/>
          </a:xfrm>
          <a:prstGeom prst="rect">
            <a:avLst/>
          </a:prstGeom>
          <a:noFill/>
          <a:ln/>
        </p:spPr>
        <p:txBody>
          <a:bodyPr wrap="square" lIns="0" tIns="0" rIns="0" bIns="0" rtlCol="0" anchor="ctr"/>
          <a:lstStyle/>
          <a:p>
            <a:pPr rtl="1" algn="ctr" indent="0" marL="0">
              <a:buNone/>
            </a:pPr>
            <a:r>
              <a:rPr lang="he-IL" altLang="en-US" sz="1500" dirty="0">
                <a:solidFill>
                  <a:srgbClr val="2B3138"/>
                </a:solidFill>
                <a:latin typeface="Instrument Sans" pitchFamily="34" charset="0"/>
                <a:ea typeface="Instrument Sans" pitchFamily="34" charset="-122"/>
                <a:cs typeface="Assistant" pitchFamily="34" charset="-120"/>
              </a:rPr>
              <a:t>מסך אחד שלכם</a:t>
            </a:r>
            <a:endParaRPr lang="he-IL" sz="1500" dirty="0"/>
          </a:p>
        </p:txBody>
      </p:sp>
      <p:sp>
        <p:nvSpPr>
          <p:cNvPr id="25" name="Text 21"/>
          <p:cNvSpPr txBox="1"/>
          <p:nvPr/>
        </p:nvSpPr>
        <p:spPr>
          <a:xfrm>
            <a:off x="5891479" y="4206240"/>
            <a:ext cx="411480" cy="6400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6" name="Shape 22"/>
          <p:cNvSpPr/>
          <p:nvPr/>
        </p:nvSpPr>
        <p:spPr>
          <a:xfrm>
            <a:off x="3532327" y="4206240"/>
            <a:ext cx="2359152" cy="640080"/>
          </a:xfrm>
          <a:prstGeom prst="rect">
            <a:avLst/>
          </a:prstGeom>
          <a:solidFill>
            <a:srgbClr val="FAF6EF"/>
          </a:solidFill>
          <a:ln w="9525">
            <a:solidFill>
              <a:srgbClr val="D8D2C6"/>
            </a:solidFill>
            <a:prstDash val="solid"/>
          </a:ln>
        </p:spPr>
      </p:sp>
      <p:sp>
        <p:nvSpPr>
          <p:cNvPr id="27" name="Text 23"/>
          <p:cNvSpPr txBox="1"/>
          <p:nvPr/>
        </p:nvSpPr>
        <p:spPr>
          <a:xfrm>
            <a:off x="3532327" y="4206240"/>
            <a:ext cx="2359152" cy="640080"/>
          </a:xfrm>
          <a:prstGeom prst="rect">
            <a:avLst/>
          </a:prstGeom>
          <a:noFill/>
          <a:ln/>
        </p:spPr>
        <p:txBody>
          <a:bodyPr wrap="square" lIns="0" tIns="0" rIns="0" bIns="0" rtlCol="0" anchor="ctr"/>
          <a:lstStyle/>
          <a:p>
            <a:pPr rtl="1" algn="ctr" indent="0" marL="0">
              <a:buNone/>
            </a:pPr>
            <a:r>
              <a:rPr lang="he-IL" altLang="en-US" sz="1500" dirty="0">
                <a:solidFill>
                  <a:srgbClr val="2B3138"/>
                </a:solidFill>
                <a:latin typeface="Instrument Sans" pitchFamily="34" charset="0"/>
                <a:ea typeface="Instrument Sans" pitchFamily="34" charset="-122"/>
                <a:cs typeface="Assistant" pitchFamily="34" charset="-120"/>
              </a:rPr>
              <a:t>מודל שבוחר מתוך 3 פעולות</a:t>
            </a:r>
            <a:endParaRPr lang="he-IL" sz="1500" dirty="0"/>
          </a:p>
        </p:txBody>
      </p:sp>
      <p:sp>
        <p:nvSpPr>
          <p:cNvPr id="28" name="Text 24"/>
          <p:cNvSpPr txBox="1"/>
          <p:nvPr/>
        </p:nvSpPr>
        <p:spPr>
          <a:xfrm>
            <a:off x="3120847" y="4206240"/>
            <a:ext cx="411480" cy="640080"/>
          </a:xfrm>
          <a:prstGeom prst="rect">
            <a:avLst/>
          </a:prstGeom>
          <a:noFill/>
          <a:ln/>
        </p:spPr>
        <p:txBody>
          <a:bodyPr wrap="square" lIns="0" tIns="0" rIns="0" bIns="0" rtlCol="0" anchor="ctr"/>
          <a:lstStyle/>
          <a:p>
            <a:pPr algn="ctr" indent="0" marL="0">
              <a:buNone/>
            </a:pPr>
            <a:r>
              <a:rPr lang="en-US" sz="2000" dirty="0">
                <a:solidFill>
                  <a:srgbClr val="5F7368"/>
                </a:solidFill>
                <a:latin typeface="Instrument Sans" pitchFamily="34" charset="0"/>
                <a:ea typeface="Instrument Sans" pitchFamily="34" charset="-122"/>
                <a:cs typeface="Assistant" pitchFamily="34" charset="-120"/>
              </a:rPr>
              <a:t>+</a:t>
            </a:r>
            <a:endParaRPr lang="en-US" sz="2000" dirty="0"/>
          </a:p>
        </p:txBody>
      </p:sp>
      <p:sp>
        <p:nvSpPr>
          <p:cNvPr id="29" name="Shape 25"/>
          <p:cNvSpPr/>
          <p:nvPr/>
        </p:nvSpPr>
        <p:spPr>
          <a:xfrm>
            <a:off x="761695" y="4206240"/>
            <a:ext cx="2359152" cy="640080"/>
          </a:xfrm>
          <a:prstGeom prst="rect">
            <a:avLst/>
          </a:prstGeom>
          <a:solidFill>
            <a:srgbClr val="FAF6EF"/>
          </a:solidFill>
          <a:ln w="9525">
            <a:solidFill>
              <a:srgbClr val="D8D2C6"/>
            </a:solidFill>
            <a:prstDash val="solid"/>
          </a:ln>
        </p:spPr>
      </p:sp>
      <p:sp>
        <p:nvSpPr>
          <p:cNvPr id="30" name="Text 26"/>
          <p:cNvSpPr txBox="1"/>
          <p:nvPr/>
        </p:nvSpPr>
        <p:spPr>
          <a:xfrm>
            <a:off x="761695" y="4206240"/>
            <a:ext cx="2359152" cy="640080"/>
          </a:xfrm>
          <a:prstGeom prst="rect">
            <a:avLst/>
          </a:prstGeom>
          <a:noFill/>
          <a:ln/>
        </p:spPr>
        <p:txBody>
          <a:bodyPr wrap="square" lIns="0" tIns="0" rIns="0" bIns="0" rtlCol="0" anchor="ctr"/>
          <a:lstStyle/>
          <a:p>
            <a:pPr rtl="1" algn="ctr" indent="0" marL="0">
              <a:buNone/>
            </a:pPr>
            <a:r>
              <a:rPr lang="he-IL" altLang="en-US" sz="1500" dirty="0">
                <a:solidFill>
                  <a:srgbClr val="2B3138"/>
                </a:solidFill>
                <a:latin typeface="Instrument Sans" pitchFamily="34" charset="0"/>
                <a:ea typeface="Instrument Sans" pitchFamily="34" charset="-122"/>
                <a:cs typeface="Assistant" pitchFamily="34" charset="-120"/>
              </a:rPr>
              <a:t>בדיקה אחרי כל פעולה</a:t>
            </a:r>
            <a:endParaRPr lang="he-IL" sz="1500" dirty="0"/>
          </a:p>
        </p:txBody>
      </p:sp>
      <p:sp>
        <p:nvSpPr>
          <p:cNvPr id="31" name="Text 27"/>
          <p:cNvSpPr txBox="1"/>
          <p:nvPr/>
        </p:nvSpPr>
        <p:spPr>
          <a:xfrm>
            <a:off x="758952" y="5029200"/>
            <a:ext cx="10673791" cy="320040"/>
          </a:xfrm>
          <a:prstGeom prst="rect">
            <a:avLst/>
          </a:prstGeom>
          <a:noFill/>
          <a:ln/>
        </p:spPr>
        <p:txBody>
          <a:bodyPr wrap="square" lIns="0" tIns="0" rIns="0" bIns="0" rtlCol="0" anchor="t"/>
          <a:lstStyle/>
          <a:p>
            <a:pPr rtl="1" algn="r" indent="0" marL="0">
              <a:buNone/>
            </a:pPr>
            <a:r>
              <a:rPr lang="he-IL" altLang="en-US" sz="1400" dirty="0">
                <a:solidFill>
                  <a:srgbClr val="5A6067"/>
                </a:solidFill>
                <a:latin typeface="Instrument Sans" pitchFamily="34" charset="0"/>
                <a:ea typeface="Instrument Sans" pitchFamily="34" charset="-122"/>
                <a:cs typeface="Assistant" pitchFamily="34" charset="-120"/>
              </a:rPr>
              <a:t>לא צריך AWS ולא צריך Jev כדי להתחיל. כל מודל עם structured output מספיק.</a:t>
            </a:r>
            <a:endParaRPr lang="he-IL" sz="1400" dirty="0"/>
          </a:p>
        </p:txBody>
      </p:sp>
      <p:sp>
        <p:nvSpPr>
          <p:cNvPr id="32" name="Text 28"/>
          <p:cNvSpPr txBox="1"/>
          <p:nvPr/>
        </p:nvSpPr>
        <p:spPr>
          <a:xfrm>
            <a:off x="758952" y="5532120"/>
            <a:ext cx="10673791" cy="502920"/>
          </a:xfrm>
          <a:prstGeom prst="rect">
            <a:avLst/>
          </a:prstGeom>
          <a:noFill/>
          <a:ln/>
        </p:spPr>
        <p:txBody>
          <a:bodyPr wrap="square" lIns="0" tIns="0" rIns="0" bIns="0" rtlCol="0" anchor="ctr"/>
          <a:lstStyle/>
          <a:p>
            <a:pPr rtl="1" algn="r" indent="0" marL="0">
              <a:buNone/>
            </a:pPr>
            <a:r>
              <a:rPr lang="he-IL" altLang="en-US" sz="2500" dirty="0">
                <a:solidFill>
                  <a:srgbClr val="2B3138"/>
                </a:solidFill>
                <a:latin typeface="Fraunces" pitchFamily="34" charset="0"/>
                <a:ea typeface="Fraunces" pitchFamily="34" charset="-122"/>
                <a:cs typeface="Frank Ruhl Libre" pitchFamily="34" charset="-120"/>
              </a:rPr>
              <a:t>מתחילים בקטן ובודקים כל צעד.</a:t>
            </a:r>
            <a:endParaRPr lang="he-IL" sz="2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F"/>
        </a:solidFill>
      </p:bgPr>
    </p:bg>
    <p:spTree>
      <p:nvGrpSpPr>
        <p:cNvPr id="1" name=""/>
        <p:cNvGrpSpPr/>
        <p:nvPr/>
      </p:nvGrpSpPr>
      <p:grpSpPr>
        <a:xfrm>
          <a:off x="0" y="0"/>
          <a:ext cx="0" cy="0"/>
          <a:chOff x="0" y="0"/>
          <a:chExt cx="0" cy="0"/>
        </a:xfrm>
      </p:grpSpPr>
      <p:pic>
        <p:nvPicPr>
          <p:cNvPr id="3" name="Image 0" descr="/home/claude/b2/image6.jpg">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6355080" y="868680"/>
            <a:ext cx="5077663" cy="777240"/>
          </a:xfrm>
          <a:prstGeom prst="rect">
            <a:avLst/>
          </a:prstGeom>
          <a:noFill/>
          <a:ln/>
        </p:spPr>
        <p:txBody>
          <a:bodyPr wrap="square" lIns="0" tIns="0" rIns="0" bIns="0" rtlCol="0" anchor="ctr"/>
          <a:lstStyle/>
          <a:p>
            <a:pPr rtl="1" algn="r" indent="0" marL="0">
              <a:buNone/>
            </a:pPr>
            <a:r>
              <a:rPr lang="he-IL" altLang="en-US" sz="4000" dirty="0">
                <a:solidFill>
                  <a:srgbClr val="2B3138"/>
                </a:solidFill>
                <a:latin typeface="Fraunces" pitchFamily="34" charset="0"/>
                <a:ea typeface="Fraunces" pitchFamily="34" charset="-122"/>
                <a:cs typeface="Frank Ruhl Libre" pitchFamily="34" charset="-120"/>
              </a:rPr>
              <a:t>הסוכן נשאר לעבוד</a:t>
            </a:r>
            <a:endParaRPr lang="he-IL" sz="4000" dirty="0"/>
          </a:p>
        </p:txBody>
      </p:sp>
      <p:sp>
        <p:nvSpPr>
          <p:cNvPr id="5" name="Text 1"/>
          <p:cNvSpPr txBox="1"/>
          <p:nvPr/>
        </p:nvSpPr>
        <p:spPr>
          <a:xfrm>
            <a:off x="6355080" y="1645920"/>
            <a:ext cx="5077663" cy="502920"/>
          </a:xfrm>
          <a:prstGeom prst="rect">
            <a:avLst/>
          </a:prstGeom>
          <a:noFill/>
          <a:ln/>
        </p:spPr>
        <p:txBody>
          <a:bodyPr wrap="square" lIns="0" tIns="0" rIns="0" bIns="0" rtlCol="0" anchor="t"/>
          <a:lstStyle/>
          <a:p>
            <a:pPr rtl="1" algn="r" indent="0" marL="0">
              <a:buNone/>
            </a:pPr>
            <a:r>
              <a:rPr lang="he-IL" altLang="en-US" sz="2800" dirty="0">
                <a:solidFill>
                  <a:srgbClr val="5F7368"/>
                </a:solidFill>
                <a:latin typeface="Fraunces" pitchFamily="34" charset="0"/>
                <a:ea typeface="Fraunces" pitchFamily="34" charset="-122"/>
                <a:cs typeface="Frank Ruhl Libre" pitchFamily="34" charset="-120"/>
              </a:rPr>
              <a:t>אפשר לצאת לחופשה?</a:t>
            </a:r>
            <a:endParaRPr lang="he-IL" sz="2800" dirty="0"/>
          </a:p>
        </p:txBody>
      </p:sp>
      <p:sp>
        <p:nvSpPr>
          <p:cNvPr id="6" name="Shape 2"/>
          <p:cNvSpPr/>
          <p:nvPr/>
        </p:nvSpPr>
        <p:spPr>
          <a:xfrm>
            <a:off x="6355080" y="2423160"/>
            <a:ext cx="5077663" cy="0"/>
          </a:xfrm>
          <a:prstGeom prst="line">
            <a:avLst/>
          </a:prstGeom>
          <a:noFill/>
          <a:ln w="9525">
            <a:solidFill>
              <a:srgbClr val="E4E0D6"/>
            </a:solidFill>
            <a:prstDash val="solid"/>
          </a:ln>
        </p:spPr>
      </p:sp>
      <p:sp>
        <p:nvSpPr>
          <p:cNvPr id="7" name="Text 3"/>
          <p:cNvSpPr txBox="1"/>
          <p:nvPr/>
        </p:nvSpPr>
        <p:spPr>
          <a:xfrm>
            <a:off x="6355080" y="2560320"/>
            <a:ext cx="5077663" cy="1188720"/>
          </a:xfrm>
          <a:prstGeom prst="rect">
            <a:avLst/>
          </a:prstGeom>
          <a:noFill/>
          <a:ln/>
        </p:spPr>
        <p:txBody>
          <a:bodyPr wrap="square" lIns="0" tIns="0" rIns="0" bIns="0" rtlCol="0" anchor="t"/>
          <a:lstStyle/>
          <a:p>
            <a:pPr rtl="1" algn="r" indent="0" marL="0">
              <a:lnSpc>
                <a:spcPct val="105000"/>
              </a:lnSpc>
              <a:buNone/>
            </a:pPr>
            <a:r>
              <a:rPr lang="he-IL" altLang="en-US" sz="2100" dirty="0">
                <a:solidFill>
                  <a:srgbClr val="2B3138"/>
                </a:solidFill>
                <a:latin typeface="Fraunces" pitchFamily="34" charset="0"/>
                <a:ea typeface="Fraunces" pitchFamily="34" charset="-122"/>
                <a:cs typeface="Frank Ruhl Libre" pitchFamily="34" charset="-120"/>
              </a:rPr>
              <a:t>המודל בוחר מתוך רשימה.</a:t>
            </a:r>
            <a:endParaRPr lang="he-IL" sz="2100" dirty="0"/>
          </a:p>
          <a:p>
            <a:pPr rtl="1" algn="r" indent="0" marL="0">
              <a:lnSpc>
                <a:spcPct val="105000"/>
              </a:lnSpc>
              <a:buNone/>
            </a:pPr>
            <a:r>
              <a:rPr lang="he-IL" altLang="en-US" sz="2100" dirty="0">
                <a:solidFill>
                  <a:srgbClr val="5F7368"/>
                </a:solidFill>
                <a:latin typeface="Fraunces" pitchFamily="34" charset="0"/>
                <a:ea typeface="Fraunces" pitchFamily="34" charset="-122"/>
                <a:cs typeface="Frank Ruhl Libre" pitchFamily="34" charset="-120"/>
              </a:rPr>
              <a:t>הקוד שלכם קובע מה ברשימה,</a:t>
            </a:r>
            <a:endParaRPr lang="he-IL" sz="2100" dirty="0"/>
          </a:p>
          <a:p>
            <a:pPr rtl="1" algn="r" indent="0" marL="0">
              <a:lnSpc>
                <a:spcPct val="105000"/>
              </a:lnSpc>
              <a:buNone/>
            </a:pPr>
            <a:r>
              <a:rPr lang="he-IL" altLang="en-US" sz="2100" dirty="0">
                <a:solidFill>
                  <a:srgbClr val="5F7368"/>
                </a:solidFill>
                <a:latin typeface="Fraunces" pitchFamily="34" charset="0"/>
                <a:ea typeface="Fraunces" pitchFamily="34" charset="-122"/>
                <a:cs typeface="Frank Ruhl Libre" pitchFamily="34" charset="-120"/>
              </a:rPr>
              <a:t>בודק ומבצע.</a:t>
            </a:r>
            <a:endParaRPr lang="he-IL" sz="2100" dirty="0"/>
          </a:p>
        </p:txBody>
      </p:sp>
      <p:sp>
        <p:nvSpPr>
          <p:cNvPr id="8" name="Shape 4"/>
          <p:cNvSpPr/>
          <p:nvPr/>
        </p:nvSpPr>
        <p:spPr>
          <a:xfrm>
            <a:off x="6355080" y="3886200"/>
            <a:ext cx="5077663" cy="0"/>
          </a:xfrm>
          <a:prstGeom prst="line">
            <a:avLst/>
          </a:prstGeom>
          <a:noFill/>
          <a:ln w="9525">
            <a:solidFill>
              <a:srgbClr val="E4E0D6"/>
            </a:solidFill>
            <a:prstDash val="solid"/>
          </a:ln>
        </p:spPr>
      </p:sp>
      <p:sp>
        <p:nvSpPr>
          <p:cNvPr id="9" name="Text 5"/>
          <p:cNvSpPr txBox="1"/>
          <p:nvPr/>
        </p:nvSpPr>
        <p:spPr>
          <a:xfrm>
            <a:off x="6355080" y="3977640"/>
            <a:ext cx="5077663" cy="868680"/>
          </a:xfrm>
          <a:prstGeom prst="rect">
            <a:avLst/>
          </a:prstGeom>
          <a:noFill/>
          <a:ln/>
        </p:spPr>
        <p:txBody>
          <a:bodyPr wrap="square" lIns="0" tIns="0" rIns="0" bIns="0" rtlCol="0" anchor="ctr"/>
          <a:lstStyle/>
          <a:p>
            <a:pPr rtl="1" algn="r" indent="0" marL="0">
              <a:buNone/>
            </a:pPr>
            <a:r>
              <a:rPr lang="he-IL" altLang="en-US" sz="5400" dirty="0">
                <a:solidFill>
                  <a:srgbClr val="2B3138"/>
                </a:solidFill>
                <a:latin typeface="Fraunces" pitchFamily="34" charset="0"/>
                <a:ea typeface="Fraunces" pitchFamily="34" charset="-122"/>
                <a:cs typeface="Frank Ruhl Libre" pitchFamily="34" charset="-120"/>
              </a:rPr>
              <a:t>שאלות?</a:t>
            </a:r>
            <a:endParaRPr lang="he-IL" sz="5400" dirty="0"/>
          </a:p>
        </p:txBody>
      </p:sp>
      <p:sp>
        <p:nvSpPr>
          <p:cNvPr id="10" name="Text 6"/>
          <p:cNvSpPr txBox="1"/>
          <p:nvPr/>
        </p:nvSpPr>
        <p:spPr>
          <a:xfrm>
            <a:off x="9786823" y="4983480"/>
            <a:ext cx="1645920" cy="320040"/>
          </a:xfrm>
          <a:prstGeom prst="rect">
            <a:avLst/>
          </a:prstGeom>
          <a:noFill/>
          <a:ln/>
        </p:spPr>
        <p:txBody>
          <a:bodyPr wrap="square" lIns="0" tIns="0" rIns="0" bIns="0" rtlCol="0" anchor="ctr"/>
          <a:lstStyle/>
          <a:p>
            <a:pPr rtl="1" algn="r" indent="0" marL="0">
              <a:buNone/>
            </a:pPr>
            <a:r>
              <a:rPr lang="he-IL" altLang="en-US" sz="1300" dirty="0">
                <a:solidFill>
                  <a:srgbClr val="8B8F93"/>
                </a:solidFill>
                <a:latin typeface="Instrument Sans" pitchFamily="34" charset="0"/>
                <a:ea typeface="Instrument Sans" pitchFamily="34" charset="-122"/>
                <a:cs typeface="Assistant" pitchFamily="34" charset="-120"/>
              </a:rPr>
              <a:t>ריפו הדוגמאות</a:t>
            </a:r>
            <a:endParaRPr lang="he-IL" sz="1300" dirty="0"/>
          </a:p>
        </p:txBody>
      </p:sp>
      <p:sp>
        <p:nvSpPr>
          <p:cNvPr id="11" name="Text 7"/>
          <p:cNvSpPr txBox="1"/>
          <p:nvPr/>
        </p:nvSpPr>
        <p:spPr>
          <a:xfrm>
            <a:off x="6355080" y="4983480"/>
            <a:ext cx="3294583" cy="320040"/>
          </a:xfrm>
          <a:prstGeom prst="rect">
            <a:avLst/>
          </a:prstGeom>
          <a:noFill/>
          <a:ln/>
        </p:spPr>
        <p:txBody>
          <a:bodyPr wrap="square" lIns="0" tIns="0" rIns="0" bIns="0" rtlCol="0" anchor="ctr"/>
          <a:lstStyle/>
          <a:p>
            <a:pPr algn="r" indent="0" marL="0">
              <a:buNone/>
            </a:pPr>
            <a:r>
              <a:rPr lang="en-US" sz="1500" u="sng" dirty="0">
                <a:solidFill>
                  <a:srgbClr val="2B3138"/>
                </a:solidFill>
                <a:latin typeface="Instrument Sans" pitchFamily="34" charset="0"/>
                <a:ea typeface="Instrument Sans" pitchFamily="34" charset="-122"/>
                <a:cs typeface="Assistant"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github.com/tomerwave/wave-lab</a:t>
            </a:r>
            <a:endParaRPr lang="en-US" sz="1500" dirty="0"/>
          </a:p>
        </p:txBody>
      </p:sp>
      <p:sp>
        <p:nvSpPr>
          <p:cNvPr id="12" name="Text 8"/>
          <p:cNvSpPr txBox="1"/>
          <p:nvPr/>
        </p:nvSpPr>
        <p:spPr>
          <a:xfrm>
            <a:off x="9786823" y="5394960"/>
            <a:ext cx="1645920" cy="320040"/>
          </a:xfrm>
          <a:prstGeom prst="rect">
            <a:avLst/>
          </a:prstGeom>
          <a:noFill/>
          <a:ln/>
        </p:spPr>
        <p:txBody>
          <a:bodyPr wrap="square" lIns="0" tIns="0" rIns="0" bIns="0" rtlCol="0" anchor="ctr"/>
          <a:lstStyle/>
          <a:p>
            <a:pPr rtl="1" algn="r" indent="0" marL="0">
              <a:buNone/>
            </a:pPr>
            <a:r>
              <a:rPr lang="he-IL" altLang="en-US" sz="1300" dirty="0">
                <a:solidFill>
                  <a:srgbClr val="8B8F93"/>
                </a:solidFill>
                <a:latin typeface="Instrument Sans" pitchFamily="34" charset="0"/>
                <a:ea typeface="Instrument Sans" pitchFamily="34" charset="-122"/>
                <a:cs typeface="Assistant" pitchFamily="34" charset="-120"/>
              </a:rPr>
              <a:t>אתר</a:t>
            </a:r>
            <a:endParaRPr lang="he-IL" sz="1300" dirty="0"/>
          </a:p>
        </p:txBody>
      </p:sp>
      <p:sp>
        <p:nvSpPr>
          <p:cNvPr id="13" name="Text 9"/>
          <p:cNvSpPr txBox="1"/>
          <p:nvPr/>
        </p:nvSpPr>
        <p:spPr>
          <a:xfrm>
            <a:off x="6355080" y="5394960"/>
            <a:ext cx="3294583" cy="320040"/>
          </a:xfrm>
          <a:prstGeom prst="rect">
            <a:avLst/>
          </a:prstGeom>
          <a:noFill/>
          <a:ln/>
        </p:spPr>
        <p:txBody>
          <a:bodyPr wrap="square" lIns="0" tIns="0" rIns="0" bIns="0" rtlCol="0" anchor="ctr"/>
          <a:lstStyle/>
          <a:p>
            <a:pPr algn="r" indent="0" marL="0">
              <a:buNone/>
            </a:pPr>
            <a:r>
              <a:rPr lang="en-US" sz="1500" u="sng" dirty="0">
                <a:solidFill>
                  <a:srgbClr val="2B3138"/>
                </a:solidFill>
                <a:latin typeface="Instrument Sans" pitchFamily="34" charset="0"/>
                <a:ea typeface="Instrument Sans" pitchFamily="34" charset="-122"/>
                <a:cs typeface="Assistant" pitchFamily="34" charset="-120"/>
                <a:hlinkClick r:id="rId3" invalidUrl="" action="" tgtFrame="" tooltip="" history="1" highlightClick="0" endSnd="0">
                  <a:extLst>
                    <a:ext uri="{A12FA001-AC4F-418D-AE19-62706E023703}">
                      <ahyp:hlinkClr xmlns:ahyp="http://schemas.microsoft.com/office/drawing/2018/hyperlinkcolor" val="tx"/>
                    </a:ext>
                  </a:extLst>
                </a:hlinkClick>
              </a:rPr>
              <a:t>tomerwave.com</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Slide 19">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19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מתי מוצר יכול לחזור למתכנן?</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10792663" y="2286000"/>
            <a:ext cx="640080" cy="54864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01</a:t>
            </a:r>
            <a:endParaRPr lang="en-US" sz="2200" dirty="0"/>
          </a:p>
        </p:txBody>
      </p:sp>
      <p:sp>
        <p:nvSpPr>
          <p:cNvPr id="9" name="Text 5"/>
          <p:cNvSpPr txBox="1"/>
          <p:nvPr/>
        </p:nvSpPr>
        <p:spPr>
          <a:xfrm>
            <a:off x="6949440" y="2286000"/>
            <a:ext cx="3660343" cy="54864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תת־המשימה הושלמה</a:t>
            </a:r>
            <a:endParaRPr lang="he-IL" sz="2100" dirty="0"/>
          </a:p>
        </p:txBody>
      </p:sp>
      <p:sp>
        <p:nvSpPr>
          <p:cNvPr id="10" name="Text 6"/>
          <p:cNvSpPr txBox="1"/>
          <p:nvPr/>
        </p:nvSpPr>
        <p:spPr>
          <a:xfrm>
            <a:off x="2377440" y="2286000"/>
            <a:ext cx="4389120" cy="548640"/>
          </a:xfrm>
          <a:prstGeom prst="rect">
            <a:avLst/>
          </a:prstGeom>
          <a:noFill/>
          <a:ln/>
        </p:spPr>
        <p:txBody>
          <a:bodyPr wrap="square" lIns="0" tIns="0" rIns="0" bIns="0" rtlCol="0" anchor="ctr"/>
          <a:lstStyle/>
          <a:p>
            <a:pPr rtl="1" algn="r" indent="0" marL="0">
              <a:buNone/>
            </a:pPr>
            <a:r>
              <a:rPr lang="he-IL" altLang="en-US" sz="1700" dirty="0">
                <a:solidFill>
                  <a:srgbClr val="5A6067"/>
                </a:solidFill>
                <a:latin typeface="Instrument Sans" pitchFamily="34" charset="0"/>
                <a:ea typeface="Instrument Sans" pitchFamily="34" charset="-122"/>
                <a:cs typeface="Assistant" pitchFamily="34" charset="-120"/>
              </a:rPr>
              <a:t>צריך להחליט על הצעד הבא</a:t>
            </a:r>
            <a:endParaRPr lang="he-IL" sz="1700" dirty="0"/>
          </a:p>
        </p:txBody>
      </p:sp>
      <p:sp>
        <p:nvSpPr>
          <p:cNvPr id="11" name="Shape 7"/>
          <p:cNvSpPr/>
          <p:nvPr/>
        </p:nvSpPr>
        <p:spPr>
          <a:xfrm>
            <a:off x="758952" y="3063240"/>
            <a:ext cx="10673791" cy="0"/>
          </a:xfrm>
          <a:prstGeom prst="line">
            <a:avLst/>
          </a:prstGeom>
          <a:noFill/>
          <a:ln w="9525">
            <a:solidFill>
              <a:srgbClr val="E4E0D6"/>
            </a:solidFill>
            <a:prstDash val="solid"/>
          </a:ln>
        </p:spPr>
      </p:sp>
      <p:sp>
        <p:nvSpPr>
          <p:cNvPr id="12" name="Text 8"/>
          <p:cNvSpPr txBox="1"/>
          <p:nvPr/>
        </p:nvSpPr>
        <p:spPr>
          <a:xfrm>
            <a:off x="10792663" y="3291840"/>
            <a:ext cx="640080" cy="54864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02</a:t>
            </a:r>
            <a:endParaRPr lang="en-US" sz="2200" dirty="0"/>
          </a:p>
        </p:txBody>
      </p:sp>
      <p:sp>
        <p:nvSpPr>
          <p:cNvPr id="13" name="Text 9"/>
          <p:cNvSpPr txBox="1"/>
          <p:nvPr/>
        </p:nvSpPr>
        <p:spPr>
          <a:xfrm>
            <a:off x="6949440" y="3291840"/>
            <a:ext cx="3660343" cy="54864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הדרישות השתנו</a:t>
            </a:r>
            <a:endParaRPr lang="he-IL" sz="2100" dirty="0"/>
          </a:p>
        </p:txBody>
      </p:sp>
      <p:sp>
        <p:nvSpPr>
          <p:cNvPr id="14" name="Text 10"/>
          <p:cNvSpPr txBox="1"/>
          <p:nvPr/>
        </p:nvSpPr>
        <p:spPr>
          <a:xfrm>
            <a:off x="2377440" y="3291840"/>
            <a:ext cx="4389120" cy="548640"/>
          </a:xfrm>
          <a:prstGeom prst="rect">
            <a:avLst/>
          </a:prstGeom>
          <a:noFill/>
          <a:ln/>
        </p:spPr>
        <p:txBody>
          <a:bodyPr wrap="square" lIns="0" tIns="0" rIns="0" bIns="0" rtlCol="0" anchor="ctr"/>
          <a:lstStyle/>
          <a:p>
            <a:pPr rtl="1" algn="r" indent="0" marL="0">
              <a:buNone/>
            </a:pPr>
            <a:r>
              <a:rPr lang="he-IL" altLang="en-US" sz="1700" dirty="0">
                <a:solidFill>
                  <a:srgbClr val="5A6067"/>
                </a:solidFill>
                <a:latin typeface="Instrument Sans" pitchFamily="34" charset="0"/>
                <a:ea typeface="Instrument Sans" pitchFamily="34" charset="-122"/>
                <a:cs typeface="Assistant" pitchFamily="34" charset="-120"/>
              </a:rPr>
              <a:t>מעדכנים מטרה ואילוצים</a:t>
            </a:r>
            <a:endParaRPr lang="he-IL" sz="1700" dirty="0"/>
          </a:p>
        </p:txBody>
      </p:sp>
      <p:sp>
        <p:nvSpPr>
          <p:cNvPr id="15" name="Shape 11"/>
          <p:cNvSpPr/>
          <p:nvPr/>
        </p:nvSpPr>
        <p:spPr>
          <a:xfrm>
            <a:off x="758952" y="4069080"/>
            <a:ext cx="10673791" cy="0"/>
          </a:xfrm>
          <a:prstGeom prst="line">
            <a:avLst/>
          </a:prstGeom>
          <a:noFill/>
          <a:ln w="9525">
            <a:solidFill>
              <a:srgbClr val="E4E0D6"/>
            </a:solidFill>
            <a:prstDash val="solid"/>
          </a:ln>
        </p:spPr>
      </p:sp>
      <p:sp>
        <p:nvSpPr>
          <p:cNvPr id="16" name="Text 12"/>
          <p:cNvSpPr txBox="1"/>
          <p:nvPr/>
        </p:nvSpPr>
        <p:spPr>
          <a:xfrm>
            <a:off x="10792663" y="4297680"/>
            <a:ext cx="640080" cy="548640"/>
          </a:xfrm>
          <a:prstGeom prst="rect">
            <a:avLst/>
          </a:prstGeom>
          <a:noFill/>
          <a:ln/>
        </p:spPr>
        <p:txBody>
          <a:bodyPr wrap="square" lIns="0" tIns="0" rIns="0" bIns="0" rtlCol="0" anchor="ctr"/>
          <a:lstStyle/>
          <a:p>
            <a:pPr algn="r" indent="0" marL="0">
              <a:buNone/>
            </a:pPr>
            <a:r>
              <a:rPr lang="en-US" sz="2200" i="1" dirty="0">
                <a:solidFill>
                  <a:srgbClr val="5F7368"/>
                </a:solidFill>
                <a:latin typeface="Fraunces" pitchFamily="34" charset="0"/>
                <a:ea typeface="Fraunces" pitchFamily="34" charset="-122"/>
                <a:cs typeface="Frank Ruhl Libre" pitchFamily="34" charset="-120"/>
              </a:rPr>
              <a:t>03</a:t>
            </a:r>
            <a:endParaRPr lang="en-US" sz="2200" dirty="0"/>
          </a:p>
        </p:txBody>
      </p:sp>
      <p:sp>
        <p:nvSpPr>
          <p:cNvPr id="17" name="Text 13"/>
          <p:cNvSpPr txBox="1"/>
          <p:nvPr/>
        </p:nvSpPr>
        <p:spPr>
          <a:xfrm>
            <a:off x="6949440" y="4297680"/>
            <a:ext cx="3660343" cy="54864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אין התקדמות</a:t>
            </a:r>
            <a:endParaRPr lang="he-IL" sz="2100" dirty="0"/>
          </a:p>
        </p:txBody>
      </p:sp>
      <p:sp>
        <p:nvSpPr>
          <p:cNvPr id="18" name="Text 14"/>
          <p:cNvSpPr txBox="1"/>
          <p:nvPr/>
        </p:nvSpPr>
        <p:spPr>
          <a:xfrm>
            <a:off x="2377440" y="4297680"/>
            <a:ext cx="4389120" cy="548640"/>
          </a:xfrm>
          <a:prstGeom prst="rect">
            <a:avLst/>
          </a:prstGeom>
          <a:noFill/>
          <a:ln/>
        </p:spPr>
        <p:txBody>
          <a:bodyPr wrap="square" lIns="0" tIns="0" rIns="0" bIns="0" rtlCol="0" anchor="ctr"/>
          <a:lstStyle/>
          <a:p>
            <a:pPr rtl="1" algn="r" indent="0" marL="0">
              <a:buNone/>
            </a:pPr>
            <a:r>
              <a:rPr lang="he-IL" altLang="en-US" sz="1700" dirty="0">
                <a:solidFill>
                  <a:srgbClr val="5A6067"/>
                </a:solidFill>
                <a:latin typeface="Instrument Sans" pitchFamily="34" charset="0"/>
                <a:ea typeface="Instrument Sans" pitchFamily="34" charset="-122"/>
                <a:cs typeface="Assistant" pitchFamily="34" charset="-120"/>
              </a:rPr>
              <a:t>הגענו למגבלת הצעדים, או שפעולה נכשלה</a:t>
            </a:r>
            <a:endParaRPr lang="he-IL"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20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למה לא פשוט LLM עם enum?</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Shape 4"/>
          <p:cNvSpPr/>
          <p:nvPr/>
        </p:nvSpPr>
        <p:spPr>
          <a:xfrm>
            <a:off x="6095848" y="2194560"/>
            <a:ext cx="0" cy="1737360"/>
          </a:xfrm>
          <a:prstGeom prst="line">
            <a:avLst/>
          </a:prstGeom>
          <a:noFill/>
          <a:ln w="9525">
            <a:solidFill>
              <a:srgbClr val="E4E0D6"/>
            </a:solidFill>
            <a:prstDash val="solid"/>
          </a:ln>
        </p:spPr>
      </p:sp>
      <p:sp>
        <p:nvSpPr>
          <p:cNvPr id="9" name="Text 5"/>
          <p:cNvSpPr txBox="1"/>
          <p:nvPr/>
        </p:nvSpPr>
        <p:spPr>
          <a:xfrm>
            <a:off x="6507328" y="2194560"/>
            <a:ext cx="4925416" cy="54864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LLM עם structured output</a:t>
            </a:r>
            <a:endParaRPr lang="he-IL" sz="2100" dirty="0"/>
          </a:p>
        </p:txBody>
      </p:sp>
      <p:sp>
        <p:nvSpPr>
          <p:cNvPr id="10" name="Text 6"/>
          <p:cNvSpPr txBox="1"/>
          <p:nvPr/>
        </p:nvSpPr>
        <p:spPr>
          <a:xfrm>
            <a:off x="6507328" y="2926080"/>
            <a:ext cx="4925416" cy="1097280"/>
          </a:xfrm>
          <a:prstGeom prst="rect">
            <a:avLst/>
          </a:prstGeom>
          <a:noFill/>
          <a:ln/>
        </p:spPr>
        <p:txBody>
          <a:bodyPr wrap="square" lIns="0" tIns="0" rIns="0" bIns="0" rtlCol="0" anchor="t"/>
          <a:lstStyle/>
          <a:p>
            <a:pPr rtl="1" algn="r" indent="0" marL="0">
              <a:buNone/>
            </a:pPr>
            <a:r>
              <a:rPr lang="he-IL" altLang="en-US" sz="1800" dirty="0">
                <a:solidFill>
                  <a:srgbClr val="5A6067"/>
                </a:solidFill>
                <a:latin typeface="Instrument Sans" pitchFamily="34" charset="0"/>
                <a:ea typeface="Instrument Sans" pitchFamily="34" charset="-122"/>
                <a:cs typeface="Assistant" pitchFamily="34" charset="-120"/>
              </a:rPr>
              <a:t>זה בדיוק המקום להתחיל. כל ספק תומך בזה, וזה מספיק לרוב המסכים.</a:t>
            </a:r>
            <a:endParaRPr lang="he-IL" sz="1800" dirty="0"/>
          </a:p>
        </p:txBody>
      </p:sp>
      <p:sp>
        <p:nvSpPr>
          <p:cNvPr id="11" name="Text 7"/>
          <p:cNvSpPr txBox="1"/>
          <p:nvPr/>
        </p:nvSpPr>
        <p:spPr>
          <a:xfrm>
            <a:off x="758952" y="2194560"/>
            <a:ext cx="4925416" cy="548640"/>
          </a:xfrm>
          <a:prstGeom prst="rect">
            <a:avLst/>
          </a:prstGeom>
          <a:noFill/>
          <a:ln/>
        </p:spPr>
        <p:txBody>
          <a:bodyPr wrap="square" lIns="0" tIns="0" rIns="0" bIns="0" rtlCol="0" anchor="ctr"/>
          <a:lstStyle/>
          <a:p>
            <a:pPr rtl="1" algn="r" indent="0" marL="0">
              <a:buNone/>
            </a:pPr>
            <a:r>
              <a:rPr lang="he-IL" altLang="en-US" sz="2100" b="1" dirty="0">
                <a:solidFill>
                  <a:srgbClr val="2B3138"/>
                </a:solidFill>
                <a:latin typeface="Instrument Sans" pitchFamily="34" charset="0"/>
                <a:ea typeface="Instrument Sans" pitchFamily="34" charset="-122"/>
                <a:cs typeface="Assistant" pitchFamily="34" charset="-120"/>
              </a:rPr>
              <a:t>Jev</a:t>
            </a:r>
            <a:endParaRPr lang="he-IL" sz="2100" dirty="0"/>
          </a:p>
        </p:txBody>
      </p:sp>
      <p:sp>
        <p:nvSpPr>
          <p:cNvPr id="12" name="Text 8"/>
          <p:cNvSpPr txBox="1"/>
          <p:nvPr/>
        </p:nvSpPr>
        <p:spPr>
          <a:xfrm>
            <a:off x="758952" y="2926080"/>
            <a:ext cx="4925416" cy="1097280"/>
          </a:xfrm>
          <a:prstGeom prst="rect">
            <a:avLst/>
          </a:prstGeom>
          <a:noFill/>
          <a:ln/>
        </p:spPr>
        <p:txBody>
          <a:bodyPr wrap="square" lIns="0" tIns="0" rIns="0" bIns="0" rtlCol="0" anchor="t"/>
          <a:lstStyle/>
          <a:p>
            <a:pPr rtl="1" algn="r" indent="0" marL="0">
              <a:buNone/>
            </a:pPr>
            <a:r>
              <a:rPr lang="he-IL" altLang="en-US" sz="1800" dirty="0">
                <a:solidFill>
                  <a:srgbClr val="5A6067"/>
                </a:solidFill>
                <a:latin typeface="Instrument Sans" pitchFamily="34" charset="0"/>
                <a:ea typeface="Instrument Sans" pitchFamily="34" charset="-122"/>
                <a:cs typeface="Assistant" pitchFamily="34" charset="-120"/>
              </a:rPr>
              <a:t>מודל שנבנה סביב הבחירה ומחזיר גם הסתברויות. יכולת חדשה שכדאי לבחון.</a:t>
            </a:r>
            <a:endParaRPr lang="he-IL" sz="1800" dirty="0"/>
          </a:p>
        </p:txBody>
      </p:sp>
      <p:sp>
        <p:nvSpPr>
          <p:cNvPr id="13" name="Shape 9"/>
          <p:cNvSpPr/>
          <p:nvPr/>
        </p:nvSpPr>
        <p:spPr>
          <a:xfrm>
            <a:off x="758952" y="4572000"/>
            <a:ext cx="10673791" cy="685800"/>
          </a:xfrm>
          <a:prstGeom prst="rect">
            <a:avLst/>
          </a:prstGeom>
          <a:solidFill>
            <a:srgbClr val="F3EDE2"/>
          </a:solidFill>
          <a:ln/>
        </p:spPr>
      </p:sp>
      <p:sp>
        <p:nvSpPr>
          <p:cNvPr id="14" name="Shape 10"/>
          <p:cNvSpPr/>
          <p:nvPr/>
        </p:nvSpPr>
        <p:spPr>
          <a:xfrm>
            <a:off x="11414455" y="4572000"/>
            <a:ext cx="0" cy="685800"/>
          </a:xfrm>
          <a:prstGeom prst="line">
            <a:avLst/>
          </a:prstGeom>
          <a:noFill/>
          <a:ln w="38100">
            <a:solidFill>
              <a:srgbClr val="8FA396"/>
            </a:solidFill>
            <a:prstDash val="solid"/>
          </a:ln>
        </p:spPr>
      </p:sp>
      <p:sp>
        <p:nvSpPr>
          <p:cNvPr id="15" name="Text 11"/>
          <p:cNvSpPr txBox="1"/>
          <p:nvPr/>
        </p:nvSpPr>
        <p:spPr>
          <a:xfrm>
            <a:off x="1078992" y="4572000"/>
            <a:ext cx="10033711" cy="685800"/>
          </a:xfrm>
          <a:prstGeom prst="rect">
            <a:avLst/>
          </a:prstGeom>
          <a:noFill/>
          <a:ln/>
        </p:spPr>
        <p:txBody>
          <a:bodyPr wrap="square" lIns="0" tIns="0" rIns="0" bIns="0" rtlCol="0" anchor="ctr"/>
          <a:lstStyle/>
          <a:p>
            <a:pPr rtl="1" algn="r" indent="0" marL="0">
              <a:buNone/>
            </a:pPr>
            <a:r>
              <a:rPr lang="he-IL" altLang="en-US" sz="1700" b="1" dirty="0">
                <a:solidFill>
                  <a:srgbClr val="5F7368"/>
                </a:solidFill>
                <a:latin typeface="Instrument Sans" pitchFamily="34" charset="0"/>
                <a:ea typeface="Instrument Sans" pitchFamily="34" charset="-122"/>
                <a:cs typeface="Assistant" pitchFamily="34" charset="-120"/>
              </a:rPr>
              <a:t>ההמלצה: </a:t>
            </a:r>
            <a:r>
              <a:rPr lang="he-IL" altLang="en-US" sz="1700" dirty="0">
                <a:solidFill>
                  <a:srgbClr val="2B3138"/>
                </a:solidFill>
                <a:latin typeface="Instrument Sans" pitchFamily="34" charset="0"/>
                <a:ea typeface="Instrument Sans" pitchFamily="34" charset="-122"/>
                <a:cs typeface="Assistant" pitchFamily="34" charset="-120"/>
              </a:rPr>
              <a:t>למדוד את שניהם על אותה משימה. צעדים שהצליחו, משימה שהושלמה, זמן ועלות כוללים.</a:t>
            </a:r>
            <a:endParaRPr lang="he-IL"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F"/>
        </a:solidFill>
      </p:bgPr>
    </p:bg>
    <p:spTree>
      <p:nvGrpSpPr>
        <p:cNvPr id="1" name=""/>
        <p:cNvGrpSpPr/>
        <p:nvPr/>
      </p:nvGrpSpPr>
      <p:grpSpPr>
        <a:xfrm>
          <a:off x="0" y="0"/>
          <a:ext cx="0" cy="0"/>
          <a:chOff x="0" y="0"/>
          <a:chExt cx="0" cy="0"/>
        </a:xfrm>
      </p:grpSpPr>
      <p:pic>
        <p:nvPicPr>
          <p:cNvPr id="3" name="Image 0" descr="/home/claude/b2/icon.png">    </p:cNvPr>
          <p:cNvPicPr>
            <a:picLocks noChangeAspect="1"/>
          </p:cNvPicPr>
          <p:nvPr/>
        </p:nvPicPr>
        <p:blipFill>
          <a:blip r:embed="rId1"/>
          <a:stretch>
            <a:fillRect/>
          </a:stretch>
        </p:blipFill>
        <p:spPr>
          <a:xfrm>
            <a:off x="11121847" y="329184"/>
            <a:ext cx="310896" cy="310896"/>
          </a:xfrm>
          <a:prstGeom prst="rect">
            <a:avLst/>
          </a:prstGeom>
        </p:spPr>
      </p:pic>
      <p:sp>
        <p:nvSpPr>
          <p:cNvPr id="4" name="Text 0"/>
          <p:cNvSpPr txBox="1"/>
          <p:nvPr/>
        </p:nvSpPr>
        <p:spPr>
          <a:xfrm>
            <a:off x="9192463" y="329184"/>
            <a:ext cx="1828800" cy="310896"/>
          </a:xfrm>
          <a:prstGeom prst="rect">
            <a:avLst/>
          </a:prstGeom>
          <a:noFill/>
          <a:ln/>
        </p:spPr>
        <p:txBody>
          <a:bodyPr wrap="square" lIns="0" tIns="0" rIns="0" bIns="0" rtlCol="0" anchor="ctr"/>
          <a:lstStyle/>
          <a:p>
            <a:pPr algn="r" indent="0" marL="0">
              <a:buNone/>
            </a:pPr>
            <a:r>
              <a:rPr lang="en-US" sz="1100" dirty="0">
                <a:solidFill>
                  <a:srgbClr val="8B8F93"/>
                </a:solidFill>
                <a:latin typeface="Instrument Sans" pitchFamily="34" charset="0"/>
                <a:ea typeface="Instrument Sans" pitchFamily="34" charset="-122"/>
                <a:cs typeface="Assistant" pitchFamily="34" charset="-120"/>
              </a:rPr>
              <a:t>Tomer Gal</a:t>
            </a:r>
            <a:endParaRPr lang="en-US" sz="1100" dirty="0"/>
          </a:p>
        </p:txBody>
      </p:sp>
      <p:sp>
        <p:nvSpPr>
          <p:cNvPr id="5" name="Text 1"/>
          <p:cNvSpPr txBox="1"/>
          <p:nvPr/>
        </p:nvSpPr>
        <p:spPr>
          <a:xfrm>
            <a:off x="758952" y="6336792"/>
            <a:ext cx="1371600" cy="256032"/>
          </a:xfrm>
          <a:prstGeom prst="rect">
            <a:avLst/>
          </a:prstGeom>
          <a:noFill/>
          <a:ln/>
        </p:spPr>
        <p:txBody>
          <a:bodyPr wrap="square" lIns="0" tIns="0" rIns="0" bIns="0" rtlCol="0" anchor="ctr"/>
          <a:lstStyle/>
          <a:p>
            <a:pPr algn="l" indent="0" marL="0">
              <a:buNone/>
            </a:pPr>
            <a:r>
              <a:rPr lang="en-US" sz="1000" dirty="0">
                <a:solidFill>
                  <a:srgbClr val="8B8F93"/>
                </a:solidFill>
                <a:latin typeface="Instrument Sans" pitchFamily="34" charset="0"/>
                <a:ea typeface="Instrument Sans" pitchFamily="34" charset="-122"/>
                <a:cs typeface="Assistant" pitchFamily="34" charset="-120"/>
              </a:rPr>
              <a:t>21 / 21</a:t>
            </a:r>
            <a:endParaRPr lang="en-US" sz="1000" dirty="0"/>
          </a:p>
        </p:txBody>
      </p:sp>
      <p:sp>
        <p:nvSpPr>
          <p:cNvPr id="6" name="Text 2"/>
          <p:cNvSpPr txBox="1"/>
          <p:nvPr/>
        </p:nvSpPr>
        <p:spPr>
          <a:xfrm>
            <a:off x="758952" y="822960"/>
            <a:ext cx="10673791" cy="777240"/>
          </a:xfrm>
          <a:prstGeom prst="rect">
            <a:avLst/>
          </a:prstGeom>
          <a:noFill/>
          <a:ln/>
        </p:spPr>
        <p:txBody>
          <a:bodyPr wrap="square" lIns="0" tIns="0" rIns="0" bIns="0" rtlCol="0" anchor="ctr"/>
          <a:lstStyle/>
          <a:p>
            <a:pPr rtl="1" algn="r" indent="0" marL="0">
              <a:buNone/>
            </a:pPr>
            <a:r>
              <a:rPr lang="he-IL" altLang="en-US" sz="3800" dirty="0">
                <a:solidFill>
                  <a:srgbClr val="2B3138"/>
                </a:solidFill>
                <a:latin typeface="Fraunces" pitchFamily="34" charset="0"/>
                <a:ea typeface="Fraunces" pitchFamily="34" charset="-122"/>
                <a:cs typeface="Frank Ruhl Libre" pitchFamily="34" charset="-120"/>
              </a:rPr>
              <a:t>מקורות וקוד</a:t>
            </a:r>
            <a:endParaRPr lang="he-IL" sz="3800" dirty="0"/>
          </a:p>
        </p:txBody>
      </p:sp>
      <p:sp>
        <p:nvSpPr>
          <p:cNvPr id="7" name="Shape 3"/>
          <p:cNvSpPr/>
          <p:nvPr/>
        </p:nvSpPr>
        <p:spPr>
          <a:xfrm>
            <a:off x="758952" y="1709928"/>
            <a:ext cx="10673791" cy="0"/>
          </a:xfrm>
          <a:prstGeom prst="line">
            <a:avLst/>
          </a:prstGeom>
          <a:noFill/>
          <a:ln w="9525">
            <a:solidFill>
              <a:srgbClr val="E4E0D6"/>
            </a:solidFill>
            <a:prstDash val="solid"/>
          </a:ln>
        </p:spPr>
      </p:sp>
      <p:sp>
        <p:nvSpPr>
          <p:cNvPr id="8" name="Text 4"/>
          <p:cNvSpPr txBox="1"/>
          <p:nvPr/>
        </p:nvSpPr>
        <p:spPr>
          <a:xfrm>
            <a:off x="6400800" y="2194560"/>
            <a:ext cx="5031943" cy="548640"/>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Jev / TypeSafe AI</a:t>
            </a:r>
            <a:endParaRPr lang="he-IL" sz="1800" dirty="0"/>
          </a:p>
        </p:txBody>
      </p:sp>
      <p:sp>
        <p:nvSpPr>
          <p:cNvPr id="9" name="Text 5"/>
          <p:cNvSpPr txBox="1"/>
          <p:nvPr/>
        </p:nvSpPr>
        <p:spPr>
          <a:xfrm>
            <a:off x="758952" y="2194560"/>
            <a:ext cx="5486400" cy="548640"/>
          </a:xfrm>
          <a:prstGeom prst="rect">
            <a:avLst/>
          </a:prstGeom>
          <a:noFill/>
          <a:ln/>
        </p:spPr>
        <p:txBody>
          <a:bodyPr wrap="square" lIns="0" tIns="0" rIns="0" bIns="0" rtlCol="0" anchor="ctr"/>
          <a:lstStyle/>
          <a:p>
            <a:pPr algn="l" indent="0" marL="0">
              <a:buNone/>
            </a:pPr>
            <a:r>
              <a:rPr lang="en-US" sz="1500" u="sng" dirty="0">
                <a:solidFill>
                  <a:srgbClr val="2B3138"/>
                </a:solidFill>
                <a:latin typeface="Instrument Sans" pitchFamily="34" charset="0"/>
                <a:ea typeface="Instrument Sans" pitchFamily="34" charset="-122"/>
                <a:cs typeface="Assistant"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docs.typesafe.ai/sdk/javascript</a:t>
            </a:r>
            <a:endParaRPr lang="en-US" sz="1500" dirty="0"/>
          </a:p>
        </p:txBody>
      </p:sp>
      <p:sp>
        <p:nvSpPr>
          <p:cNvPr id="10" name="Shape 6"/>
          <p:cNvSpPr/>
          <p:nvPr/>
        </p:nvSpPr>
        <p:spPr>
          <a:xfrm>
            <a:off x="758952" y="3026664"/>
            <a:ext cx="10673791" cy="0"/>
          </a:xfrm>
          <a:prstGeom prst="line">
            <a:avLst/>
          </a:prstGeom>
          <a:noFill/>
          <a:ln w="9525">
            <a:solidFill>
              <a:srgbClr val="E4E0D6"/>
            </a:solidFill>
            <a:prstDash val="solid"/>
          </a:ln>
        </p:spPr>
      </p:sp>
      <p:sp>
        <p:nvSpPr>
          <p:cNvPr id="11" name="Text 7"/>
          <p:cNvSpPr txBox="1"/>
          <p:nvPr/>
        </p:nvSpPr>
        <p:spPr>
          <a:xfrm>
            <a:off x="6400800" y="3154680"/>
            <a:ext cx="5031943" cy="548640"/>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Strands Agents</a:t>
            </a:r>
            <a:endParaRPr lang="he-IL" sz="1800" dirty="0"/>
          </a:p>
        </p:txBody>
      </p:sp>
      <p:sp>
        <p:nvSpPr>
          <p:cNvPr id="12" name="Text 8"/>
          <p:cNvSpPr txBox="1"/>
          <p:nvPr/>
        </p:nvSpPr>
        <p:spPr>
          <a:xfrm>
            <a:off x="758952" y="3154680"/>
            <a:ext cx="5486400" cy="548640"/>
          </a:xfrm>
          <a:prstGeom prst="rect">
            <a:avLst/>
          </a:prstGeom>
          <a:noFill/>
          <a:ln/>
        </p:spPr>
        <p:txBody>
          <a:bodyPr wrap="square" lIns="0" tIns="0" rIns="0" bIns="0" rtlCol="0" anchor="ctr"/>
          <a:lstStyle/>
          <a:p>
            <a:pPr algn="l" indent="0" marL="0">
              <a:buNone/>
            </a:pPr>
            <a:r>
              <a:rPr lang="en-US" sz="1500" u="sng" dirty="0">
                <a:solidFill>
                  <a:srgbClr val="2B3138"/>
                </a:solidFill>
                <a:latin typeface="Instrument Sans" pitchFamily="34" charset="0"/>
                <a:ea typeface="Instrument Sans" pitchFamily="34" charset="-122"/>
                <a:cs typeface="Assistant"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strandsagents.com/docs/user-guide/sdk</a:t>
            </a:r>
            <a:endParaRPr lang="en-US" sz="1500" dirty="0"/>
          </a:p>
        </p:txBody>
      </p:sp>
      <p:sp>
        <p:nvSpPr>
          <p:cNvPr id="13" name="Shape 9"/>
          <p:cNvSpPr/>
          <p:nvPr/>
        </p:nvSpPr>
        <p:spPr>
          <a:xfrm>
            <a:off x="758952" y="3986784"/>
            <a:ext cx="10673791" cy="0"/>
          </a:xfrm>
          <a:prstGeom prst="line">
            <a:avLst/>
          </a:prstGeom>
          <a:noFill/>
          <a:ln w="9525">
            <a:solidFill>
              <a:srgbClr val="E4E0D6"/>
            </a:solidFill>
            <a:prstDash val="solid"/>
          </a:ln>
        </p:spPr>
      </p:sp>
      <p:sp>
        <p:nvSpPr>
          <p:cNvPr id="14" name="Text 10"/>
          <p:cNvSpPr txBox="1"/>
          <p:nvPr/>
        </p:nvSpPr>
        <p:spPr>
          <a:xfrm>
            <a:off x="6400800" y="4114800"/>
            <a:ext cx="5031943" cy="548640"/>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AgentCore Browser</a:t>
            </a:r>
            <a:endParaRPr lang="he-IL" sz="1800" dirty="0"/>
          </a:p>
        </p:txBody>
      </p:sp>
      <p:sp>
        <p:nvSpPr>
          <p:cNvPr id="15" name="Text 11"/>
          <p:cNvSpPr txBox="1"/>
          <p:nvPr/>
        </p:nvSpPr>
        <p:spPr>
          <a:xfrm>
            <a:off x="758952" y="4114800"/>
            <a:ext cx="5486400" cy="548640"/>
          </a:xfrm>
          <a:prstGeom prst="rect">
            <a:avLst/>
          </a:prstGeom>
          <a:noFill/>
          <a:ln/>
        </p:spPr>
        <p:txBody>
          <a:bodyPr wrap="square" lIns="0" tIns="0" rIns="0" bIns="0" rtlCol="0" anchor="ctr"/>
          <a:lstStyle/>
          <a:p>
            <a:pPr algn="l" indent="0" marL="0">
              <a:buNone/>
            </a:pPr>
            <a:r>
              <a:rPr lang="en-US" sz="1500" u="sng" dirty="0">
                <a:solidFill>
                  <a:srgbClr val="2B3138"/>
                </a:solidFill>
                <a:latin typeface="Instrument Sans" pitchFamily="34" charset="0"/>
                <a:ea typeface="Instrument Sans" pitchFamily="34" charset="-122"/>
                <a:cs typeface="Assistant"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docs.aws.amazon.com/bedrock-agentcore</a:t>
            </a:r>
            <a:endParaRPr lang="en-US" sz="1500" dirty="0"/>
          </a:p>
        </p:txBody>
      </p:sp>
      <p:sp>
        <p:nvSpPr>
          <p:cNvPr id="16" name="Shape 12"/>
          <p:cNvSpPr/>
          <p:nvPr/>
        </p:nvSpPr>
        <p:spPr>
          <a:xfrm>
            <a:off x="758952" y="4946904"/>
            <a:ext cx="10673791" cy="0"/>
          </a:xfrm>
          <a:prstGeom prst="line">
            <a:avLst/>
          </a:prstGeom>
          <a:noFill/>
          <a:ln w="9525">
            <a:solidFill>
              <a:srgbClr val="E4E0D6"/>
            </a:solidFill>
            <a:prstDash val="solid"/>
          </a:ln>
        </p:spPr>
      </p:sp>
      <p:sp>
        <p:nvSpPr>
          <p:cNvPr id="17" name="Text 13"/>
          <p:cNvSpPr txBox="1"/>
          <p:nvPr/>
        </p:nvSpPr>
        <p:spPr>
          <a:xfrm>
            <a:off x="6400800" y="5074920"/>
            <a:ext cx="5031943" cy="548640"/>
          </a:xfrm>
          <a:prstGeom prst="rect">
            <a:avLst/>
          </a:prstGeom>
          <a:noFill/>
          <a:ln/>
        </p:spPr>
        <p:txBody>
          <a:bodyPr wrap="square" lIns="0" tIns="0" rIns="0" bIns="0" rtlCol="0" anchor="ctr"/>
          <a:lstStyle/>
          <a:p>
            <a:pPr rtl="1" algn="r" indent="0" marL="0">
              <a:buNone/>
            </a:pPr>
            <a:r>
              <a:rPr lang="he-IL" altLang="en-US" sz="1800" dirty="0">
                <a:solidFill>
                  <a:srgbClr val="2B3138"/>
                </a:solidFill>
                <a:latin typeface="Instrument Sans" pitchFamily="34" charset="0"/>
                <a:ea typeface="Instrument Sans" pitchFamily="34" charset="-122"/>
                <a:cs typeface="Assistant" pitchFamily="34" charset="-120"/>
              </a:rPr>
              <a:t>הדוגמאות של TomerWave</a:t>
            </a:r>
            <a:endParaRPr lang="he-IL" sz="1800" dirty="0"/>
          </a:p>
        </p:txBody>
      </p:sp>
      <p:sp>
        <p:nvSpPr>
          <p:cNvPr id="18" name="Text 14"/>
          <p:cNvSpPr txBox="1"/>
          <p:nvPr/>
        </p:nvSpPr>
        <p:spPr>
          <a:xfrm>
            <a:off x="758952" y="5074920"/>
            <a:ext cx="5486400" cy="548640"/>
          </a:xfrm>
          <a:prstGeom prst="rect">
            <a:avLst/>
          </a:prstGeom>
          <a:noFill/>
          <a:ln/>
        </p:spPr>
        <p:txBody>
          <a:bodyPr wrap="square" lIns="0" tIns="0" rIns="0" bIns="0" rtlCol="0" anchor="ctr"/>
          <a:lstStyle/>
          <a:p>
            <a:pPr algn="l" indent="0" marL="0">
              <a:buNone/>
            </a:pPr>
            <a:r>
              <a:rPr lang="en-US" sz="1500" u="sng" dirty="0">
                <a:solidFill>
                  <a:srgbClr val="2B3138"/>
                </a:solidFill>
                <a:latin typeface="Instrument Sans" pitchFamily="34" charset="0"/>
                <a:ea typeface="Instrument Sans" pitchFamily="34" charset="-122"/>
                <a:cs typeface="Assistant"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github.com/tomerwave/wave-lab</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שלחנו סוכן להזמין חופשה</dc:title>
  <dc:subject>PptxGenJS Presentation</dc:subject>
  <dc:creator>Tomer Gal</dc:creator>
  <cp:lastModifiedBy>Tomer Gal</cp:lastModifiedBy>
  <cp:revision>1</cp:revision>
  <dcterms:created xsi:type="dcterms:W3CDTF">2026-09-23T04:32:20Z</dcterms:created>
  <dcterms:modified xsi:type="dcterms:W3CDTF">2026-09-23T04:32:20Z</dcterms:modified>
</cp:coreProperties>
</file>